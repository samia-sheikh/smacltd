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019" autoAdjust="0"/>
  </p:normalViewPr>
  <p:slideViewPr>
    <p:cSldViewPr snapToGrid="0" snapToObjects="1">
      <p:cViewPr varScale="1">
        <p:scale>
          <a:sx n="46" d="100"/>
          <a:sy n="46" d="100"/>
        </p:scale>
        <p:origin x="-95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110492-E0F2-4700-B2D4-65C0B93EFD8E}" type="datetimeFigureOut">
              <a:rPr lang="en-US" smtClean="0"/>
              <a:t>4/9/2026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A7186B-E74D-41CE-99CC-EBC64D44C5D6}" type="slidenum">
              <a:rPr lang="en-US" smtClean="0"/>
              <a:t>‹#›</a:t>
            </a:fld>
            <a:endParaRPr lang="en-US"/>
          </a:p>
        </p:txBody>
      </p:sp>
    </p:spTree>
    <p:extLst>
      <p:ext uri="{BB962C8B-B14F-4D97-AF65-F5344CB8AC3E}">
        <p14:creationId xmlns:p14="http://schemas.microsoft.com/office/powerpoint/2010/main" val="2138976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your time today. I'm here to present SMAC -- a platform that merges social networking, e-commerce, and e-learning into a single unified experience. Think of it as Facebook meets </a:t>
            </a:r>
            <a:r>
              <a:rPr lang="en-US" dirty="0" err="1" smtClean="0"/>
              <a:t>Udemy</a:t>
            </a:r>
            <a:r>
              <a:rPr lang="en-US" dirty="0" smtClean="0"/>
              <a:t> meets Fiverr -- all in one app.</a:t>
            </a:r>
            <a:endParaRPr lang="en-US" dirty="0"/>
          </a:p>
        </p:txBody>
      </p:sp>
      <p:sp>
        <p:nvSpPr>
          <p:cNvPr id="4" name="Slide Number Placeholder 3"/>
          <p:cNvSpPr>
            <a:spLocks noGrp="1"/>
          </p:cNvSpPr>
          <p:nvPr>
            <p:ph type="sldNum" sz="quarter" idx="10"/>
          </p:nvPr>
        </p:nvSpPr>
        <p:spPr/>
        <p:txBody>
          <a:bodyPr/>
          <a:lstStyle/>
          <a:p>
            <a:fld id="{4AA7186B-E74D-41CE-99CC-EBC64D44C5D6}" type="slidenum">
              <a:rPr lang="en-US" smtClean="0"/>
              <a:t>1</a:t>
            </a:fld>
            <a:endParaRPr lang="en-US"/>
          </a:p>
        </p:txBody>
      </p:sp>
    </p:spTree>
    <p:extLst>
      <p:ext uri="{BB962C8B-B14F-4D97-AF65-F5344CB8AC3E}">
        <p14:creationId xmlns:p14="http://schemas.microsoft.com/office/powerpoint/2010/main" val="4197471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Today, a freelancer in Pakistan has to maintain profiles on 5 different platforms. They build followers on </a:t>
            </a:r>
            <a:r>
              <a:rPr lang="en-US" dirty="0" err="1" smtClean="0"/>
              <a:t>Instagram</a:t>
            </a:r>
            <a:r>
              <a:rPr lang="en-US" dirty="0" smtClean="0"/>
              <a:t>, sell courses on </a:t>
            </a:r>
            <a:r>
              <a:rPr lang="en-US" dirty="0" err="1" smtClean="0"/>
              <a:t>Udemy</a:t>
            </a:r>
            <a:r>
              <a:rPr lang="en-US" dirty="0" smtClean="0"/>
              <a:t>, offer services on Fiverr, and chat with clients on </a:t>
            </a:r>
            <a:r>
              <a:rPr lang="en-US" dirty="0" err="1" smtClean="0"/>
              <a:t>WhatsApp</a:t>
            </a:r>
            <a:r>
              <a:rPr lang="en-US" dirty="0" smtClean="0"/>
              <a:t>. Each platform takes a cut. There's no unified experience. SMAC solves this by bringing everything under one roof.</a:t>
            </a:r>
            <a:endParaRPr lang="en-US" dirty="0"/>
          </a:p>
        </p:txBody>
      </p:sp>
      <p:sp>
        <p:nvSpPr>
          <p:cNvPr id="4" name="Slide Number Placeholder 3"/>
          <p:cNvSpPr>
            <a:spLocks noGrp="1"/>
          </p:cNvSpPr>
          <p:nvPr>
            <p:ph type="sldNum" sz="quarter" idx="10"/>
          </p:nvPr>
        </p:nvSpPr>
        <p:spPr/>
        <p:txBody>
          <a:bodyPr/>
          <a:lstStyle/>
          <a:p>
            <a:fld id="{4AA7186B-E74D-41CE-99CC-EBC64D44C5D6}" type="slidenum">
              <a:rPr lang="en-US" smtClean="0"/>
              <a:t>2</a:t>
            </a:fld>
            <a:endParaRPr lang="en-US"/>
          </a:p>
        </p:txBody>
      </p:sp>
    </p:spTree>
    <p:extLst>
      <p:ext uri="{BB962C8B-B14F-4D97-AF65-F5344CB8AC3E}">
        <p14:creationId xmlns:p14="http://schemas.microsoft.com/office/powerpoint/2010/main" val="1205600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SMAC eliminates the fragmentation. With one account, users can post updates to their social feed, sell products in the marketplace, create and sell courses, offer professional services, chat with buyers in real-time, and manage everything from a unified dashboard. The social layer drives discovery -- when you follow someone and see their course in your feed, the path from interest to purchase is instant.</a:t>
            </a:r>
            <a:endParaRPr lang="en-US" dirty="0"/>
          </a:p>
        </p:txBody>
      </p:sp>
      <p:sp>
        <p:nvSpPr>
          <p:cNvPr id="4" name="Slide Number Placeholder 3"/>
          <p:cNvSpPr>
            <a:spLocks noGrp="1"/>
          </p:cNvSpPr>
          <p:nvPr>
            <p:ph type="sldNum" sz="quarter" idx="10"/>
          </p:nvPr>
        </p:nvSpPr>
        <p:spPr/>
        <p:txBody>
          <a:bodyPr/>
          <a:lstStyle/>
          <a:p>
            <a:fld id="{4AA7186B-E74D-41CE-99CC-EBC64D44C5D6}" type="slidenum">
              <a:rPr lang="en-US" smtClean="0"/>
              <a:t>3</a:t>
            </a:fld>
            <a:endParaRPr lang="en-US"/>
          </a:p>
        </p:txBody>
      </p:sp>
    </p:spTree>
    <p:extLst>
      <p:ext uri="{BB962C8B-B14F-4D97-AF65-F5344CB8AC3E}">
        <p14:creationId xmlns:p14="http://schemas.microsoft.com/office/powerpoint/2010/main" val="4167002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beauty of SMAC is the seamless journey. A user signs up, builds their social presence by posting content and growing followers, then monetizes by listing courses, products, or services. Buyers discover offerings through the social feed, global search, or category browsing. Payments are handled in-app, and sellers track their earnings through a comprehensive dashboard. The entire lifecycle happens within SMAC.</a:t>
            </a:r>
            <a:endParaRPr lang="en-US" dirty="0"/>
          </a:p>
        </p:txBody>
      </p:sp>
      <p:sp>
        <p:nvSpPr>
          <p:cNvPr id="4" name="Slide Number Placeholder 3"/>
          <p:cNvSpPr>
            <a:spLocks noGrp="1"/>
          </p:cNvSpPr>
          <p:nvPr>
            <p:ph type="sldNum" sz="quarter" idx="10"/>
          </p:nvPr>
        </p:nvSpPr>
        <p:spPr/>
        <p:txBody>
          <a:bodyPr/>
          <a:lstStyle/>
          <a:p>
            <a:fld id="{4AA7186B-E74D-41CE-99CC-EBC64D44C5D6}" type="slidenum">
              <a:rPr lang="en-US" smtClean="0"/>
              <a:t>4</a:t>
            </a:fld>
            <a:endParaRPr lang="en-US"/>
          </a:p>
        </p:txBody>
      </p:sp>
    </p:spTree>
    <p:extLst>
      <p:ext uri="{BB962C8B-B14F-4D97-AF65-F5344CB8AC3E}">
        <p14:creationId xmlns:p14="http://schemas.microsoft.com/office/powerpoint/2010/main" val="2192903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social feed is the first thing users see after login. It's designed like </a:t>
            </a:r>
            <a:r>
              <a:rPr lang="en-US" dirty="0" err="1" smtClean="0"/>
              <a:t>Instagram's</a:t>
            </a:r>
            <a:r>
              <a:rPr lang="en-US" dirty="0" smtClean="0"/>
              <a:t> explore page with a masonry grid layout. Stories sit at the top for ephemeral content. The feed uses infinite scroll -- as you scroll down, 6 more posts load automatically. Users can like, comment, share, and follow directly from the feed. For new users, we have an onboarding wizard that captures their language, country, gender, and interests to personalize the experience from day one.</a:t>
            </a:r>
            <a:endParaRPr lang="en-US" dirty="0"/>
          </a:p>
        </p:txBody>
      </p:sp>
      <p:sp>
        <p:nvSpPr>
          <p:cNvPr id="4" name="Slide Number Placeholder 3"/>
          <p:cNvSpPr>
            <a:spLocks noGrp="1"/>
          </p:cNvSpPr>
          <p:nvPr>
            <p:ph type="sldNum" sz="quarter" idx="10"/>
          </p:nvPr>
        </p:nvSpPr>
        <p:spPr/>
        <p:txBody>
          <a:bodyPr/>
          <a:lstStyle/>
          <a:p>
            <a:fld id="{4AA7186B-E74D-41CE-99CC-EBC64D44C5D6}" type="slidenum">
              <a:rPr lang="en-US" smtClean="0"/>
              <a:t>5</a:t>
            </a:fld>
            <a:endParaRPr lang="en-US"/>
          </a:p>
        </p:txBody>
      </p:sp>
    </p:spTree>
    <p:extLst>
      <p:ext uri="{BB962C8B-B14F-4D97-AF65-F5344CB8AC3E}">
        <p14:creationId xmlns:p14="http://schemas.microsoft.com/office/powerpoint/2010/main" val="3926253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 have three distinct marketplaces that share the same robust architecture. Products are for physical and digital goods, think of it like an </a:t>
            </a:r>
            <a:r>
              <a:rPr lang="en-US" dirty="0" err="1" smtClean="0"/>
              <a:t>Etsy</a:t>
            </a:r>
            <a:r>
              <a:rPr lang="en-US" dirty="0" smtClean="0"/>
              <a:t>. Courses support online and onsite modes with scheduling -- duration, class days, class time -- like a focused </a:t>
            </a:r>
            <a:r>
              <a:rPr lang="en-US" dirty="0" err="1" smtClean="0"/>
              <a:t>Udemy</a:t>
            </a:r>
            <a:r>
              <a:rPr lang="en-US" dirty="0" smtClean="0"/>
              <a:t>. Services is our Fiverr equivalent. All three use the same 4-step creation wizard: select categories, upload images (up to 10), enter details, review and submit. The category system is admin-managed with parent and sub-categories, giving us full control over marketplace organization.</a:t>
            </a:r>
            <a:endParaRPr lang="en-US" dirty="0"/>
          </a:p>
        </p:txBody>
      </p:sp>
      <p:sp>
        <p:nvSpPr>
          <p:cNvPr id="4" name="Slide Number Placeholder 3"/>
          <p:cNvSpPr>
            <a:spLocks noGrp="1"/>
          </p:cNvSpPr>
          <p:nvPr>
            <p:ph type="sldNum" sz="quarter" idx="10"/>
          </p:nvPr>
        </p:nvSpPr>
        <p:spPr/>
        <p:txBody>
          <a:bodyPr/>
          <a:lstStyle/>
          <a:p>
            <a:fld id="{4AA7186B-E74D-41CE-99CC-EBC64D44C5D6}" type="slidenum">
              <a:rPr lang="en-US" smtClean="0"/>
              <a:t>6</a:t>
            </a:fld>
            <a:endParaRPr lang="en-US"/>
          </a:p>
        </p:txBody>
      </p:sp>
    </p:spTree>
    <p:extLst>
      <p:ext uri="{BB962C8B-B14F-4D97-AF65-F5344CB8AC3E}">
        <p14:creationId xmlns:p14="http://schemas.microsoft.com/office/powerpoint/2010/main" val="806779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We've made content creation extremely user-friendly with a guided 4-step wizard. Step 1 picks the category from admin-managed taxonomies. Step 2 handles image uploads with drag-and-drop, supporting up to 10 images. Step 3 captures the details -- for courses, this includes mode, duration, class schedule, and pricing. Step 4 is a full review before submission. Every field has real-time validation. The form state is preserved in </a:t>
            </a:r>
            <a:r>
              <a:rPr lang="en-US" dirty="0" err="1" smtClean="0"/>
              <a:t>Redux</a:t>
            </a:r>
            <a:r>
              <a:rPr lang="en-US" dirty="0" smtClean="0"/>
              <a:t>, so users don't lose their progress if they go back and forth.</a:t>
            </a:r>
            <a:endParaRPr lang="en-US" dirty="0"/>
          </a:p>
        </p:txBody>
      </p:sp>
      <p:sp>
        <p:nvSpPr>
          <p:cNvPr id="4" name="Slide Number Placeholder 3"/>
          <p:cNvSpPr>
            <a:spLocks noGrp="1"/>
          </p:cNvSpPr>
          <p:nvPr>
            <p:ph type="sldNum" sz="quarter" idx="10"/>
          </p:nvPr>
        </p:nvSpPr>
        <p:spPr/>
        <p:txBody>
          <a:bodyPr/>
          <a:lstStyle/>
          <a:p>
            <a:fld id="{4AA7186B-E74D-41CE-99CC-EBC64D44C5D6}" type="slidenum">
              <a:rPr lang="en-US" smtClean="0"/>
              <a:t>7</a:t>
            </a:fld>
            <a:endParaRPr lang="en-US"/>
          </a:p>
        </p:txBody>
      </p:sp>
    </p:spTree>
    <p:extLst>
      <p:ext uri="{BB962C8B-B14F-4D97-AF65-F5344CB8AC3E}">
        <p14:creationId xmlns:p14="http://schemas.microsoft.com/office/powerpoint/2010/main" val="34137148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Our messaging system is fully real-time, powered by Socket.IO. We have two chat systems: regular DMs for user-to-user communication, and a dedicated refund support chat that connects buyers, sellers, and admins within a ticket context. The refund chat even supports image attachments for evidence. All messages appear instantly -- no page refresh needed. When you receive a message in a conversation you're not viewing, you get a red unread badge. The socket connects on login with JWT authentication and disconnects on logout.</a:t>
            </a:r>
            <a:endParaRPr lang="en-US" dirty="0"/>
          </a:p>
        </p:txBody>
      </p:sp>
      <p:sp>
        <p:nvSpPr>
          <p:cNvPr id="4" name="Slide Number Placeholder 3"/>
          <p:cNvSpPr>
            <a:spLocks noGrp="1"/>
          </p:cNvSpPr>
          <p:nvPr>
            <p:ph type="sldNum" sz="quarter" idx="10"/>
          </p:nvPr>
        </p:nvSpPr>
        <p:spPr/>
        <p:txBody>
          <a:bodyPr/>
          <a:lstStyle/>
          <a:p>
            <a:fld id="{4AA7186B-E74D-41CE-99CC-EBC64D44C5D6}" type="slidenum">
              <a:rPr lang="en-US" smtClean="0"/>
              <a:t>8</a:t>
            </a:fld>
            <a:endParaRPr lang="en-US"/>
          </a:p>
        </p:txBody>
      </p:sp>
    </p:spTree>
    <p:extLst>
      <p:ext uri="{BB962C8B-B14F-4D97-AF65-F5344CB8AC3E}">
        <p14:creationId xmlns:p14="http://schemas.microsoft.com/office/powerpoint/2010/main" val="11543570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Every user gets a comprehensive dashboard. Sellers can track their courses, services, and products, see their earnings broken down into four cards -- total earned, withdrawn to date, available balance, and pending amount -- and request withdrawals. Buyers can view purchases and request refunds. The admin dashboard gives full platform control across 8 tabs -- from user management and content moderation to subscription plan configuration and withdrawal approvals. Everything follows the same pattern: data loads on tab switch, displays in searchable tables, and actions happen through modals.</a:t>
            </a:r>
            <a:endParaRPr lang="en-US" dirty="0"/>
          </a:p>
        </p:txBody>
      </p:sp>
      <p:sp>
        <p:nvSpPr>
          <p:cNvPr id="4" name="Slide Number Placeholder 3"/>
          <p:cNvSpPr>
            <a:spLocks noGrp="1"/>
          </p:cNvSpPr>
          <p:nvPr>
            <p:ph type="sldNum" sz="quarter" idx="10"/>
          </p:nvPr>
        </p:nvSpPr>
        <p:spPr/>
        <p:txBody>
          <a:bodyPr/>
          <a:lstStyle/>
          <a:p>
            <a:fld id="{4AA7186B-E74D-41CE-99CC-EBC64D44C5D6}" type="slidenum">
              <a:rPr lang="en-US" smtClean="0"/>
              <a:t>9</a:t>
            </a:fld>
            <a:endParaRPr lang="en-US"/>
          </a:p>
        </p:txBody>
      </p:sp>
    </p:spTree>
    <p:extLst>
      <p:ext uri="{BB962C8B-B14F-4D97-AF65-F5344CB8AC3E}">
        <p14:creationId xmlns:p14="http://schemas.microsoft.com/office/powerpoint/2010/main" val="6576299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admin dashboard is where platform governance happens. We can block problematic users, moderate content, process financial transactions, and configure the entire marketplace taxonomy. The subscription system is particularly flexible -- admins can create plans with different monthly and yearly pricing, set specific limits on how many courses, products, or services a seller can list per plan, and define custom benefits. This gives us full control over monetization without requiring code changes.</a:t>
            </a:r>
            <a:endParaRPr lang="en-US" dirty="0"/>
          </a:p>
        </p:txBody>
      </p:sp>
      <p:sp>
        <p:nvSpPr>
          <p:cNvPr id="4" name="Slide Number Placeholder 3"/>
          <p:cNvSpPr>
            <a:spLocks noGrp="1"/>
          </p:cNvSpPr>
          <p:nvPr>
            <p:ph type="sldNum" sz="quarter" idx="10"/>
          </p:nvPr>
        </p:nvSpPr>
        <p:spPr/>
        <p:txBody>
          <a:bodyPr/>
          <a:lstStyle/>
          <a:p>
            <a:fld id="{4AA7186B-E74D-41CE-99CC-EBC64D44C5D6}" type="slidenum">
              <a:rPr lang="en-US" smtClean="0"/>
              <a:t>10</a:t>
            </a:fld>
            <a:endParaRPr lang="en-US"/>
          </a:p>
        </p:txBody>
      </p:sp>
    </p:spTree>
    <p:extLst>
      <p:ext uri="{BB962C8B-B14F-4D97-AF65-F5344CB8AC3E}">
        <p14:creationId xmlns:p14="http://schemas.microsoft.com/office/powerpoint/2010/main" val="22307828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SMAC has two active revenue streams. First, subscription plans -- sellers must subscribe to list their offerings. We offer three tiers with monthly and yearly options, each with different listing limits. This creates predictable recurring revenue. Second, we charge a 5% transaction fee on service purchases, capturing value on every sale. The plans are fully admin-configurable, so we can adjust pricing and limits as the market demands without any code changes. Future monetization opportunities include featured listings, promoted posts, and enterprise licensing.</a:t>
            </a:r>
            <a:endParaRPr lang="en-US" dirty="0"/>
          </a:p>
        </p:txBody>
      </p:sp>
      <p:sp>
        <p:nvSpPr>
          <p:cNvPr id="4" name="Slide Number Placeholder 3"/>
          <p:cNvSpPr>
            <a:spLocks noGrp="1"/>
          </p:cNvSpPr>
          <p:nvPr>
            <p:ph type="sldNum" sz="quarter" idx="10"/>
          </p:nvPr>
        </p:nvSpPr>
        <p:spPr/>
        <p:txBody>
          <a:bodyPr/>
          <a:lstStyle/>
          <a:p>
            <a:fld id="{4AA7186B-E74D-41CE-99CC-EBC64D44C5D6}" type="slidenum">
              <a:rPr lang="en-US" smtClean="0"/>
              <a:t>11</a:t>
            </a:fld>
            <a:endParaRPr lang="en-US"/>
          </a:p>
        </p:txBody>
      </p:sp>
    </p:spTree>
    <p:extLst>
      <p:ext uri="{BB962C8B-B14F-4D97-AF65-F5344CB8AC3E}">
        <p14:creationId xmlns:p14="http://schemas.microsoft.com/office/powerpoint/2010/main" val="11634774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Security is built into every layer. We support both email/password and Google </a:t>
            </a:r>
            <a:r>
              <a:rPr lang="en-US" dirty="0" err="1" smtClean="0"/>
              <a:t>OAuth</a:t>
            </a:r>
            <a:r>
              <a:rPr lang="en-US" dirty="0" smtClean="0"/>
              <a:t> authentication. Passwords require uppercase, numbers, and special characters. Every account must verify their email before activation. Sessions use JWT tokens that persist across browser refreshes via </a:t>
            </a:r>
            <a:r>
              <a:rPr lang="en-US" dirty="0" err="1" smtClean="0"/>
              <a:t>Redux</a:t>
            </a:r>
            <a:r>
              <a:rPr lang="en-US" dirty="0" smtClean="0"/>
              <a:t> Persist. All API calls include the Bearer token, and any 401 response automatically logs the user out. Routes are protected at three levels: public pages anyone can see, authenticated pages requiring login, and admin pages requiring the admin role. Even the </a:t>
            </a:r>
            <a:r>
              <a:rPr lang="en-US" dirty="0" err="1" smtClean="0"/>
              <a:t>WebSocket</a:t>
            </a:r>
            <a:r>
              <a:rPr lang="en-US" dirty="0" smtClean="0"/>
              <a:t> connection is authenticated with the JWT token.</a:t>
            </a:r>
            <a:endParaRPr lang="en-US" dirty="0"/>
          </a:p>
        </p:txBody>
      </p:sp>
      <p:sp>
        <p:nvSpPr>
          <p:cNvPr id="4" name="Slide Number Placeholder 3"/>
          <p:cNvSpPr>
            <a:spLocks noGrp="1"/>
          </p:cNvSpPr>
          <p:nvPr>
            <p:ph type="sldNum" sz="quarter" idx="10"/>
          </p:nvPr>
        </p:nvSpPr>
        <p:spPr/>
        <p:txBody>
          <a:bodyPr/>
          <a:lstStyle/>
          <a:p>
            <a:fld id="{4AA7186B-E74D-41CE-99CC-EBC64D44C5D6}" type="slidenum">
              <a:rPr lang="en-US" smtClean="0"/>
              <a:t>12</a:t>
            </a:fld>
            <a:endParaRPr lang="en-US"/>
          </a:p>
        </p:txBody>
      </p:sp>
    </p:spTree>
    <p:extLst>
      <p:ext uri="{BB962C8B-B14F-4D97-AF65-F5344CB8AC3E}">
        <p14:creationId xmlns:p14="http://schemas.microsoft.com/office/powerpoint/2010/main" val="1388808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Our architecture is built for scalability and maintainability. The React frontend uses 21 </a:t>
            </a:r>
            <a:r>
              <a:rPr lang="en-US" dirty="0" err="1" smtClean="0"/>
              <a:t>Redux</a:t>
            </a:r>
            <a:r>
              <a:rPr lang="en-US" dirty="0" smtClean="0"/>
              <a:t> slices -- think of these as organized drawers, each managing a specific domain like user </a:t>
            </a:r>
            <a:r>
              <a:rPr lang="en-US" dirty="0" err="1" smtClean="0"/>
              <a:t>auth</a:t>
            </a:r>
            <a:r>
              <a:rPr lang="en-US" dirty="0" smtClean="0"/>
              <a:t>, posts, chat, payments, and search. All API communication flows through a single custom hook called </a:t>
            </a:r>
            <a:r>
              <a:rPr lang="en-US" dirty="0" err="1" smtClean="0"/>
              <a:t>useFetch</a:t>
            </a:r>
            <a:r>
              <a:rPr lang="en-US" dirty="0" smtClean="0"/>
              <a:t>, which handles authorization headers, error handling, and auto-logout consistently across the entire app. Real-time features are powered by Socket.IO with a custom middleware that automatically bridges socket events into </a:t>
            </a:r>
            <a:r>
              <a:rPr lang="en-US" dirty="0" err="1" smtClean="0"/>
              <a:t>Redux</a:t>
            </a:r>
            <a:r>
              <a:rPr lang="en-US" dirty="0" smtClean="0"/>
              <a:t> state updates. The entire state persists to </a:t>
            </a:r>
            <a:r>
              <a:rPr lang="en-US" dirty="0" err="1" smtClean="0"/>
              <a:t>localStorage</a:t>
            </a:r>
            <a:r>
              <a:rPr lang="en-US" dirty="0" smtClean="0"/>
              <a:t>, so users never lose their session on refresh.</a:t>
            </a:r>
            <a:endParaRPr lang="en-US" dirty="0"/>
          </a:p>
        </p:txBody>
      </p:sp>
      <p:sp>
        <p:nvSpPr>
          <p:cNvPr id="4" name="Slide Number Placeholder 3"/>
          <p:cNvSpPr>
            <a:spLocks noGrp="1"/>
          </p:cNvSpPr>
          <p:nvPr>
            <p:ph type="sldNum" sz="quarter" idx="10"/>
          </p:nvPr>
        </p:nvSpPr>
        <p:spPr/>
        <p:txBody>
          <a:bodyPr/>
          <a:lstStyle/>
          <a:p>
            <a:fld id="{4AA7186B-E74D-41CE-99CC-EBC64D44C5D6}" type="slidenum">
              <a:rPr lang="en-US" smtClean="0"/>
              <a:t>13</a:t>
            </a:fld>
            <a:endParaRPr lang="en-US"/>
          </a:p>
        </p:txBody>
      </p:sp>
    </p:spTree>
    <p:extLst>
      <p:ext uri="{BB962C8B-B14F-4D97-AF65-F5344CB8AC3E}">
        <p14:creationId xmlns:p14="http://schemas.microsoft.com/office/powerpoint/2010/main" val="30935117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Our global search is powered by a single API call that searches across all content types simultaneously -- users, posts, products, courses, and services. The results are split into 5 tabs on the search results page. When you switch between tabs, there are no additional API calls -- everything was fetched upfront and stored in </a:t>
            </a:r>
            <a:r>
              <a:rPr lang="en-US" dirty="0" err="1" smtClean="0"/>
              <a:t>Redux</a:t>
            </a:r>
            <a:r>
              <a:rPr lang="en-US" dirty="0" smtClean="0"/>
              <a:t>. This gives users instant tab-switching while minimizing server load. It's a unified discovery experience that connects the social and commerce layers.</a:t>
            </a:r>
            <a:endParaRPr lang="en-US" dirty="0"/>
          </a:p>
        </p:txBody>
      </p:sp>
      <p:sp>
        <p:nvSpPr>
          <p:cNvPr id="4" name="Slide Number Placeholder 3"/>
          <p:cNvSpPr>
            <a:spLocks noGrp="1"/>
          </p:cNvSpPr>
          <p:nvPr>
            <p:ph type="sldNum" sz="quarter" idx="10"/>
          </p:nvPr>
        </p:nvSpPr>
        <p:spPr/>
        <p:txBody>
          <a:bodyPr/>
          <a:lstStyle/>
          <a:p>
            <a:fld id="{4AA7186B-E74D-41CE-99CC-EBC64D44C5D6}" type="slidenum">
              <a:rPr lang="en-US" smtClean="0"/>
              <a:t>14</a:t>
            </a:fld>
            <a:endParaRPr lang="en-US"/>
          </a:p>
        </p:txBody>
      </p:sp>
    </p:spTree>
    <p:extLst>
      <p:ext uri="{BB962C8B-B14F-4D97-AF65-F5344CB8AC3E}">
        <p14:creationId xmlns:p14="http://schemas.microsoft.com/office/powerpoint/2010/main" val="17600196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Pakistan has the second-largest freelance workforce globally, a $7.6 billion e-commerce market growing over 25% year-over-year, and 60% of its population is under 30. Yet there's no local platform that combines social networking with commerce and education. International platforms charge high fees and don't support PKR natively. SMAC is purpose-built for this market -- connecting freelancers, educators, and small businesses in one ecosystem with localized pricing and a social layer that drives organic discovery and engagement.</a:t>
            </a:r>
            <a:endParaRPr lang="en-US" dirty="0"/>
          </a:p>
        </p:txBody>
      </p:sp>
      <p:sp>
        <p:nvSpPr>
          <p:cNvPr id="4" name="Slide Number Placeholder 3"/>
          <p:cNvSpPr>
            <a:spLocks noGrp="1"/>
          </p:cNvSpPr>
          <p:nvPr>
            <p:ph type="sldNum" sz="quarter" idx="10"/>
          </p:nvPr>
        </p:nvSpPr>
        <p:spPr/>
        <p:txBody>
          <a:bodyPr/>
          <a:lstStyle/>
          <a:p>
            <a:fld id="{4AA7186B-E74D-41CE-99CC-EBC64D44C5D6}" type="slidenum">
              <a:rPr lang="en-US" smtClean="0"/>
              <a:t>15</a:t>
            </a:fld>
            <a:endParaRPr lang="en-US"/>
          </a:p>
        </p:txBody>
      </p:sp>
    </p:spTree>
    <p:extLst>
      <p:ext uri="{BB962C8B-B14F-4D97-AF65-F5344CB8AC3E}">
        <p14:creationId xmlns:p14="http://schemas.microsoft.com/office/powerpoint/2010/main" val="35994287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When you look at the competitive landscape, every existing platform only covers a slice of what SMAC offers. Facebook has social but no courses or services marketplace. </a:t>
            </a:r>
            <a:r>
              <a:rPr lang="en-US" dirty="0" err="1" smtClean="0"/>
              <a:t>Udemy</a:t>
            </a:r>
            <a:r>
              <a:rPr lang="en-US" dirty="0" smtClean="0"/>
              <a:t> has courses but no social feed. Fiverr has services but no product marketplace or social layer. </a:t>
            </a:r>
            <a:r>
              <a:rPr lang="en-US" dirty="0" err="1" smtClean="0"/>
              <a:t>Daraz</a:t>
            </a:r>
            <a:r>
              <a:rPr lang="en-US" dirty="0" smtClean="0"/>
              <a:t> has products but nothing else. SMAC is the only platform that brings all six capabilities together. And importantly, </a:t>
            </a:r>
            <a:r>
              <a:rPr lang="en-US" dirty="0" err="1" smtClean="0"/>
              <a:t>Udemy</a:t>
            </a:r>
            <a:r>
              <a:rPr lang="en-US" dirty="0" smtClean="0"/>
              <a:t> takes 37% of course revenue while Fiverr takes up to 20% -- we charge just 5% on services, making us significantly more seller-friendly.</a:t>
            </a:r>
            <a:endParaRPr lang="en-US" dirty="0"/>
          </a:p>
        </p:txBody>
      </p:sp>
      <p:sp>
        <p:nvSpPr>
          <p:cNvPr id="4" name="Slide Number Placeholder 3"/>
          <p:cNvSpPr>
            <a:spLocks noGrp="1"/>
          </p:cNvSpPr>
          <p:nvPr>
            <p:ph type="sldNum" sz="quarter" idx="10"/>
          </p:nvPr>
        </p:nvSpPr>
        <p:spPr/>
        <p:txBody>
          <a:bodyPr/>
          <a:lstStyle/>
          <a:p>
            <a:fld id="{4AA7186B-E74D-41CE-99CC-EBC64D44C5D6}" type="slidenum">
              <a:rPr lang="en-US" smtClean="0"/>
              <a:t>16</a:t>
            </a:fld>
            <a:endParaRPr lang="en-US"/>
          </a:p>
        </p:txBody>
      </p:sp>
    </p:spTree>
    <p:extLst>
      <p:ext uri="{BB962C8B-B14F-4D97-AF65-F5344CB8AC3E}">
        <p14:creationId xmlns:p14="http://schemas.microsoft.com/office/powerpoint/2010/main" val="23071552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We've built a production-ready platform. The frontend alone consists of over 100 React components, 50+ API integrations, and a comprehensive state management system. Every major feature is functional -- authentication, the social feed, all three marketplaces, real-time chat, both dashboards, payments, and global search. The only features still in development are enhancements to chat -- group messaging, typing indicators, and reactions -- which are on our near-term roadmap.</a:t>
            </a:r>
            <a:endParaRPr lang="en-US" dirty="0"/>
          </a:p>
        </p:txBody>
      </p:sp>
      <p:sp>
        <p:nvSpPr>
          <p:cNvPr id="4" name="Slide Number Placeholder 3"/>
          <p:cNvSpPr>
            <a:spLocks noGrp="1"/>
          </p:cNvSpPr>
          <p:nvPr>
            <p:ph type="sldNum" sz="quarter" idx="10"/>
          </p:nvPr>
        </p:nvSpPr>
        <p:spPr/>
        <p:txBody>
          <a:bodyPr/>
          <a:lstStyle/>
          <a:p>
            <a:fld id="{4AA7186B-E74D-41CE-99CC-EBC64D44C5D6}" type="slidenum">
              <a:rPr lang="en-US" smtClean="0"/>
              <a:t>17</a:t>
            </a:fld>
            <a:endParaRPr lang="en-US"/>
          </a:p>
        </p:txBody>
      </p:sp>
    </p:spTree>
    <p:extLst>
      <p:ext uri="{BB962C8B-B14F-4D97-AF65-F5344CB8AC3E}">
        <p14:creationId xmlns:p14="http://schemas.microsoft.com/office/powerpoint/2010/main" val="24810079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Our roadmap is phased for maximum impact. Phase 1 is complete -- the full platform is built and ready for launch. In the next 6 months, we'll enhance the messaging system, launch a mobile app sharing our existing business logic, and add seller analytics. The 12-month horizon includes enterprise features like white-labeling, multi-language support, local payment gateway integration for </a:t>
            </a:r>
            <a:r>
              <a:rPr lang="en-US" dirty="0" err="1" smtClean="0"/>
              <a:t>JazzCash</a:t>
            </a:r>
            <a:r>
              <a:rPr lang="en-US" dirty="0" smtClean="0"/>
              <a:t> and </a:t>
            </a:r>
            <a:r>
              <a:rPr lang="en-US" dirty="0" err="1" smtClean="0"/>
              <a:t>EasyPaisa</a:t>
            </a:r>
            <a:r>
              <a:rPr lang="en-US" dirty="0" smtClean="0"/>
              <a:t>, and a course certification system. Each phase unlocks new revenue streams while deepening user engagement.</a:t>
            </a:r>
            <a:endParaRPr lang="en-US" dirty="0"/>
          </a:p>
        </p:txBody>
      </p:sp>
      <p:sp>
        <p:nvSpPr>
          <p:cNvPr id="4" name="Slide Number Placeholder 3"/>
          <p:cNvSpPr>
            <a:spLocks noGrp="1"/>
          </p:cNvSpPr>
          <p:nvPr>
            <p:ph type="sldNum" sz="quarter" idx="10"/>
          </p:nvPr>
        </p:nvSpPr>
        <p:spPr/>
        <p:txBody>
          <a:bodyPr/>
          <a:lstStyle/>
          <a:p>
            <a:fld id="{4AA7186B-E74D-41CE-99CC-EBC64D44C5D6}" type="slidenum">
              <a:rPr lang="en-US" smtClean="0"/>
              <a:t>18</a:t>
            </a:fld>
            <a:endParaRPr lang="en-US"/>
          </a:p>
        </p:txBody>
      </p:sp>
    </p:spTree>
    <p:extLst>
      <p:ext uri="{BB962C8B-B14F-4D97-AF65-F5344CB8AC3E}">
        <p14:creationId xmlns:p14="http://schemas.microsoft.com/office/powerpoint/2010/main" val="14076815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We're seeking [amount] to take SMAC from a fully-built product to a scaled platform. 40% goes to engineering -- primarily mobile app development, backend scaling, and AI-powered recommendations. 25% fuels user acquisition through digital marketing, influencer partnerships, and campus programs targeting Pakistan's massive student population. 20% covers operations including payment gateway integrations for </a:t>
            </a:r>
            <a:r>
              <a:rPr lang="en-US" dirty="0" err="1" smtClean="0"/>
              <a:t>JazzCash</a:t>
            </a:r>
            <a:r>
              <a:rPr lang="en-US" dirty="0" smtClean="0"/>
              <a:t> and </a:t>
            </a:r>
            <a:r>
              <a:rPr lang="en-US" dirty="0" err="1" smtClean="0"/>
              <a:t>EasyPaisa</a:t>
            </a:r>
            <a:r>
              <a:rPr lang="en-US" dirty="0" smtClean="0"/>
              <a:t>. And 15% goes to team expansion to support growth.</a:t>
            </a:r>
            <a:endParaRPr lang="en-US" dirty="0"/>
          </a:p>
        </p:txBody>
      </p:sp>
      <p:sp>
        <p:nvSpPr>
          <p:cNvPr id="4" name="Slide Number Placeholder 3"/>
          <p:cNvSpPr>
            <a:spLocks noGrp="1"/>
          </p:cNvSpPr>
          <p:nvPr>
            <p:ph type="sldNum" sz="quarter" idx="10"/>
          </p:nvPr>
        </p:nvSpPr>
        <p:spPr/>
        <p:txBody>
          <a:bodyPr/>
          <a:lstStyle/>
          <a:p>
            <a:fld id="{4AA7186B-E74D-41CE-99CC-EBC64D44C5D6}" type="slidenum">
              <a:rPr lang="en-US" smtClean="0"/>
              <a:t>19</a:t>
            </a:fld>
            <a:endParaRPr lang="en-US"/>
          </a:p>
        </p:txBody>
      </p:sp>
    </p:spTree>
    <p:extLst>
      <p:ext uri="{BB962C8B-B14F-4D97-AF65-F5344CB8AC3E}">
        <p14:creationId xmlns:p14="http://schemas.microsoft.com/office/powerpoint/2010/main" val="40613586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 me close with this: SMAC isn't a concept -- it's a fully built, working platform. The market opportunity in Pakistan is enormous and growing. No competitor offers what we offer. Our revenue model has multiple streams. And our team has already proven it can deliver by building this entire platform. We're ready to scale. </a:t>
            </a:r>
            <a:r>
              <a:rPr lang="en-US" smtClean="0"/>
              <a:t>Thank you.</a:t>
            </a:r>
            <a:endParaRPr lang="en-US"/>
          </a:p>
        </p:txBody>
      </p:sp>
      <p:sp>
        <p:nvSpPr>
          <p:cNvPr id="4" name="Slide Number Placeholder 3"/>
          <p:cNvSpPr>
            <a:spLocks noGrp="1"/>
          </p:cNvSpPr>
          <p:nvPr>
            <p:ph type="sldNum" sz="quarter" idx="10"/>
          </p:nvPr>
        </p:nvSpPr>
        <p:spPr/>
        <p:txBody>
          <a:bodyPr/>
          <a:lstStyle/>
          <a:p>
            <a:fld id="{4AA7186B-E74D-41CE-99CC-EBC64D44C5D6}" type="slidenum">
              <a:rPr lang="en-US" smtClean="0"/>
              <a:t>20</a:t>
            </a:fld>
            <a:endParaRPr lang="en-US"/>
          </a:p>
        </p:txBody>
      </p:sp>
    </p:spTree>
    <p:extLst>
      <p:ext uri="{BB962C8B-B14F-4D97-AF65-F5344CB8AC3E}">
        <p14:creationId xmlns:p14="http://schemas.microsoft.com/office/powerpoint/2010/main" val="3859369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4/9/2026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67648" y="199153"/>
            <a:ext cx="1281928" cy="961051"/>
          </a:xfrm>
          <a:prstGeom prst="rect">
            <a:avLst/>
          </a:prstGeom>
        </p:spPr>
      </p:pic>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A898"/>
        </a:solidFill>
        <a:effectLst/>
      </p:bgPr>
    </p:bg>
    <p:spTree>
      <p:nvGrpSpPr>
        <p:cNvPr id="1" name=""/>
        <p:cNvGrpSpPr/>
        <p:nvPr/>
      </p:nvGrpSpPr>
      <p:grpSpPr>
        <a:xfrm>
          <a:off x="0" y="0"/>
          <a:ext cx="0" cy="0"/>
          <a:chOff x="0" y="0"/>
          <a:chExt cx="0" cy="0"/>
        </a:xfrm>
      </p:grpSpPr>
      <p:sp>
        <p:nvSpPr>
          <p:cNvPr id="3" name="TextBox 2"/>
          <p:cNvSpPr txBox="1"/>
          <p:nvPr/>
        </p:nvSpPr>
        <p:spPr>
          <a:xfrm>
            <a:off x="914400" y="2468880"/>
            <a:ext cx="10058400" cy="548640"/>
          </a:xfrm>
          <a:prstGeom prst="rect">
            <a:avLst/>
          </a:prstGeom>
          <a:noFill/>
        </p:spPr>
        <p:txBody>
          <a:bodyPr wrap="square">
            <a:spAutoFit/>
          </a:bodyPr>
          <a:lstStyle/>
          <a:p>
            <a:pPr algn="ctr">
              <a:defRPr sz="3200" b="0">
                <a:solidFill>
                  <a:srgbClr val="FFFFFF"/>
                </a:solidFill>
                <a:latin typeface="Calibri"/>
              </a:defRPr>
            </a:pPr>
            <a:r>
              <a:t>Connect.  Learn.  Earn.</a:t>
            </a:r>
          </a:p>
        </p:txBody>
      </p:sp>
      <p:sp>
        <p:nvSpPr>
          <p:cNvPr id="4" name="Rectangle 3"/>
          <p:cNvSpPr/>
          <p:nvPr/>
        </p:nvSpPr>
        <p:spPr>
          <a:xfrm>
            <a:off x="4572000" y="3200400"/>
            <a:ext cx="3047695" cy="27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3474720"/>
            <a:ext cx="10058400" cy="548640"/>
          </a:xfrm>
          <a:prstGeom prst="rect">
            <a:avLst/>
          </a:prstGeom>
          <a:noFill/>
        </p:spPr>
        <p:txBody>
          <a:bodyPr wrap="square">
            <a:spAutoFit/>
          </a:bodyPr>
          <a:lstStyle/>
          <a:p>
            <a:pPr algn="ctr">
              <a:defRPr sz="2400" b="0">
                <a:solidFill>
                  <a:srgbClr val="FFFFFF"/>
                </a:solidFill>
                <a:latin typeface="Calibri"/>
              </a:defRPr>
            </a:pPr>
            <a:r>
              <a:t>A Social Commerce &amp; E-Learning Super App</a:t>
            </a:r>
          </a:p>
        </p:txBody>
      </p:sp>
      <p:sp>
        <p:nvSpPr>
          <p:cNvPr id="6" name="TextBox 5"/>
          <p:cNvSpPr txBox="1"/>
          <p:nvPr/>
        </p:nvSpPr>
        <p:spPr>
          <a:xfrm>
            <a:off x="914400" y="4754880"/>
            <a:ext cx="10058400" cy="338554"/>
          </a:xfrm>
          <a:prstGeom prst="rect">
            <a:avLst/>
          </a:prstGeom>
          <a:noFill/>
        </p:spPr>
        <p:txBody>
          <a:bodyPr wrap="square">
            <a:spAutoFit/>
          </a:bodyPr>
          <a:lstStyle/>
          <a:p>
            <a:pPr algn="ctr">
              <a:defRPr sz="1600" b="0">
                <a:solidFill>
                  <a:srgbClr val="FFFFFF"/>
                </a:solidFill>
                <a:latin typeface="Calibri"/>
              </a:defRPr>
            </a:pPr>
            <a:r>
              <a:rPr dirty="0"/>
              <a:t>ZNZ Technologies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492240"/>
            <a:ext cx="12191695"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0" y="6537960"/>
            <a:ext cx="640080" cy="274320"/>
          </a:xfrm>
          <a:prstGeom prst="rect">
            <a:avLst/>
          </a:prstGeom>
          <a:noFill/>
        </p:spPr>
        <p:txBody>
          <a:bodyPr wrap="square">
            <a:spAutoFit/>
          </a:bodyPr>
          <a:lstStyle/>
          <a:p>
            <a:pPr algn="r">
              <a:defRPr sz="1100" b="0">
                <a:solidFill>
                  <a:srgbClr val="FFFFFF"/>
                </a:solidFill>
                <a:latin typeface="Calibri"/>
              </a:defRPr>
            </a:pPr>
            <a:r>
              <a:t>2</a:t>
            </a:r>
          </a:p>
        </p:txBody>
      </p:sp>
      <p:sp>
        <p:nvSpPr>
          <p:cNvPr id="4" name="TextBox 3"/>
          <p:cNvSpPr txBox="1"/>
          <p:nvPr/>
        </p:nvSpPr>
        <p:spPr>
          <a:xfrm>
            <a:off x="731520" y="365760"/>
            <a:ext cx="10058400" cy="640080"/>
          </a:xfrm>
          <a:prstGeom prst="rect">
            <a:avLst/>
          </a:prstGeom>
          <a:noFill/>
        </p:spPr>
        <p:txBody>
          <a:bodyPr wrap="square">
            <a:spAutoFit/>
          </a:bodyPr>
          <a:lstStyle/>
          <a:p>
            <a:pPr algn="l">
              <a:defRPr sz="4000" b="1">
                <a:solidFill>
                  <a:srgbClr val="14A898"/>
                </a:solidFill>
                <a:latin typeface="Calibri"/>
              </a:defRPr>
            </a:pPr>
            <a:r>
              <a:t>The Problem</a:t>
            </a:r>
          </a:p>
        </p:txBody>
      </p:sp>
      <p:sp>
        <p:nvSpPr>
          <p:cNvPr id="5" name="TextBox 4"/>
          <p:cNvSpPr txBox="1"/>
          <p:nvPr/>
        </p:nvSpPr>
        <p:spPr>
          <a:xfrm>
            <a:off x="731520" y="1097280"/>
            <a:ext cx="10058400" cy="548640"/>
          </a:xfrm>
          <a:prstGeom prst="rect">
            <a:avLst/>
          </a:prstGeom>
          <a:noFill/>
        </p:spPr>
        <p:txBody>
          <a:bodyPr wrap="square">
            <a:spAutoFit/>
          </a:bodyPr>
          <a:lstStyle/>
          <a:p>
            <a:pPr algn="l">
              <a:defRPr sz="2000" b="0">
                <a:solidFill>
                  <a:srgbClr val="868686"/>
                </a:solidFill>
                <a:latin typeface="Calibri"/>
              </a:defRPr>
            </a:pPr>
            <a:r>
              <a:t>Users are juggling too many platforms to socialize, learn, sell, and communicate.</a:t>
            </a:r>
          </a:p>
        </p:txBody>
      </p:sp>
      <p:sp>
        <p:nvSpPr>
          <p:cNvPr id="6" name="Rectangle 5"/>
          <p:cNvSpPr/>
          <p:nvPr/>
        </p:nvSpPr>
        <p:spPr>
          <a:xfrm>
            <a:off x="731520" y="2011680"/>
            <a:ext cx="2011680" cy="16459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148840"/>
            <a:ext cx="1737360" cy="457200"/>
          </a:xfrm>
          <a:prstGeom prst="rect">
            <a:avLst/>
          </a:prstGeom>
          <a:noFill/>
        </p:spPr>
        <p:txBody>
          <a:bodyPr wrap="square">
            <a:spAutoFit/>
          </a:bodyPr>
          <a:lstStyle/>
          <a:p>
            <a:pPr algn="l">
              <a:defRPr sz="1600" b="1">
                <a:solidFill>
                  <a:srgbClr val="14A898"/>
                </a:solidFill>
                <a:latin typeface="Calibri"/>
              </a:defRPr>
            </a:pPr>
            <a:r>
              <a:t>To Socialize</a:t>
            </a:r>
          </a:p>
        </p:txBody>
      </p:sp>
      <p:sp>
        <p:nvSpPr>
          <p:cNvPr id="8" name="TextBox 7"/>
          <p:cNvSpPr txBox="1"/>
          <p:nvPr/>
        </p:nvSpPr>
        <p:spPr>
          <a:xfrm>
            <a:off x="868680" y="2606040"/>
            <a:ext cx="1737360" cy="914400"/>
          </a:xfrm>
          <a:prstGeom prst="rect">
            <a:avLst/>
          </a:prstGeom>
          <a:noFill/>
        </p:spPr>
        <p:txBody>
          <a:bodyPr wrap="square">
            <a:spAutoFit/>
          </a:bodyPr>
          <a:lstStyle/>
          <a:p>
            <a:pPr algn="l">
              <a:defRPr sz="1400" b="0">
                <a:solidFill>
                  <a:srgbClr val="868686"/>
                </a:solidFill>
                <a:latin typeface="Calibri"/>
              </a:defRPr>
            </a:pPr>
            <a:r>
              <a:t>Facebook, Instagram,</a:t>
            </a:r>
            <a:br/>
            <a:r>
              <a:t>LinkedIn</a:t>
            </a:r>
          </a:p>
        </p:txBody>
      </p:sp>
      <p:sp>
        <p:nvSpPr>
          <p:cNvPr id="9" name="Rectangle 8"/>
          <p:cNvSpPr/>
          <p:nvPr/>
        </p:nvSpPr>
        <p:spPr>
          <a:xfrm>
            <a:off x="2971800" y="2011680"/>
            <a:ext cx="2011680" cy="16459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108960" y="2148840"/>
            <a:ext cx="1737360" cy="457200"/>
          </a:xfrm>
          <a:prstGeom prst="rect">
            <a:avLst/>
          </a:prstGeom>
          <a:noFill/>
        </p:spPr>
        <p:txBody>
          <a:bodyPr wrap="square">
            <a:spAutoFit/>
          </a:bodyPr>
          <a:lstStyle/>
          <a:p>
            <a:pPr algn="l">
              <a:defRPr sz="1600" b="1">
                <a:solidFill>
                  <a:srgbClr val="14A898"/>
                </a:solidFill>
                <a:latin typeface="Calibri"/>
              </a:defRPr>
            </a:pPr>
            <a:r>
              <a:t>To Learn</a:t>
            </a:r>
          </a:p>
        </p:txBody>
      </p:sp>
      <p:sp>
        <p:nvSpPr>
          <p:cNvPr id="11" name="TextBox 10"/>
          <p:cNvSpPr txBox="1"/>
          <p:nvPr/>
        </p:nvSpPr>
        <p:spPr>
          <a:xfrm>
            <a:off x="3108960" y="2606040"/>
            <a:ext cx="1737360" cy="914400"/>
          </a:xfrm>
          <a:prstGeom prst="rect">
            <a:avLst/>
          </a:prstGeom>
          <a:noFill/>
        </p:spPr>
        <p:txBody>
          <a:bodyPr wrap="square">
            <a:spAutoFit/>
          </a:bodyPr>
          <a:lstStyle/>
          <a:p>
            <a:pPr algn="l">
              <a:defRPr sz="1400" b="0">
                <a:solidFill>
                  <a:srgbClr val="868686"/>
                </a:solidFill>
                <a:latin typeface="Calibri"/>
              </a:defRPr>
            </a:pPr>
            <a:r>
              <a:t>Udemy, Coursera,</a:t>
            </a:r>
            <a:br/>
            <a:r>
              <a:t>Skillshare</a:t>
            </a:r>
          </a:p>
        </p:txBody>
      </p:sp>
      <p:sp>
        <p:nvSpPr>
          <p:cNvPr id="12" name="Rectangle 11"/>
          <p:cNvSpPr/>
          <p:nvPr/>
        </p:nvSpPr>
        <p:spPr>
          <a:xfrm>
            <a:off x="5212080" y="2011680"/>
            <a:ext cx="2011680" cy="16459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49240" y="2148840"/>
            <a:ext cx="1737360" cy="457200"/>
          </a:xfrm>
          <a:prstGeom prst="rect">
            <a:avLst/>
          </a:prstGeom>
          <a:noFill/>
        </p:spPr>
        <p:txBody>
          <a:bodyPr wrap="square">
            <a:spAutoFit/>
          </a:bodyPr>
          <a:lstStyle/>
          <a:p>
            <a:pPr algn="l">
              <a:defRPr sz="1600" b="1">
                <a:solidFill>
                  <a:srgbClr val="14A898"/>
                </a:solidFill>
                <a:latin typeface="Calibri"/>
              </a:defRPr>
            </a:pPr>
            <a:r>
              <a:t>To Sell Products</a:t>
            </a:r>
          </a:p>
        </p:txBody>
      </p:sp>
      <p:sp>
        <p:nvSpPr>
          <p:cNvPr id="14" name="TextBox 13"/>
          <p:cNvSpPr txBox="1"/>
          <p:nvPr/>
        </p:nvSpPr>
        <p:spPr>
          <a:xfrm>
            <a:off x="5349240" y="2606040"/>
            <a:ext cx="1737360" cy="914400"/>
          </a:xfrm>
          <a:prstGeom prst="rect">
            <a:avLst/>
          </a:prstGeom>
          <a:noFill/>
        </p:spPr>
        <p:txBody>
          <a:bodyPr wrap="square">
            <a:spAutoFit/>
          </a:bodyPr>
          <a:lstStyle/>
          <a:p>
            <a:pPr algn="l">
              <a:defRPr sz="1400" b="0">
                <a:solidFill>
                  <a:srgbClr val="868686"/>
                </a:solidFill>
                <a:latin typeface="Calibri"/>
              </a:defRPr>
            </a:pPr>
            <a:r>
              <a:t>Daraz, OLX,</a:t>
            </a:r>
            <a:br/>
            <a:r>
              <a:t>Etsy</a:t>
            </a:r>
          </a:p>
        </p:txBody>
      </p:sp>
      <p:sp>
        <p:nvSpPr>
          <p:cNvPr id="15" name="Rectangle 14"/>
          <p:cNvSpPr/>
          <p:nvPr/>
        </p:nvSpPr>
        <p:spPr>
          <a:xfrm>
            <a:off x="7452360" y="2011680"/>
            <a:ext cx="2011680" cy="16459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89520" y="2148840"/>
            <a:ext cx="1737360" cy="457200"/>
          </a:xfrm>
          <a:prstGeom prst="rect">
            <a:avLst/>
          </a:prstGeom>
          <a:noFill/>
        </p:spPr>
        <p:txBody>
          <a:bodyPr wrap="square">
            <a:spAutoFit/>
          </a:bodyPr>
          <a:lstStyle/>
          <a:p>
            <a:pPr algn="l">
              <a:defRPr sz="1600" b="1">
                <a:solidFill>
                  <a:srgbClr val="14A898"/>
                </a:solidFill>
                <a:latin typeface="Calibri"/>
              </a:defRPr>
            </a:pPr>
            <a:r>
              <a:t>To Offer Services</a:t>
            </a:r>
          </a:p>
        </p:txBody>
      </p:sp>
      <p:sp>
        <p:nvSpPr>
          <p:cNvPr id="17" name="TextBox 16"/>
          <p:cNvSpPr txBox="1"/>
          <p:nvPr/>
        </p:nvSpPr>
        <p:spPr>
          <a:xfrm>
            <a:off x="7589520" y="2606040"/>
            <a:ext cx="1737360" cy="914400"/>
          </a:xfrm>
          <a:prstGeom prst="rect">
            <a:avLst/>
          </a:prstGeom>
          <a:noFill/>
        </p:spPr>
        <p:txBody>
          <a:bodyPr wrap="square">
            <a:spAutoFit/>
          </a:bodyPr>
          <a:lstStyle/>
          <a:p>
            <a:pPr algn="l">
              <a:defRPr sz="1400" b="0">
                <a:solidFill>
                  <a:srgbClr val="868686"/>
                </a:solidFill>
                <a:latin typeface="Calibri"/>
              </a:defRPr>
            </a:pPr>
            <a:r>
              <a:t>Fiverr, Upwork</a:t>
            </a:r>
          </a:p>
        </p:txBody>
      </p:sp>
      <p:sp>
        <p:nvSpPr>
          <p:cNvPr id="18" name="Rectangle 17"/>
          <p:cNvSpPr/>
          <p:nvPr/>
        </p:nvSpPr>
        <p:spPr>
          <a:xfrm>
            <a:off x="9692640" y="2011680"/>
            <a:ext cx="2011680" cy="16459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829800" y="2148840"/>
            <a:ext cx="1737360" cy="457200"/>
          </a:xfrm>
          <a:prstGeom prst="rect">
            <a:avLst/>
          </a:prstGeom>
          <a:noFill/>
        </p:spPr>
        <p:txBody>
          <a:bodyPr wrap="square">
            <a:spAutoFit/>
          </a:bodyPr>
          <a:lstStyle/>
          <a:p>
            <a:pPr algn="l">
              <a:defRPr sz="1600" b="1">
                <a:solidFill>
                  <a:srgbClr val="14A898"/>
                </a:solidFill>
                <a:latin typeface="Calibri"/>
              </a:defRPr>
            </a:pPr>
            <a:r>
              <a:t>To Communicate</a:t>
            </a:r>
          </a:p>
        </p:txBody>
      </p:sp>
      <p:sp>
        <p:nvSpPr>
          <p:cNvPr id="20" name="TextBox 19"/>
          <p:cNvSpPr txBox="1"/>
          <p:nvPr/>
        </p:nvSpPr>
        <p:spPr>
          <a:xfrm>
            <a:off x="9829800" y="2606040"/>
            <a:ext cx="1737360" cy="914400"/>
          </a:xfrm>
          <a:prstGeom prst="rect">
            <a:avLst/>
          </a:prstGeom>
          <a:noFill/>
        </p:spPr>
        <p:txBody>
          <a:bodyPr wrap="square">
            <a:spAutoFit/>
          </a:bodyPr>
          <a:lstStyle/>
          <a:p>
            <a:pPr algn="l">
              <a:defRPr sz="1400" b="0">
                <a:solidFill>
                  <a:srgbClr val="868686"/>
                </a:solidFill>
                <a:latin typeface="Calibri"/>
              </a:defRPr>
            </a:pPr>
            <a:r>
              <a:t>WhatsApp,</a:t>
            </a:r>
            <a:br/>
            <a:r>
              <a:t>Messenger</a:t>
            </a:r>
          </a:p>
        </p:txBody>
      </p:sp>
      <p:sp>
        <p:nvSpPr>
          <p:cNvPr id="21" name="TextBox 20"/>
          <p:cNvSpPr txBox="1"/>
          <p:nvPr/>
        </p:nvSpPr>
        <p:spPr>
          <a:xfrm>
            <a:off x="731520" y="3931920"/>
            <a:ext cx="10058400" cy="457200"/>
          </a:xfrm>
          <a:prstGeom prst="rect">
            <a:avLst/>
          </a:prstGeom>
          <a:noFill/>
        </p:spPr>
        <p:txBody>
          <a:bodyPr wrap="square">
            <a:spAutoFit/>
          </a:bodyPr>
          <a:lstStyle/>
          <a:p>
            <a:pPr algn="l">
              <a:defRPr sz="2000" b="1">
                <a:solidFill>
                  <a:srgbClr val="333333"/>
                </a:solidFill>
                <a:latin typeface="Calibri"/>
              </a:defRPr>
            </a:pPr>
            <a:r>
              <a:t>The Pain Points:</a:t>
            </a:r>
          </a:p>
        </p:txBody>
      </p:sp>
      <p:sp>
        <p:nvSpPr>
          <p:cNvPr id="22" name="TextBox 21"/>
          <p:cNvSpPr txBox="1"/>
          <p:nvPr/>
        </p:nvSpPr>
        <p:spPr>
          <a:xfrm>
            <a:off x="1005840" y="4434840"/>
            <a:ext cx="9144000" cy="365760"/>
          </a:xfrm>
          <a:prstGeom prst="rect">
            <a:avLst/>
          </a:prstGeom>
          <a:noFill/>
        </p:spPr>
        <p:txBody>
          <a:bodyPr wrap="square">
            <a:spAutoFit/>
          </a:bodyPr>
          <a:lstStyle/>
          <a:p>
            <a:pPr algn="l">
              <a:defRPr sz="1600" b="0">
                <a:solidFill>
                  <a:srgbClr val="333333"/>
                </a:solidFill>
                <a:latin typeface="Calibri"/>
              </a:defRPr>
            </a:pPr>
            <a:r>
              <a:t>•  Fragmented experience across 5+ apps</a:t>
            </a:r>
          </a:p>
        </p:txBody>
      </p:sp>
      <p:sp>
        <p:nvSpPr>
          <p:cNvPr id="23" name="TextBox 22"/>
          <p:cNvSpPr txBox="1"/>
          <p:nvPr/>
        </p:nvSpPr>
        <p:spPr>
          <a:xfrm>
            <a:off x="1005840" y="4800600"/>
            <a:ext cx="9144000" cy="365760"/>
          </a:xfrm>
          <a:prstGeom prst="rect">
            <a:avLst/>
          </a:prstGeom>
          <a:noFill/>
        </p:spPr>
        <p:txBody>
          <a:bodyPr wrap="square">
            <a:spAutoFit/>
          </a:bodyPr>
          <a:lstStyle/>
          <a:p>
            <a:pPr algn="l">
              <a:defRPr sz="1600" b="0">
                <a:solidFill>
                  <a:srgbClr val="333333"/>
                </a:solidFill>
                <a:latin typeface="Calibri"/>
              </a:defRPr>
            </a:pPr>
            <a:r>
              <a:t>•  No connection between learning and earning</a:t>
            </a:r>
          </a:p>
        </p:txBody>
      </p:sp>
      <p:sp>
        <p:nvSpPr>
          <p:cNvPr id="24" name="TextBox 23"/>
          <p:cNvSpPr txBox="1"/>
          <p:nvPr/>
        </p:nvSpPr>
        <p:spPr>
          <a:xfrm>
            <a:off x="1005840" y="5166359"/>
            <a:ext cx="9144000" cy="365760"/>
          </a:xfrm>
          <a:prstGeom prst="rect">
            <a:avLst/>
          </a:prstGeom>
          <a:noFill/>
        </p:spPr>
        <p:txBody>
          <a:bodyPr wrap="square">
            <a:spAutoFit/>
          </a:bodyPr>
          <a:lstStyle/>
          <a:p>
            <a:pPr algn="l">
              <a:defRPr sz="1600" b="0">
                <a:solidFill>
                  <a:srgbClr val="333333"/>
                </a:solidFill>
                <a:latin typeface="Calibri"/>
              </a:defRPr>
            </a:pPr>
            <a:r>
              <a:t>•  Freelancers build audience on one platform but sell on another</a:t>
            </a:r>
          </a:p>
        </p:txBody>
      </p:sp>
      <p:sp>
        <p:nvSpPr>
          <p:cNvPr id="25" name="TextBox 24"/>
          <p:cNvSpPr txBox="1"/>
          <p:nvPr/>
        </p:nvSpPr>
        <p:spPr>
          <a:xfrm>
            <a:off x="1005840" y="5532120"/>
            <a:ext cx="9144000" cy="365760"/>
          </a:xfrm>
          <a:prstGeom prst="rect">
            <a:avLst/>
          </a:prstGeom>
          <a:noFill/>
        </p:spPr>
        <p:txBody>
          <a:bodyPr wrap="square">
            <a:spAutoFit/>
          </a:bodyPr>
          <a:lstStyle/>
          <a:p>
            <a:pPr algn="l">
              <a:defRPr sz="1600" b="0">
                <a:solidFill>
                  <a:srgbClr val="333333"/>
                </a:solidFill>
                <a:latin typeface="Calibri"/>
              </a:defRPr>
            </a:pPr>
            <a:r>
              <a:t>•  High platform fees eating into profits (Udemy 37%, Fiverr up to 20%)</a:t>
            </a:r>
          </a:p>
        </p:txBody>
      </p:sp>
      <p:sp>
        <p:nvSpPr>
          <p:cNvPr id="26" name="TextBox 25"/>
          <p:cNvSpPr txBox="1"/>
          <p:nvPr/>
        </p:nvSpPr>
        <p:spPr>
          <a:xfrm>
            <a:off x="1005840" y="5897879"/>
            <a:ext cx="9144000" cy="365760"/>
          </a:xfrm>
          <a:prstGeom prst="rect">
            <a:avLst/>
          </a:prstGeom>
          <a:noFill/>
        </p:spPr>
        <p:txBody>
          <a:bodyPr wrap="square">
            <a:spAutoFit/>
          </a:bodyPr>
          <a:lstStyle/>
          <a:p>
            <a:pPr algn="l">
              <a:defRPr sz="1600" b="0">
                <a:solidFill>
                  <a:srgbClr val="333333"/>
                </a:solidFill>
                <a:latin typeface="Calibri"/>
              </a:defRPr>
            </a:pPr>
            <a:r>
              <a:t>•  No localized solution for Pakistan's growing digital economy</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492240"/>
            <a:ext cx="12191695"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0" y="6537960"/>
            <a:ext cx="640080" cy="274320"/>
          </a:xfrm>
          <a:prstGeom prst="rect">
            <a:avLst/>
          </a:prstGeom>
          <a:noFill/>
        </p:spPr>
        <p:txBody>
          <a:bodyPr wrap="square">
            <a:spAutoFit/>
          </a:bodyPr>
          <a:lstStyle/>
          <a:p>
            <a:pPr algn="r">
              <a:defRPr sz="1100" b="0">
                <a:solidFill>
                  <a:srgbClr val="FFFFFF"/>
                </a:solidFill>
                <a:latin typeface="Calibri"/>
              </a:defRPr>
            </a:pPr>
            <a:r>
              <a:t>3</a:t>
            </a:r>
          </a:p>
        </p:txBody>
      </p:sp>
      <p:sp>
        <p:nvSpPr>
          <p:cNvPr id="4" name="TextBox 3"/>
          <p:cNvSpPr txBox="1"/>
          <p:nvPr/>
        </p:nvSpPr>
        <p:spPr>
          <a:xfrm>
            <a:off x="731520" y="365760"/>
            <a:ext cx="10058400" cy="640080"/>
          </a:xfrm>
          <a:prstGeom prst="rect">
            <a:avLst/>
          </a:prstGeom>
          <a:noFill/>
        </p:spPr>
        <p:txBody>
          <a:bodyPr wrap="square">
            <a:spAutoFit/>
          </a:bodyPr>
          <a:lstStyle/>
          <a:p>
            <a:pPr algn="l">
              <a:defRPr sz="4000" b="1">
                <a:solidFill>
                  <a:srgbClr val="14A898"/>
                </a:solidFill>
                <a:latin typeface="Calibri"/>
              </a:defRPr>
            </a:pPr>
            <a:r>
              <a:t>The Solution: SMAC</a:t>
            </a:r>
          </a:p>
        </p:txBody>
      </p:sp>
      <p:sp>
        <p:nvSpPr>
          <p:cNvPr id="5" name="TextBox 4"/>
          <p:cNvSpPr txBox="1"/>
          <p:nvPr/>
        </p:nvSpPr>
        <p:spPr>
          <a:xfrm>
            <a:off x="731520" y="1097280"/>
            <a:ext cx="10058400" cy="457200"/>
          </a:xfrm>
          <a:prstGeom prst="rect">
            <a:avLst/>
          </a:prstGeom>
          <a:noFill/>
        </p:spPr>
        <p:txBody>
          <a:bodyPr wrap="square">
            <a:spAutoFit/>
          </a:bodyPr>
          <a:lstStyle/>
          <a:p>
            <a:pPr algn="l">
              <a:defRPr sz="2000" b="0">
                <a:solidFill>
                  <a:srgbClr val="868686"/>
                </a:solidFill>
                <a:latin typeface="Calibri"/>
              </a:defRPr>
            </a:pPr>
            <a:r>
              <a:t>One Platform. Six Capabilities. Infinite Possibilities.</a:t>
            </a:r>
          </a:p>
        </p:txBody>
      </p:sp>
      <p:sp>
        <p:nvSpPr>
          <p:cNvPr id="6" name="Rectangle 5"/>
          <p:cNvSpPr/>
          <p:nvPr/>
        </p:nvSpPr>
        <p:spPr>
          <a:xfrm>
            <a:off x="731520" y="1828800"/>
            <a:ext cx="3383280" cy="1920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965960"/>
            <a:ext cx="3017520" cy="411480"/>
          </a:xfrm>
          <a:prstGeom prst="rect">
            <a:avLst/>
          </a:prstGeom>
          <a:noFill/>
        </p:spPr>
        <p:txBody>
          <a:bodyPr wrap="square">
            <a:spAutoFit/>
          </a:bodyPr>
          <a:lstStyle/>
          <a:p>
            <a:pPr algn="l">
              <a:defRPr sz="1800" b="1">
                <a:solidFill>
                  <a:srgbClr val="14A898"/>
                </a:solidFill>
                <a:latin typeface="Calibri"/>
              </a:defRPr>
            </a:pPr>
            <a:r>
              <a:t>Social Networking</a:t>
            </a:r>
          </a:p>
        </p:txBody>
      </p:sp>
      <p:sp>
        <p:nvSpPr>
          <p:cNvPr id="8" name="TextBox 7"/>
          <p:cNvSpPr txBox="1"/>
          <p:nvPr/>
        </p:nvSpPr>
        <p:spPr>
          <a:xfrm>
            <a:off x="914400" y="2423160"/>
            <a:ext cx="3017520" cy="731520"/>
          </a:xfrm>
          <a:prstGeom prst="rect">
            <a:avLst/>
          </a:prstGeom>
          <a:noFill/>
        </p:spPr>
        <p:txBody>
          <a:bodyPr wrap="square">
            <a:spAutoFit/>
          </a:bodyPr>
          <a:lstStyle/>
          <a:p>
            <a:pPr algn="l">
              <a:defRPr sz="1400" b="0">
                <a:solidFill>
                  <a:srgbClr val="333333"/>
                </a:solidFill>
                <a:latin typeface="Calibri"/>
              </a:defRPr>
            </a:pPr>
            <a:r>
              <a:t>Posts, Stories, Likes,</a:t>
            </a:r>
            <a:br/>
            <a:r>
              <a:t>Comments, Follow System</a:t>
            </a:r>
          </a:p>
        </p:txBody>
      </p:sp>
      <p:sp>
        <p:nvSpPr>
          <p:cNvPr id="9" name="TextBox 8"/>
          <p:cNvSpPr txBox="1"/>
          <p:nvPr/>
        </p:nvSpPr>
        <p:spPr>
          <a:xfrm>
            <a:off x="914400" y="3246120"/>
            <a:ext cx="3017520" cy="365760"/>
          </a:xfrm>
          <a:prstGeom prst="rect">
            <a:avLst/>
          </a:prstGeom>
          <a:noFill/>
        </p:spPr>
        <p:txBody>
          <a:bodyPr wrap="square">
            <a:spAutoFit/>
          </a:bodyPr>
          <a:lstStyle/>
          <a:p>
            <a:pPr algn="l">
              <a:defRPr sz="1200" b="1">
                <a:solidFill>
                  <a:srgbClr val="868686"/>
                </a:solidFill>
                <a:latin typeface="Calibri"/>
              </a:defRPr>
            </a:pPr>
            <a:r>
              <a:t>Like Facebook/Instagram</a:t>
            </a:r>
          </a:p>
        </p:txBody>
      </p:sp>
      <p:sp>
        <p:nvSpPr>
          <p:cNvPr id="10" name="Rectangle 9"/>
          <p:cNvSpPr/>
          <p:nvPr/>
        </p:nvSpPr>
        <p:spPr>
          <a:xfrm>
            <a:off x="4389120" y="1828800"/>
            <a:ext cx="3383280" cy="1920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0" y="1965960"/>
            <a:ext cx="3017520" cy="411480"/>
          </a:xfrm>
          <a:prstGeom prst="rect">
            <a:avLst/>
          </a:prstGeom>
          <a:noFill/>
        </p:spPr>
        <p:txBody>
          <a:bodyPr wrap="square">
            <a:spAutoFit/>
          </a:bodyPr>
          <a:lstStyle/>
          <a:p>
            <a:pPr algn="l">
              <a:defRPr sz="1800" b="1">
                <a:solidFill>
                  <a:srgbClr val="14A898"/>
                </a:solidFill>
                <a:latin typeface="Calibri"/>
              </a:defRPr>
            </a:pPr>
            <a:r>
              <a:t>Product Marketplace</a:t>
            </a:r>
          </a:p>
        </p:txBody>
      </p:sp>
      <p:sp>
        <p:nvSpPr>
          <p:cNvPr id="12" name="TextBox 11"/>
          <p:cNvSpPr txBox="1"/>
          <p:nvPr/>
        </p:nvSpPr>
        <p:spPr>
          <a:xfrm>
            <a:off x="4572000" y="2423160"/>
            <a:ext cx="3017520" cy="731520"/>
          </a:xfrm>
          <a:prstGeom prst="rect">
            <a:avLst/>
          </a:prstGeom>
          <a:noFill/>
        </p:spPr>
        <p:txBody>
          <a:bodyPr wrap="square">
            <a:spAutoFit/>
          </a:bodyPr>
          <a:lstStyle/>
          <a:p>
            <a:pPr algn="l">
              <a:defRPr sz="1400" b="0">
                <a:solidFill>
                  <a:srgbClr val="333333"/>
                </a:solidFill>
                <a:latin typeface="Calibri"/>
              </a:defRPr>
            </a:pPr>
            <a:r>
              <a:t>Buy &amp; Sell Physical</a:t>
            </a:r>
            <a:br/>
            <a:r>
              <a:t>&amp; Digital Products</a:t>
            </a:r>
          </a:p>
        </p:txBody>
      </p:sp>
      <p:sp>
        <p:nvSpPr>
          <p:cNvPr id="13" name="TextBox 12"/>
          <p:cNvSpPr txBox="1"/>
          <p:nvPr/>
        </p:nvSpPr>
        <p:spPr>
          <a:xfrm>
            <a:off x="4572000" y="3246120"/>
            <a:ext cx="3017520" cy="365760"/>
          </a:xfrm>
          <a:prstGeom prst="rect">
            <a:avLst/>
          </a:prstGeom>
          <a:noFill/>
        </p:spPr>
        <p:txBody>
          <a:bodyPr wrap="square">
            <a:spAutoFit/>
          </a:bodyPr>
          <a:lstStyle/>
          <a:p>
            <a:pPr algn="l">
              <a:defRPr sz="1200" b="1">
                <a:solidFill>
                  <a:srgbClr val="868686"/>
                </a:solidFill>
                <a:latin typeface="Calibri"/>
              </a:defRPr>
            </a:pPr>
            <a:r>
              <a:t>Like Etsy/Daraz</a:t>
            </a:r>
          </a:p>
        </p:txBody>
      </p:sp>
      <p:sp>
        <p:nvSpPr>
          <p:cNvPr id="14" name="Rectangle 13"/>
          <p:cNvSpPr/>
          <p:nvPr/>
        </p:nvSpPr>
        <p:spPr>
          <a:xfrm>
            <a:off x="8046720" y="1828800"/>
            <a:ext cx="3383280" cy="1920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0" y="1965960"/>
            <a:ext cx="3017520" cy="411480"/>
          </a:xfrm>
          <a:prstGeom prst="rect">
            <a:avLst/>
          </a:prstGeom>
          <a:noFill/>
        </p:spPr>
        <p:txBody>
          <a:bodyPr wrap="square">
            <a:spAutoFit/>
          </a:bodyPr>
          <a:lstStyle/>
          <a:p>
            <a:pPr algn="l">
              <a:defRPr sz="1800" b="1">
                <a:solidFill>
                  <a:srgbClr val="14A898"/>
                </a:solidFill>
                <a:latin typeface="Calibri"/>
              </a:defRPr>
            </a:pPr>
            <a:r>
              <a:t>Course Platform</a:t>
            </a:r>
          </a:p>
        </p:txBody>
      </p:sp>
      <p:sp>
        <p:nvSpPr>
          <p:cNvPr id="16" name="TextBox 15"/>
          <p:cNvSpPr txBox="1"/>
          <p:nvPr/>
        </p:nvSpPr>
        <p:spPr>
          <a:xfrm>
            <a:off x="8229600" y="2423160"/>
            <a:ext cx="3017520" cy="731520"/>
          </a:xfrm>
          <a:prstGeom prst="rect">
            <a:avLst/>
          </a:prstGeom>
          <a:noFill/>
        </p:spPr>
        <p:txBody>
          <a:bodyPr wrap="square">
            <a:spAutoFit/>
          </a:bodyPr>
          <a:lstStyle/>
          <a:p>
            <a:pPr algn="l">
              <a:defRPr sz="1400" b="0">
                <a:solidFill>
                  <a:srgbClr val="333333"/>
                </a:solidFill>
                <a:latin typeface="Calibri"/>
              </a:defRPr>
            </a:pPr>
            <a:r>
              <a:t>Create, Sell &amp; Enroll</a:t>
            </a:r>
            <a:br/>
            <a:r>
              <a:t>in Online Courses</a:t>
            </a:r>
          </a:p>
        </p:txBody>
      </p:sp>
      <p:sp>
        <p:nvSpPr>
          <p:cNvPr id="17" name="TextBox 16"/>
          <p:cNvSpPr txBox="1"/>
          <p:nvPr/>
        </p:nvSpPr>
        <p:spPr>
          <a:xfrm>
            <a:off x="8229600" y="3246120"/>
            <a:ext cx="3017520" cy="365760"/>
          </a:xfrm>
          <a:prstGeom prst="rect">
            <a:avLst/>
          </a:prstGeom>
          <a:noFill/>
        </p:spPr>
        <p:txBody>
          <a:bodyPr wrap="square">
            <a:spAutoFit/>
          </a:bodyPr>
          <a:lstStyle/>
          <a:p>
            <a:pPr algn="l">
              <a:defRPr sz="1200" b="1">
                <a:solidFill>
                  <a:srgbClr val="868686"/>
                </a:solidFill>
                <a:latin typeface="Calibri"/>
              </a:defRPr>
            </a:pPr>
            <a:r>
              <a:t>Like Udemy</a:t>
            </a:r>
          </a:p>
        </p:txBody>
      </p:sp>
      <p:sp>
        <p:nvSpPr>
          <p:cNvPr id="18" name="Rectangle 17"/>
          <p:cNvSpPr/>
          <p:nvPr/>
        </p:nvSpPr>
        <p:spPr>
          <a:xfrm>
            <a:off x="731520" y="4023360"/>
            <a:ext cx="3383280" cy="1920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4160520"/>
            <a:ext cx="3017520" cy="411480"/>
          </a:xfrm>
          <a:prstGeom prst="rect">
            <a:avLst/>
          </a:prstGeom>
          <a:noFill/>
        </p:spPr>
        <p:txBody>
          <a:bodyPr wrap="square">
            <a:spAutoFit/>
          </a:bodyPr>
          <a:lstStyle/>
          <a:p>
            <a:pPr algn="l">
              <a:defRPr sz="1800" b="1">
                <a:solidFill>
                  <a:srgbClr val="14A898"/>
                </a:solidFill>
                <a:latin typeface="Calibri"/>
              </a:defRPr>
            </a:pPr>
            <a:r>
              <a:t>Services Marketplace</a:t>
            </a:r>
          </a:p>
        </p:txBody>
      </p:sp>
      <p:sp>
        <p:nvSpPr>
          <p:cNvPr id="20" name="TextBox 19"/>
          <p:cNvSpPr txBox="1"/>
          <p:nvPr/>
        </p:nvSpPr>
        <p:spPr>
          <a:xfrm>
            <a:off x="914400" y="4617720"/>
            <a:ext cx="3017520" cy="731520"/>
          </a:xfrm>
          <a:prstGeom prst="rect">
            <a:avLst/>
          </a:prstGeom>
          <a:noFill/>
        </p:spPr>
        <p:txBody>
          <a:bodyPr wrap="square">
            <a:spAutoFit/>
          </a:bodyPr>
          <a:lstStyle/>
          <a:p>
            <a:pPr algn="l">
              <a:defRPr sz="1400" b="0">
                <a:solidFill>
                  <a:srgbClr val="333333"/>
                </a:solidFill>
                <a:latin typeface="Calibri"/>
              </a:defRPr>
            </a:pPr>
            <a:r>
              <a:t>List &amp; Purchase</a:t>
            </a:r>
            <a:br/>
            <a:r>
              <a:t>Professional Services</a:t>
            </a:r>
          </a:p>
        </p:txBody>
      </p:sp>
      <p:sp>
        <p:nvSpPr>
          <p:cNvPr id="21" name="TextBox 20"/>
          <p:cNvSpPr txBox="1"/>
          <p:nvPr/>
        </p:nvSpPr>
        <p:spPr>
          <a:xfrm>
            <a:off x="914400" y="5440680"/>
            <a:ext cx="3017520" cy="365760"/>
          </a:xfrm>
          <a:prstGeom prst="rect">
            <a:avLst/>
          </a:prstGeom>
          <a:noFill/>
        </p:spPr>
        <p:txBody>
          <a:bodyPr wrap="square">
            <a:spAutoFit/>
          </a:bodyPr>
          <a:lstStyle/>
          <a:p>
            <a:pPr algn="l">
              <a:defRPr sz="1200" b="1">
                <a:solidFill>
                  <a:srgbClr val="868686"/>
                </a:solidFill>
                <a:latin typeface="Calibri"/>
              </a:defRPr>
            </a:pPr>
            <a:r>
              <a:t>Like Fiverr/Upwork</a:t>
            </a:r>
          </a:p>
        </p:txBody>
      </p:sp>
      <p:sp>
        <p:nvSpPr>
          <p:cNvPr id="22" name="Rectangle 21"/>
          <p:cNvSpPr/>
          <p:nvPr/>
        </p:nvSpPr>
        <p:spPr>
          <a:xfrm>
            <a:off x="4389120" y="4023360"/>
            <a:ext cx="3383280" cy="1920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0" y="4160520"/>
            <a:ext cx="3017520" cy="411480"/>
          </a:xfrm>
          <a:prstGeom prst="rect">
            <a:avLst/>
          </a:prstGeom>
          <a:noFill/>
        </p:spPr>
        <p:txBody>
          <a:bodyPr wrap="square">
            <a:spAutoFit/>
          </a:bodyPr>
          <a:lstStyle/>
          <a:p>
            <a:pPr algn="l">
              <a:defRPr sz="1800" b="1">
                <a:solidFill>
                  <a:srgbClr val="14A898"/>
                </a:solidFill>
                <a:latin typeface="Calibri"/>
              </a:defRPr>
            </a:pPr>
            <a:r>
              <a:t>Real-Time Messaging</a:t>
            </a:r>
          </a:p>
        </p:txBody>
      </p:sp>
      <p:sp>
        <p:nvSpPr>
          <p:cNvPr id="24" name="TextBox 23"/>
          <p:cNvSpPr txBox="1"/>
          <p:nvPr/>
        </p:nvSpPr>
        <p:spPr>
          <a:xfrm>
            <a:off x="4572000" y="4617720"/>
            <a:ext cx="3017520" cy="731520"/>
          </a:xfrm>
          <a:prstGeom prst="rect">
            <a:avLst/>
          </a:prstGeom>
          <a:noFill/>
        </p:spPr>
        <p:txBody>
          <a:bodyPr wrap="square">
            <a:spAutoFit/>
          </a:bodyPr>
          <a:lstStyle/>
          <a:p>
            <a:pPr algn="l">
              <a:defRPr sz="1400" b="0">
                <a:solidFill>
                  <a:srgbClr val="333333"/>
                </a:solidFill>
                <a:latin typeface="Calibri"/>
              </a:defRPr>
            </a:pPr>
            <a:r>
              <a:t>1-on-1 Chat + Refund</a:t>
            </a:r>
            <a:br/>
            <a:r>
              <a:t>Support Chat</a:t>
            </a:r>
          </a:p>
        </p:txBody>
      </p:sp>
      <p:sp>
        <p:nvSpPr>
          <p:cNvPr id="25" name="TextBox 24"/>
          <p:cNvSpPr txBox="1"/>
          <p:nvPr/>
        </p:nvSpPr>
        <p:spPr>
          <a:xfrm>
            <a:off x="4572000" y="5440680"/>
            <a:ext cx="3017520" cy="365760"/>
          </a:xfrm>
          <a:prstGeom prst="rect">
            <a:avLst/>
          </a:prstGeom>
          <a:noFill/>
        </p:spPr>
        <p:txBody>
          <a:bodyPr wrap="square">
            <a:spAutoFit/>
          </a:bodyPr>
          <a:lstStyle/>
          <a:p>
            <a:pPr algn="l">
              <a:defRPr sz="1200" b="1">
                <a:solidFill>
                  <a:srgbClr val="868686"/>
                </a:solidFill>
                <a:latin typeface="Calibri"/>
              </a:defRPr>
            </a:pPr>
            <a:r>
              <a:t>Like WhatsApp</a:t>
            </a:r>
          </a:p>
        </p:txBody>
      </p:sp>
      <p:sp>
        <p:nvSpPr>
          <p:cNvPr id="26" name="Rectangle 25"/>
          <p:cNvSpPr/>
          <p:nvPr/>
        </p:nvSpPr>
        <p:spPr>
          <a:xfrm>
            <a:off x="8046720" y="4023360"/>
            <a:ext cx="3383280" cy="1920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0" y="4160520"/>
            <a:ext cx="3017520" cy="411480"/>
          </a:xfrm>
          <a:prstGeom prst="rect">
            <a:avLst/>
          </a:prstGeom>
          <a:noFill/>
        </p:spPr>
        <p:txBody>
          <a:bodyPr wrap="square">
            <a:spAutoFit/>
          </a:bodyPr>
          <a:lstStyle/>
          <a:p>
            <a:pPr algn="l">
              <a:defRPr sz="1800" b="1">
                <a:solidFill>
                  <a:srgbClr val="14A898"/>
                </a:solidFill>
                <a:latin typeface="Calibri"/>
              </a:defRPr>
            </a:pPr>
            <a:r>
              <a:t>Admin Dashboard</a:t>
            </a:r>
          </a:p>
        </p:txBody>
      </p:sp>
      <p:sp>
        <p:nvSpPr>
          <p:cNvPr id="28" name="TextBox 27"/>
          <p:cNvSpPr txBox="1"/>
          <p:nvPr/>
        </p:nvSpPr>
        <p:spPr>
          <a:xfrm>
            <a:off x="8229600" y="4617720"/>
            <a:ext cx="3017520" cy="731520"/>
          </a:xfrm>
          <a:prstGeom prst="rect">
            <a:avLst/>
          </a:prstGeom>
          <a:noFill/>
        </p:spPr>
        <p:txBody>
          <a:bodyPr wrap="square">
            <a:spAutoFit/>
          </a:bodyPr>
          <a:lstStyle/>
          <a:p>
            <a:pPr algn="l">
              <a:defRPr sz="1400" b="0">
                <a:solidFill>
                  <a:srgbClr val="333333"/>
                </a:solidFill>
                <a:latin typeface="Calibri"/>
              </a:defRPr>
            </a:pPr>
            <a:r>
              <a:t>Full Platform</a:t>
            </a:r>
            <a:br/>
            <a:r>
              <a:t>Management &amp; Analytics</a:t>
            </a:r>
          </a:p>
        </p:txBody>
      </p:sp>
      <p:sp>
        <p:nvSpPr>
          <p:cNvPr id="29" name="TextBox 28"/>
          <p:cNvSpPr txBox="1"/>
          <p:nvPr/>
        </p:nvSpPr>
        <p:spPr>
          <a:xfrm>
            <a:off x="8229600" y="5440680"/>
            <a:ext cx="3017520" cy="365760"/>
          </a:xfrm>
          <a:prstGeom prst="rect">
            <a:avLst/>
          </a:prstGeom>
          <a:noFill/>
        </p:spPr>
        <p:txBody>
          <a:bodyPr wrap="square">
            <a:spAutoFit/>
          </a:bodyPr>
          <a:lstStyle/>
          <a:p>
            <a:pPr algn="l">
              <a:defRPr sz="1200" b="1">
                <a:solidFill>
                  <a:srgbClr val="868686"/>
                </a:solidFill>
                <a:latin typeface="Calibri"/>
              </a:defRPr>
            </a:pPr>
            <a:r>
              <a:t>Complete Control</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492240"/>
            <a:ext cx="12191695"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0" y="6537960"/>
            <a:ext cx="640080" cy="274320"/>
          </a:xfrm>
          <a:prstGeom prst="rect">
            <a:avLst/>
          </a:prstGeom>
          <a:noFill/>
        </p:spPr>
        <p:txBody>
          <a:bodyPr wrap="square">
            <a:spAutoFit/>
          </a:bodyPr>
          <a:lstStyle/>
          <a:p>
            <a:pPr algn="r">
              <a:defRPr sz="1100" b="0">
                <a:solidFill>
                  <a:srgbClr val="FFFFFF"/>
                </a:solidFill>
                <a:latin typeface="Calibri"/>
              </a:defRPr>
            </a:pPr>
            <a:r>
              <a:t>4</a:t>
            </a:r>
          </a:p>
        </p:txBody>
      </p:sp>
      <p:sp>
        <p:nvSpPr>
          <p:cNvPr id="4" name="TextBox 3"/>
          <p:cNvSpPr txBox="1"/>
          <p:nvPr/>
        </p:nvSpPr>
        <p:spPr>
          <a:xfrm>
            <a:off x="731520" y="365760"/>
            <a:ext cx="10058400" cy="640080"/>
          </a:xfrm>
          <a:prstGeom prst="rect">
            <a:avLst/>
          </a:prstGeom>
          <a:noFill/>
        </p:spPr>
        <p:txBody>
          <a:bodyPr wrap="square">
            <a:spAutoFit/>
          </a:bodyPr>
          <a:lstStyle/>
          <a:p>
            <a:pPr algn="l">
              <a:defRPr sz="4000" b="1">
                <a:solidFill>
                  <a:srgbClr val="14A898"/>
                </a:solidFill>
                <a:latin typeface="Calibri"/>
              </a:defRPr>
            </a:pPr>
            <a:r>
              <a:t>How It Works</a:t>
            </a:r>
          </a:p>
        </p:txBody>
      </p:sp>
      <p:sp>
        <p:nvSpPr>
          <p:cNvPr id="5" name="TextBox 4"/>
          <p:cNvSpPr txBox="1"/>
          <p:nvPr/>
        </p:nvSpPr>
        <p:spPr>
          <a:xfrm>
            <a:off x="731520" y="1005840"/>
            <a:ext cx="10058400" cy="457200"/>
          </a:xfrm>
          <a:prstGeom prst="rect">
            <a:avLst/>
          </a:prstGeom>
          <a:noFill/>
        </p:spPr>
        <p:txBody>
          <a:bodyPr wrap="square">
            <a:spAutoFit/>
          </a:bodyPr>
          <a:lstStyle/>
          <a:p>
            <a:pPr algn="l">
              <a:defRPr sz="2000" b="0">
                <a:solidFill>
                  <a:srgbClr val="868686"/>
                </a:solidFill>
                <a:latin typeface="Calibri"/>
              </a:defRPr>
            </a:pPr>
            <a:r>
              <a:t>From Sign-Up to First Sale in 4 Steps</a:t>
            </a:r>
          </a:p>
        </p:txBody>
      </p:sp>
      <p:sp>
        <p:nvSpPr>
          <p:cNvPr id="6" name="Oval 5"/>
          <p:cNvSpPr/>
          <p:nvPr/>
        </p:nvSpPr>
        <p:spPr>
          <a:xfrm>
            <a:off x="1508760" y="1737360"/>
            <a:ext cx="640080" cy="640080"/>
          </a:xfrm>
          <a:prstGeom prst="ellipse">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1</a:t>
            </a:r>
          </a:p>
        </p:txBody>
      </p:sp>
      <p:sp>
        <p:nvSpPr>
          <p:cNvPr id="7" name="Right Arrow 6"/>
          <p:cNvSpPr/>
          <p:nvPr/>
        </p:nvSpPr>
        <p:spPr>
          <a:xfrm>
            <a:off x="3154680" y="1874519"/>
            <a:ext cx="365760" cy="365760"/>
          </a:xfrm>
          <a:prstGeom prst="rightArrow">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2560320"/>
            <a:ext cx="2560320" cy="3200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2697480"/>
            <a:ext cx="2286000" cy="457200"/>
          </a:xfrm>
          <a:prstGeom prst="rect">
            <a:avLst/>
          </a:prstGeom>
          <a:noFill/>
        </p:spPr>
        <p:txBody>
          <a:bodyPr wrap="square">
            <a:spAutoFit/>
          </a:bodyPr>
          <a:lstStyle/>
          <a:p>
            <a:pPr algn="ctr">
              <a:defRPr sz="1800" b="1">
                <a:solidFill>
                  <a:srgbClr val="14A898"/>
                </a:solidFill>
                <a:latin typeface="Calibri"/>
              </a:defRPr>
            </a:pPr>
            <a:r>
              <a:t>SIGN UP</a:t>
            </a:r>
          </a:p>
        </p:txBody>
      </p:sp>
      <p:sp>
        <p:nvSpPr>
          <p:cNvPr id="10" name="TextBox 9"/>
          <p:cNvSpPr txBox="1"/>
          <p:nvPr/>
        </p:nvSpPr>
        <p:spPr>
          <a:xfrm>
            <a:off x="731520" y="3246120"/>
            <a:ext cx="2194560" cy="2286000"/>
          </a:xfrm>
          <a:prstGeom prst="rect">
            <a:avLst/>
          </a:prstGeom>
          <a:noFill/>
        </p:spPr>
        <p:txBody>
          <a:bodyPr wrap="square">
            <a:spAutoFit/>
          </a:bodyPr>
          <a:lstStyle/>
          <a:p>
            <a:pPr algn="l">
              <a:defRPr sz="1500" b="0">
                <a:solidFill>
                  <a:srgbClr val="333333"/>
                </a:solidFill>
                <a:latin typeface="Calibri"/>
              </a:defRPr>
            </a:pPr>
            <a:r>
              <a:t>Email/Password or</a:t>
            </a:r>
            <a:br/>
            <a:r>
              <a:t>Google OAuth</a:t>
            </a:r>
            <a:br/>
            <a:r>
              <a:t>Email Verification</a:t>
            </a:r>
            <a:br/>
            <a:r>
              <a:t>Choose Interests</a:t>
            </a:r>
          </a:p>
        </p:txBody>
      </p:sp>
      <p:sp>
        <p:nvSpPr>
          <p:cNvPr id="11" name="Oval 10"/>
          <p:cNvSpPr/>
          <p:nvPr/>
        </p:nvSpPr>
        <p:spPr>
          <a:xfrm>
            <a:off x="4389120" y="1737360"/>
            <a:ext cx="640080" cy="640080"/>
          </a:xfrm>
          <a:prstGeom prst="ellipse">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2</a:t>
            </a:r>
          </a:p>
        </p:txBody>
      </p:sp>
      <p:sp>
        <p:nvSpPr>
          <p:cNvPr id="12" name="Right Arrow 11"/>
          <p:cNvSpPr/>
          <p:nvPr/>
        </p:nvSpPr>
        <p:spPr>
          <a:xfrm>
            <a:off x="6035040" y="1874519"/>
            <a:ext cx="365760" cy="365760"/>
          </a:xfrm>
          <a:prstGeom prst="rightArrow">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29000" y="2560320"/>
            <a:ext cx="2560320" cy="3200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66160" y="2697480"/>
            <a:ext cx="2286000" cy="457200"/>
          </a:xfrm>
          <a:prstGeom prst="rect">
            <a:avLst/>
          </a:prstGeom>
          <a:noFill/>
        </p:spPr>
        <p:txBody>
          <a:bodyPr wrap="square">
            <a:spAutoFit/>
          </a:bodyPr>
          <a:lstStyle/>
          <a:p>
            <a:pPr algn="ctr">
              <a:defRPr sz="1800" b="1">
                <a:solidFill>
                  <a:srgbClr val="14A898"/>
                </a:solidFill>
                <a:latin typeface="Calibri"/>
              </a:defRPr>
            </a:pPr>
            <a:r>
              <a:t>BUILD PRESENCE</a:t>
            </a:r>
          </a:p>
        </p:txBody>
      </p:sp>
      <p:sp>
        <p:nvSpPr>
          <p:cNvPr id="15" name="TextBox 14"/>
          <p:cNvSpPr txBox="1"/>
          <p:nvPr/>
        </p:nvSpPr>
        <p:spPr>
          <a:xfrm>
            <a:off x="3611880" y="3246120"/>
            <a:ext cx="2194560" cy="2286000"/>
          </a:xfrm>
          <a:prstGeom prst="rect">
            <a:avLst/>
          </a:prstGeom>
          <a:noFill/>
        </p:spPr>
        <p:txBody>
          <a:bodyPr wrap="square">
            <a:spAutoFit/>
          </a:bodyPr>
          <a:lstStyle/>
          <a:p>
            <a:pPr algn="l">
              <a:defRPr sz="1500" b="0">
                <a:solidFill>
                  <a:srgbClr val="333333"/>
                </a:solidFill>
                <a:latin typeface="Calibri"/>
              </a:defRPr>
            </a:pPr>
            <a:r>
              <a:t>Create your profile</a:t>
            </a:r>
            <a:br/>
            <a:r>
              <a:t>Post content to feed</a:t>
            </a:r>
            <a:br/>
            <a:r>
              <a:t>Follow other users</a:t>
            </a:r>
            <a:br/>
            <a:r>
              <a:t>Grow your audience</a:t>
            </a:r>
          </a:p>
        </p:txBody>
      </p:sp>
      <p:sp>
        <p:nvSpPr>
          <p:cNvPr id="16" name="Oval 15"/>
          <p:cNvSpPr/>
          <p:nvPr/>
        </p:nvSpPr>
        <p:spPr>
          <a:xfrm>
            <a:off x="7269479" y="1737360"/>
            <a:ext cx="640080" cy="640080"/>
          </a:xfrm>
          <a:prstGeom prst="ellipse">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3</a:t>
            </a:r>
          </a:p>
        </p:txBody>
      </p:sp>
      <p:sp>
        <p:nvSpPr>
          <p:cNvPr id="17" name="Right Arrow 16"/>
          <p:cNvSpPr/>
          <p:nvPr/>
        </p:nvSpPr>
        <p:spPr>
          <a:xfrm>
            <a:off x="8915399" y="1874519"/>
            <a:ext cx="365760" cy="365760"/>
          </a:xfrm>
          <a:prstGeom prst="rightArrow">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09359" y="2560320"/>
            <a:ext cx="2560320" cy="3200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19" y="2697480"/>
            <a:ext cx="2286000" cy="457200"/>
          </a:xfrm>
          <a:prstGeom prst="rect">
            <a:avLst/>
          </a:prstGeom>
          <a:noFill/>
        </p:spPr>
        <p:txBody>
          <a:bodyPr wrap="square">
            <a:spAutoFit/>
          </a:bodyPr>
          <a:lstStyle/>
          <a:p>
            <a:pPr algn="ctr">
              <a:defRPr sz="1800" b="1">
                <a:solidFill>
                  <a:srgbClr val="14A898"/>
                </a:solidFill>
                <a:latin typeface="Calibri"/>
              </a:defRPr>
            </a:pPr>
            <a:r>
              <a:t>LIST &amp; SELL</a:t>
            </a:r>
          </a:p>
        </p:txBody>
      </p:sp>
      <p:sp>
        <p:nvSpPr>
          <p:cNvPr id="20" name="TextBox 19"/>
          <p:cNvSpPr txBox="1"/>
          <p:nvPr/>
        </p:nvSpPr>
        <p:spPr>
          <a:xfrm>
            <a:off x="6492239" y="3246120"/>
            <a:ext cx="2194560" cy="2286000"/>
          </a:xfrm>
          <a:prstGeom prst="rect">
            <a:avLst/>
          </a:prstGeom>
          <a:noFill/>
        </p:spPr>
        <p:txBody>
          <a:bodyPr wrap="square">
            <a:spAutoFit/>
          </a:bodyPr>
          <a:lstStyle/>
          <a:p>
            <a:pPr algn="l">
              <a:defRPr sz="1500" b="0">
                <a:solidFill>
                  <a:srgbClr val="333333"/>
                </a:solidFill>
                <a:latin typeface="Calibri"/>
              </a:defRPr>
            </a:pPr>
            <a:r>
              <a:t>Create a course/product/service</a:t>
            </a:r>
            <a:br/>
            <a:r>
              <a:t>Set your pricing</a:t>
            </a:r>
            <a:br/>
            <a:r>
              <a:t>Buyers purchase in-app</a:t>
            </a:r>
            <a:br/>
            <a:r>
              <a:t>Real-time chat support</a:t>
            </a:r>
          </a:p>
        </p:txBody>
      </p:sp>
      <p:sp>
        <p:nvSpPr>
          <p:cNvPr id="21" name="Oval 20"/>
          <p:cNvSpPr/>
          <p:nvPr/>
        </p:nvSpPr>
        <p:spPr>
          <a:xfrm>
            <a:off x="10149839" y="1737360"/>
            <a:ext cx="640080" cy="640080"/>
          </a:xfrm>
          <a:prstGeom prst="ellipse">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4</a:t>
            </a:r>
          </a:p>
        </p:txBody>
      </p:sp>
      <p:sp>
        <p:nvSpPr>
          <p:cNvPr id="22" name="Rectangle 21"/>
          <p:cNvSpPr/>
          <p:nvPr/>
        </p:nvSpPr>
        <p:spPr>
          <a:xfrm>
            <a:off x="9189719" y="2560320"/>
            <a:ext cx="2560320" cy="3200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26879" y="2697480"/>
            <a:ext cx="2286000" cy="457200"/>
          </a:xfrm>
          <a:prstGeom prst="rect">
            <a:avLst/>
          </a:prstGeom>
          <a:noFill/>
        </p:spPr>
        <p:txBody>
          <a:bodyPr wrap="square">
            <a:spAutoFit/>
          </a:bodyPr>
          <a:lstStyle/>
          <a:p>
            <a:pPr algn="ctr">
              <a:defRPr sz="1800" b="1">
                <a:solidFill>
                  <a:srgbClr val="14A898"/>
                </a:solidFill>
                <a:latin typeface="Calibri"/>
              </a:defRPr>
            </a:pPr>
            <a:r>
              <a:t>EARN &amp; GROW</a:t>
            </a:r>
          </a:p>
        </p:txBody>
      </p:sp>
      <p:sp>
        <p:nvSpPr>
          <p:cNvPr id="24" name="TextBox 23"/>
          <p:cNvSpPr txBox="1"/>
          <p:nvPr/>
        </p:nvSpPr>
        <p:spPr>
          <a:xfrm>
            <a:off x="9372599" y="3246120"/>
            <a:ext cx="2194560" cy="2286000"/>
          </a:xfrm>
          <a:prstGeom prst="rect">
            <a:avLst/>
          </a:prstGeom>
          <a:noFill/>
        </p:spPr>
        <p:txBody>
          <a:bodyPr wrap="square">
            <a:spAutoFit/>
          </a:bodyPr>
          <a:lstStyle/>
          <a:p>
            <a:pPr algn="l">
              <a:defRPr sz="1500" b="0">
                <a:solidFill>
                  <a:srgbClr val="333333"/>
                </a:solidFill>
                <a:latin typeface="Calibri"/>
              </a:defRPr>
            </a:pPr>
            <a:r>
              <a:t>Track revenue in dashboard</a:t>
            </a:r>
            <a:br/>
            <a:r>
              <a:t>Request withdrawals</a:t>
            </a:r>
            <a:br/>
            <a:r>
              <a:t>Manage refunds</a:t>
            </a:r>
            <a:br/>
            <a:r>
              <a:t>Upgrade subscription</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492240"/>
            <a:ext cx="12191695"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0" y="6537960"/>
            <a:ext cx="640080" cy="274320"/>
          </a:xfrm>
          <a:prstGeom prst="rect">
            <a:avLst/>
          </a:prstGeom>
          <a:noFill/>
        </p:spPr>
        <p:txBody>
          <a:bodyPr wrap="square">
            <a:spAutoFit/>
          </a:bodyPr>
          <a:lstStyle/>
          <a:p>
            <a:pPr algn="r">
              <a:defRPr sz="1100" b="0">
                <a:solidFill>
                  <a:srgbClr val="FFFFFF"/>
                </a:solidFill>
                <a:latin typeface="Calibri"/>
              </a:defRPr>
            </a:pPr>
            <a:r>
              <a:t>5</a:t>
            </a:r>
          </a:p>
        </p:txBody>
      </p:sp>
      <p:sp>
        <p:nvSpPr>
          <p:cNvPr id="4" name="TextBox 3"/>
          <p:cNvSpPr txBox="1"/>
          <p:nvPr/>
        </p:nvSpPr>
        <p:spPr>
          <a:xfrm>
            <a:off x="731520" y="365760"/>
            <a:ext cx="10058400" cy="640080"/>
          </a:xfrm>
          <a:prstGeom prst="rect">
            <a:avLst/>
          </a:prstGeom>
          <a:noFill/>
        </p:spPr>
        <p:txBody>
          <a:bodyPr wrap="square">
            <a:spAutoFit/>
          </a:bodyPr>
          <a:lstStyle/>
          <a:p>
            <a:pPr algn="l">
              <a:defRPr sz="4000" b="1">
                <a:solidFill>
                  <a:srgbClr val="14A898"/>
                </a:solidFill>
                <a:latin typeface="Calibri"/>
              </a:defRPr>
            </a:pPr>
            <a:r>
              <a:t>Social Feed</a:t>
            </a:r>
          </a:p>
        </p:txBody>
      </p:sp>
      <p:sp>
        <p:nvSpPr>
          <p:cNvPr id="5" name="TextBox 4"/>
          <p:cNvSpPr txBox="1"/>
          <p:nvPr/>
        </p:nvSpPr>
        <p:spPr>
          <a:xfrm>
            <a:off x="731520" y="1005840"/>
            <a:ext cx="4572000" cy="457200"/>
          </a:xfrm>
          <a:prstGeom prst="rect">
            <a:avLst/>
          </a:prstGeom>
          <a:noFill/>
        </p:spPr>
        <p:txBody>
          <a:bodyPr wrap="square">
            <a:spAutoFit/>
          </a:bodyPr>
          <a:lstStyle/>
          <a:p>
            <a:pPr algn="l">
              <a:defRPr sz="2000" b="0">
                <a:solidFill>
                  <a:srgbClr val="868686"/>
                </a:solidFill>
                <a:latin typeface="Calibri"/>
              </a:defRPr>
            </a:pPr>
            <a:r>
              <a:t>The Heart of the Platform</a:t>
            </a:r>
          </a:p>
        </p:txBody>
      </p:sp>
      <p:sp>
        <p:nvSpPr>
          <p:cNvPr id="6" name="TextBox 5"/>
          <p:cNvSpPr txBox="1"/>
          <p:nvPr/>
        </p:nvSpPr>
        <p:spPr>
          <a:xfrm>
            <a:off x="731520" y="1645920"/>
            <a:ext cx="5486400" cy="411480"/>
          </a:xfrm>
          <a:prstGeom prst="rect">
            <a:avLst/>
          </a:prstGeom>
          <a:noFill/>
        </p:spPr>
        <p:txBody>
          <a:bodyPr wrap="square">
            <a:spAutoFit/>
          </a:bodyPr>
          <a:lstStyle/>
          <a:p>
            <a:pPr algn="l">
              <a:defRPr sz="1500" b="0">
                <a:solidFill>
                  <a:srgbClr val="333333"/>
                </a:solidFill>
                <a:latin typeface="Calibri"/>
              </a:defRPr>
            </a:pPr>
            <a:r>
              <a:t>•  Masonry grid layout (3/2/1 columns responsive)</a:t>
            </a:r>
          </a:p>
        </p:txBody>
      </p:sp>
      <p:sp>
        <p:nvSpPr>
          <p:cNvPr id="7" name="TextBox 6"/>
          <p:cNvSpPr txBox="1"/>
          <p:nvPr/>
        </p:nvSpPr>
        <p:spPr>
          <a:xfrm>
            <a:off x="731520" y="2057400"/>
            <a:ext cx="5486400" cy="411480"/>
          </a:xfrm>
          <a:prstGeom prst="rect">
            <a:avLst/>
          </a:prstGeom>
          <a:noFill/>
        </p:spPr>
        <p:txBody>
          <a:bodyPr wrap="square">
            <a:spAutoFit/>
          </a:bodyPr>
          <a:lstStyle/>
          <a:p>
            <a:pPr algn="l">
              <a:defRPr sz="1500" b="0">
                <a:solidFill>
                  <a:srgbClr val="333333"/>
                </a:solidFill>
                <a:latin typeface="Calibri"/>
              </a:defRPr>
            </a:pPr>
            <a:r>
              <a:t>•  Infinite scroll pagination (6 posts per batch)</a:t>
            </a:r>
          </a:p>
        </p:txBody>
      </p:sp>
      <p:sp>
        <p:nvSpPr>
          <p:cNvPr id="8" name="TextBox 7"/>
          <p:cNvSpPr txBox="1"/>
          <p:nvPr/>
        </p:nvSpPr>
        <p:spPr>
          <a:xfrm>
            <a:off x="731520" y="2468880"/>
            <a:ext cx="5486400" cy="411480"/>
          </a:xfrm>
          <a:prstGeom prst="rect">
            <a:avLst/>
          </a:prstGeom>
          <a:noFill/>
        </p:spPr>
        <p:txBody>
          <a:bodyPr wrap="square">
            <a:spAutoFit/>
          </a:bodyPr>
          <a:lstStyle/>
          <a:p>
            <a:pPr algn="l">
              <a:defRPr sz="1500" b="0">
                <a:solidFill>
                  <a:srgbClr val="333333"/>
                </a:solidFill>
                <a:latin typeface="Calibri"/>
              </a:defRPr>
            </a:pPr>
            <a:r>
              <a:t>•  Instagram-style stories with auto-progress</a:t>
            </a:r>
          </a:p>
        </p:txBody>
      </p:sp>
      <p:sp>
        <p:nvSpPr>
          <p:cNvPr id="9" name="TextBox 8"/>
          <p:cNvSpPr txBox="1"/>
          <p:nvPr/>
        </p:nvSpPr>
        <p:spPr>
          <a:xfrm>
            <a:off x="731520" y="2880360"/>
            <a:ext cx="5486400" cy="411480"/>
          </a:xfrm>
          <a:prstGeom prst="rect">
            <a:avLst/>
          </a:prstGeom>
          <a:noFill/>
        </p:spPr>
        <p:txBody>
          <a:bodyPr wrap="square">
            <a:spAutoFit/>
          </a:bodyPr>
          <a:lstStyle/>
          <a:p>
            <a:pPr algn="l">
              <a:defRPr sz="1500" b="0">
                <a:solidFill>
                  <a:srgbClr val="333333"/>
                </a:solidFill>
                <a:latin typeface="Calibri"/>
              </a:defRPr>
            </a:pPr>
            <a:r>
              <a:t>•  Like with randomized heart colors</a:t>
            </a:r>
          </a:p>
        </p:txBody>
      </p:sp>
      <p:sp>
        <p:nvSpPr>
          <p:cNvPr id="10" name="TextBox 9"/>
          <p:cNvSpPr txBox="1"/>
          <p:nvPr/>
        </p:nvSpPr>
        <p:spPr>
          <a:xfrm>
            <a:off x="731520" y="3291840"/>
            <a:ext cx="5486400" cy="411480"/>
          </a:xfrm>
          <a:prstGeom prst="rect">
            <a:avLst/>
          </a:prstGeom>
          <a:noFill/>
        </p:spPr>
        <p:txBody>
          <a:bodyPr wrap="square">
            <a:spAutoFit/>
          </a:bodyPr>
          <a:lstStyle/>
          <a:p>
            <a:pPr algn="l">
              <a:defRPr sz="1500" b="0">
                <a:solidFill>
                  <a:srgbClr val="333333"/>
                </a:solidFill>
                <a:latin typeface="Calibri"/>
              </a:defRPr>
            </a:pPr>
            <a:r>
              <a:t>•  Comment modal with real-time updates</a:t>
            </a:r>
          </a:p>
        </p:txBody>
      </p:sp>
      <p:sp>
        <p:nvSpPr>
          <p:cNvPr id="11" name="TextBox 10"/>
          <p:cNvSpPr txBox="1"/>
          <p:nvPr/>
        </p:nvSpPr>
        <p:spPr>
          <a:xfrm>
            <a:off x="731520" y="3703320"/>
            <a:ext cx="5486400" cy="411480"/>
          </a:xfrm>
          <a:prstGeom prst="rect">
            <a:avLst/>
          </a:prstGeom>
          <a:noFill/>
        </p:spPr>
        <p:txBody>
          <a:bodyPr wrap="square">
            <a:spAutoFit/>
          </a:bodyPr>
          <a:lstStyle/>
          <a:p>
            <a:pPr algn="l">
              <a:defRPr sz="1500" b="0">
                <a:solidFill>
                  <a:srgbClr val="333333"/>
                </a:solidFill>
                <a:latin typeface="Calibri"/>
              </a:defRPr>
            </a:pPr>
            <a:r>
              <a:t>•  Follow/Unfollow directly from post menu</a:t>
            </a:r>
          </a:p>
        </p:txBody>
      </p:sp>
      <p:sp>
        <p:nvSpPr>
          <p:cNvPr id="12" name="TextBox 11"/>
          <p:cNvSpPr txBox="1"/>
          <p:nvPr/>
        </p:nvSpPr>
        <p:spPr>
          <a:xfrm>
            <a:off x="731520" y="4114800"/>
            <a:ext cx="5486400" cy="411480"/>
          </a:xfrm>
          <a:prstGeom prst="rect">
            <a:avLst/>
          </a:prstGeom>
          <a:noFill/>
        </p:spPr>
        <p:txBody>
          <a:bodyPr wrap="square">
            <a:spAutoFit/>
          </a:bodyPr>
          <a:lstStyle/>
          <a:p>
            <a:pPr algn="l">
              <a:defRPr sz="1500" b="0">
                <a:solidFill>
                  <a:srgbClr val="333333"/>
                </a:solidFill>
                <a:latin typeface="Calibri"/>
              </a:defRPr>
            </a:pPr>
            <a:r>
              <a:t>•  Interest-based personalization for new users</a:t>
            </a:r>
          </a:p>
        </p:txBody>
      </p:sp>
      <p:sp>
        <p:nvSpPr>
          <p:cNvPr id="13" name="TextBox 12"/>
          <p:cNvSpPr txBox="1"/>
          <p:nvPr/>
        </p:nvSpPr>
        <p:spPr>
          <a:xfrm>
            <a:off x="731520" y="4526280"/>
            <a:ext cx="5486400" cy="411480"/>
          </a:xfrm>
          <a:prstGeom prst="rect">
            <a:avLst/>
          </a:prstGeom>
          <a:noFill/>
        </p:spPr>
        <p:txBody>
          <a:bodyPr wrap="square">
            <a:spAutoFit/>
          </a:bodyPr>
          <a:lstStyle/>
          <a:p>
            <a:pPr algn="l">
              <a:defRPr sz="1500" b="0">
                <a:solidFill>
                  <a:srgbClr val="333333"/>
                </a:solidFill>
                <a:latin typeface="Calibri"/>
              </a:defRPr>
            </a:pPr>
            <a:r>
              <a:t>•  Explore tab for category-based discovery</a:t>
            </a:r>
          </a:p>
        </p:txBody>
      </p:sp>
      <p:sp>
        <p:nvSpPr>
          <p:cNvPr id="14" name="TextBox 13"/>
          <p:cNvSpPr txBox="1"/>
          <p:nvPr/>
        </p:nvSpPr>
        <p:spPr>
          <a:xfrm>
            <a:off x="731520" y="4937760"/>
            <a:ext cx="5486400" cy="411480"/>
          </a:xfrm>
          <a:prstGeom prst="rect">
            <a:avLst/>
          </a:prstGeom>
          <a:noFill/>
        </p:spPr>
        <p:txBody>
          <a:bodyPr wrap="square">
            <a:spAutoFit/>
          </a:bodyPr>
          <a:lstStyle/>
          <a:p>
            <a:pPr algn="l">
              <a:defRPr sz="1500" b="0">
                <a:solidFill>
                  <a:srgbClr val="333333"/>
                </a:solidFill>
                <a:latin typeface="Calibri"/>
              </a:defRPr>
            </a:pPr>
            <a:r>
              <a:t>•  Post creation: text + images + hashtags</a:t>
            </a:r>
          </a:p>
        </p:txBody>
      </p:sp>
      <p:sp>
        <p:nvSpPr>
          <p:cNvPr id="15" name="TextBox 14"/>
          <p:cNvSpPr txBox="1"/>
          <p:nvPr/>
        </p:nvSpPr>
        <p:spPr>
          <a:xfrm>
            <a:off x="731520" y="5349240"/>
            <a:ext cx="5486400" cy="411480"/>
          </a:xfrm>
          <a:prstGeom prst="rect">
            <a:avLst/>
          </a:prstGeom>
          <a:noFill/>
        </p:spPr>
        <p:txBody>
          <a:bodyPr wrap="square">
            <a:spAutoFit/>
          </a:bodyPr>
          <a:lstStyle/>
          <a:p>
            <a:pPr algn="l">
              <a:defRPr sz="1500" b="0">
                <a:solidFill>
                  <a:srgbClr val="333333"/>
                </a:solidFill>
                <a:latin typeface="Calibri"/>
              </a:defRPr>
            </a:pPr>
            <a:r>
              <a:t>•  Single post page with related content</a:t>
            </a:r>
          </a:p>
        </p:txBody>
      </p:sp>
      <p:sp>
        <p:nvSpPr>
          <p:cNvPr id="16" name="Rectangle 15"/>
          <p:cNvSpPr/>
          <p:nvPr/>
        </p:nvSpPr>
        <p:spPr>
          <a:xfrm>
            <a:off x="6858000" y="1371600"/>
            <a:ext cx="4754880" cy="47548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40880" y="1554480"/>
            <a:ext cx="4389120" cy="365760"/>
          </a:xfrm>
          <a:prstGeom prst="rect">
            <a:avLst/>
          </a:prstGeom>
          <a:noFill/>
        </p:spPr>
        <p:txBody>
          <a:bodyPr wrap="square">
            <a:spAutoFit/>
          </a:bodyPr>
          <a:lstStyle/>
          <a:p>
            <a:pPr algn="ctr">
              <a:defRPr sz="1200" b="0">
                <a:solidFill>
                  <a:srgbClr val="868686"/>
                </a:solidFill>
                <a:latin typeface="Calibri"/>
              </a:defRPr>
            </a:pPr>
            <a:r>
              <a:t>[Stories Bar: +Add | You | User1 | User2 | &gt; ]</a:t>
            </a:r>
          </a:p>
        </p:txBody>
      </p:sp>
      <p:sp>
        <p:nvSpPr>
          <p:cNvPr id="18" name="TextBox 17"/>
          <p:cNvSpPr txBox="1"/>
          <p:nvPr/>
        </p:nvSpPr>
        <p:spPr>
          <a:xfrm>
            <a:off x="7040880" y="2011680"/>
            <a:ext cx="4389120" cy="274320"/>
          </a:xfrm>
          <a:prstGeom prst="rect">
            <a:avLst/>
          </a:prstGeom>
          <a:noFill/>
        </p:spPr>
        <p:txBody>
          <a:bodyPr wrap="square">
            <a:spAutoFit/>
          </a:bodyPr>
          <a:lstStyle/>
          <a:p>
            <a:pPr algn="ctr">
              <a:defRPr sz="1400" b="1">
                <a:solidFill>
                  <a:srgbClr val="14A898"/>
                </a:solidFill>
                <a:latin typeface="Calibri"/>
              </a:defRPr>
            </a:pPr>
            <a:r>
              <a:t>[For You]     [Explore]</a:t>
            </a:r>
          </a:p>
        </p:txBody>
      </p:sp>
      <p:sp>
        <p:nvSpPr>
          <p:cNvPr id="19" name="Rectangle 18"/>
          <p:cNvSpPr/>
          <p:nvPr/>
        </p:nvSpPr>
        <p:spPr>
          <a:xfrm>
            <a:off x="7132320" y="2468880"/>
            <a:ext cx="1280160"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23760" y="2560320"/>
            <a:ext cx="1097280" cy="274320"/>
          </a:xfrm>
          <a:prstGeom prst="rect">
            <a:avLst/>
          </a:prstGeom>
          <a:noFill/>
        </p:spPr>
        <p:txBody>
          <a:bodyPr wrap="square">
            <a:spAutoFit/>
          </a:bodyPr>
          <a:lstStyle/>
          <a:p>
            <a:pPr algn="ctr">
              <a:defRPr sz="1000" b="0">
                <a:solidFill>
                  <a:srgbClr val="868686"/>
                </a:solidFill>
                <a:latin typeface="Calibri"/>
              </a:defRPr>
            </a:pPr>
            <a:r>
              <a:t>Post 1</a:t>
            </a:r>
          </a:p>
        </p:txBody>
      </p:sp>
      <p:sp>
        <p:nvSpPr>
          <p:cNvPr id="21" name="Rectangle 20"/>
          <p:cNvSpPr/>
          <p:nvPr/>
        </p:nvSpPr>
        <p:spPr>
          <a:xfrm>
            <a:off x="8549640" y="2468880"/>
            <a:ext cx="128016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41080" y="2560320"/>
            <a:ext cx="1097280" cy="274320"/>
          </a:xfrm>
          <a:prstGeom prst="rect">
            <a:avLst/>
          </a:prstGeom>
          <a:noFill/>
        </p:spPr>
        <p:txBody>
          <a:bodyPr wrap="square">
            <a:spAutoFit/>
          </a:bodyPr>
          <a:lstStyle/>
          <a:p>
            <a:pPr algn="ctr">
              <a:defRPr sz="1000" b="0">
                <a:solidFill>
                  <a:srgbClr val="868686"/>
                </a:solidFill>
                <a:latin typeface="Calibri"/>
              </a:defRPr>
            </a:pPr>
            <a:r>
              <a:t>Post 2</a:t>
            </a:r>
          </a:p>
        </p:txBody>
      </p:sp>
      <p:sp>
        <p:nvSpPr>
          <p:cNvPr id="23" name="Rectangle 22"/>
          <p:cNvSpPr/>
          <p:nvPr/>
        </p:nvSpPr>
        <p:spPr>
          <a:xfrm>
            <a:off x="9966960" y="2468880"/>
            <a:ext cx="1280160"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0" y="2560320"/>
            <a:ext cx="1097280" cy="274320"/>
          </a:xfrm>
          <a:prstGeom prst="rect">
            <a:avLst/>
          </a:prstGeom>
          <a:noFill/>
        </p:spPr>
        <p:txBody>
          <a:bodyPr wrap="square">
            <a:spAutoFit/>
          </a:bodyPr>
          <a:lstStyle/>
          <a:p>
            <a:pPr algn="ctr">
              <a:defRPr sz="1000" b="0">
                <a:solidFill>
                  <a:srgbClr val="868686"/>
                </a:solidFill>
                <a:latin typeface="Calibri"/>
              </a:defRPr>
            </a:pPr>
            <a:r>
              <a:t>Post 3</a:t>
            </a:r>
          </a:p>
        </p:txBody>
      </p:sp>
      <p:sp>
        <p:nvSpPr>
          <p:cNvPr id="25" name="Rectangle 24"/>
          <p:cNvSpPr/>
          <p:nvPr/>
        </p:nvSpPr>
        <p:spPr>
          <a:xfrm>
            <a:off x="7132320" y="3840480"/>
            <a:ext cx="128016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23760" y="3931920"/>
            <a:ext cx="1097280" cy="274320"/>
          </a:xfrm>
          <a:prstGeom prst="rect">
            <a:avLst/>
          </a:prstGeom>
          <a:noFill/>
        </p:spPr>
        <p:txBody>
          <a:bodyPr wrap="square">
            <a:spAutoFit/>
          </a:bodyPr>
          <a:lstStyle/>
          <a:p>
            <a:pPr algn="ctr">
              <a:defRPr sz="1000" b="0">
                <a:solidFill>
                  <a:srgbClr val="868686"/>
                </a:solidFill>
                <a:latin typeface="Calibri"/>
              </a:defRPr>
            </a:pPr>
            <a:r>
              <a:t>Post 4</a:t>
            </a:r>
          </a:p>
        </p:txBody>
      </p:sp>
      <p:sp>
        <p:nvSpPr>
          <p:cNvPr id="27" name="Rectangle 26"/>
          <p:cNvSpPr/>
          <p:nvPr/>
        </p:nvSpPr>
        <p:spPr>
          <a:xfrm>
            <a:off x="8549640" y="3840480"/>
            <a:ext cx="1280160"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41080" y="3931920"/>
            <a:ext cx="1097280" cy="274320"/>
          </a:xfrm>
          <a:prstGeom prst="rect">
            <a:avLst/>
          </a:prstGeom>
          <a:noFill/>
        </p:spPr>
        <p:txBody>
          <a:bodyPr wrap="square">
            <a:spAutoFit/>
          </a:bodyPr>
          <a:lstStyle/>
          <a:p>
            <a:pPr algn="ctr">
              <a:defRPr sz="1000" b="0">
                <a:solidFill>
                  <a:srgbClr val="868686"/>
                </a:solidFill>
                <a:latin typeface="Calibri"/>
              </a:defRPr>
            </a:pPr>
            <a:r>
              <a:t>Post 5</a:t>
            </a:r>
          </a:p>
        </p:txBody>
      </p:sp>
      <p:sp>
        <p:nvSpPr>
          <p:cNvPr id="29" name="Rectangle 28"/>
          <p:cNvSpPr/>
          <p:nvPr/>
        </p:nvSpPr>
        <p:spPr>
          <a:xfrm>
            <a:off x="9966960" y="3840480"/>
            <a:ext cx="128016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058400" y="3931920"/>
            <a:ext cx="1097280" cy="274320"/>
          </a:xfrm>
          <a:prstGeom prst="rect">
            <a:avLst/>
          </a:prstGeom>
          <a:noFill/>
        </p:spPr>
        <p:txBody>
          <a:bodyPr wrap="square">
            <a:spAutoFit/>
          </a:bodyPr>
          <a:lstStyle/>
          <a:p>
            <a:pPr algn="ctr">
              <a:defRPr sz="1000" b="0">
                <a:solidFill>
                  <a:srgbClr val="868686"/>
                </a:solidFill>
                <a:latin typeface="Calibri"/>
              </a:defRPr>
            </a:pPr>
            <a:r>
              <a:t>Post 6</a:t>
            </a:r>
          </a:p>
        </p:txBody>
      </p:sp>
      <p:sp>
        <p:nvSpPr>
          <p:cNvPr id="31" name="Rectangle 30"/>
          <p:cNvSpPr/>
          <p:nvPr/>
        </p:nvSpPr>
        <p:spPr>
          <a:xfrm>
            <a:off x="7132320" y="5212080"/>
            <a:ext cx="1280160"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23760" y="5303520"/>
            <a:ext cx="1097280" cy="274320"/>
          </a:xfrm>
          <a:prstGeom prst="rect">
            <a:avLst/>
          </a:prstGeom>
          <a:noFill/>
        </p:spPr>
        <p:txBody>
          <a:bodyPr wrap="square">
            <a:spAutoFit/>
          </a:bodyPr>
          <a:lstStyle/>
          <a:p>
            <a:pPr algn="ctr">
              <a:defRPr sz="1000" b="0">
                <a:solidFill>
                  <a:srgbClr val="868686"/>
                </a:solidFill>
                <a:latin typeface="Calibri"/>
              </a:defRPr>
            </a:pPr>
            <a:r>
              <a:t>Post 7</a:t>
            </a:r>
          </a:p>
        </p:txBody>
      </p:sp>
      <p:sp>
        <p:nvSpPr>
          <p:cNvPr id="33" name="Rectangle 32"/>
          <p:cNvSpPr/>
          <p:nvPr/>
        </p:nvSpPr>
        <p:spPr>
          <a:xfrm>
            <a:off x="8549640" y="5212080"/>
            <a:ext cx="128016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641080" y="5303520"/>
            <a:ext cx="1097280" cy="274320"/>
          </a:xfrm>
          <a:prstGeom prst="rect">
            <a:avLst/>
          </a:prstGeom>
          <a:noFill/>
        </p:spPr>
        <p:txBody>
          <a:bodyPr wrap="square">
            <a:spAutoFit/>
          </a:bodyPr>
          <a:lstStyle/>
          <a:p>
            <a:pPr algn="ctr">
              <a:defRPr sz="1000" b="0">
                <a:solidFill>
                  <a:srgbClr val="868686"/>
                </a:solidFill>
                <a:latin typeface="Calibri"/>
              </a:defRPr>
            </a:pPr>
            <a:r>
              <a:t>Post 8</a:t>
            </a:r>
          </a:p>
        </p:txBody>
      </p:sp>
      <p:sp>
        <p:nvSpPr>
          <p:cNvPr id="35" name="Rectangle 34"/>
          <p:cNvSpPr/>
          <p:nvPr/>
        </p:nvSpPr>
        <p:spPr>
          <a:xfrm>
            <a:off x="9966960" y="5212080"/>
            <a:ext cx="1280160" cy="1188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058400" y="5303520"/>
            <a:ext cx="1097280" cy="274320"/>
          </a:xfrm>
          <a:prstGeom prst="rect">
            <a:avLst/>
          </a:prstGeom>
          <a:noFill/>
        </p:spPr>
        <p:txBody>
          <a:bodyPr wrap="square">
            <a:spAutoFit/>
          </a:bodyPr>
          <a:lstStyle/>
          <a:p>
            <a:pPr algn="ctr">
              <a:defRPr sz="1000" b="0">
                <a:solidFill>
                  <a:srgbClr val="868686"/>
                </a:solidFill>
                <a:latin typeface="Calibri"/>
              </a:defRPr>
            </a:pPr>
            <a:r>
              <a:t>Post 9</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492240"/>
            <a:ext cx="12191695"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0" y="6537960"/>
            <a:ext cx="640080" cy="274320"/>
          </a:xfrm>
          <a:prstGeom prst="rect">
            <a:avLst/>
          </a:prstGeom>
          <a:noFill/>
        </p:spPr>
        <p:txBody>
          <a:bodyPr wrap="square">
            <a:spAutoFit/>
          </a:bodyPr>
          <a:lstStyle/>
          <a:p>
            <a:pPr algn="r">
              <a:defRPr sz="1100" b="0">
                <a:solidFill>
                  <a:srgbClr val="FFFFFF"/>
                </a:solidFill>
                <a:latin typeface="Calibri"/>
              </a:defRPr>
            </a:pPr>
            <a:r>
              <a:t>6</a:t>
            </a:r>
          </a:p>
        </p:txBody>
      </p:sp>
      <p:sp>
        <p:nvSpPr>
          <p:cNvPr id="4" name="TextBox 3"/>
          <p:cNvSpPr txBox="1"/>
          <p:nvPr/>
        </p:nvSpPr>
        <p:spPr>
          <a:xfrm>
            <a:off x="731520" y="365760"/>
            <a:ext cx="10058400" cy="640080"/>
          </a:xfrm>
          <a:prstGeom prst="rect">
            <a:avLst/>
          </a:prstGeom>
          <a:noFill/>
        </p:spPr>
        <p:txBody>
          <a:bodyPr wrap="square">
            <a:spAutoFit/>
          </a:bodyPr>
          <a:lstStyle/>
          <a:p>
            <a:pPr algn="l">
              <a:defRPr sz="4000" b="1">
                <a:solidFill>
                  <a:srgbClr val="14A898"/>
                </a:solidFill>
                <a:latin typeface="Calibri"/>
              </a:defRPr>
            </a:pPr>
            <a:r>
              <a:t>Three Vertical Marketplaces</a:t>
            </a:r>
          </a:p>
        </p:txBody>
      </p:sp>
      <p:sp>
        <p:nvSpPr>
          <p:cNvPr id="5" name="Rectangle 4"/>
          <p:cNvSpPr/>
          <p:nvPr/>
        </p:nvSpPr>
        <p:spPr>
          <a:xfrm>
            <a:off x="548640" y="1280160"/>
            <a:ext cx="3474720" cy="4846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417320"/>
            <a:ext cx="3108960" cy="457200"/>
          </a:xfrm>
          <a:prstGeom prst="rect">
            <a:avLst/>
          </a:prstGeom>
          <a:noFill/>
        </p:spPr>
        <p:txBody>
          <a:bodyPr wrap="square">
            <a:spAutoFit/>
          </a:bodyPr>
          <a:lstStyle/>
          <a:p>
            <a:pPr algn="ctr">
              <a:defRPr sz="2400" b="1">
                <a:solidFill>
                  <a:srgbClr val="14A898"/>
                </a:solidFill>
                <a:latin typeface="Calibri"/>
              </a:defRPr>
            </a:pPr>
            <a:r>
              <a:t>Products</a:t>
            </a:r>
          </a:p>
        </p:txBody>
      </p:sp>
      <p:sp>
        <p:nvSpPr>
          <p:cNvPr id="7" name="TextBox 6"/>
          <p:cNvSpPr txBox="1"/>
          <p:nvPr/>
        </p:nvSpPr>
        <p:spPr>
          <a:xfrm>
            <a:off x="731520" y="1874519"/>
            <a:ext cx="3108960" cy="365760"/>
          </a:xfrm>
          <a:prstGeom prst="rect">
            <a:avLst/>
          </a:prstGeom>
          <a:noFill/>
        </p:spPr>
        <p:txBody>
          <a:bodyPr wrap="square">
            <a:spAutoFit/>
          </a:bodyPr>
          <a:lstStyle/>
          <a:p>
            <a:pPr algn="ctr">
              <a:defRPr sz="1400" b="0">
                <a:solidFill>
                  <a:srgbClr val="868686"/>
                </a:solidFill>
                <a:latin typeface="Calibri"/>
              </a:defRPr>
            </a:pPr>
            <a:r>
              <a:t>Like Etsy/Daraz</a:t>
            </a:r>
          </a:p>
        </p:txBody>
      </p:sp>
      <p:sp>
        <p:nvSpPr>
          <p:cNvPr id="8" name="TextBox 7"/>
          <p:cNvSpPr txBox="1"/>
          <p:nvPr/>
        </p:nvSpPr>
        <p:spPr>
          <a:xfrm>
            <a:off x="822960" y="2377440"/>
            <a:ext cx="2926080" cy="457200"/>
          </a:xfrm>
          <a:prstGeom prst="rect">
            <a:avLst/>
          </a:prstGeom>
          <a:noFill/>
        </p:spPr>
        <p:txBody>
          <a:bodyPr wrap="square">
            <a:spAutoFit/>
          </a:bodyPr>
          <a:lstStyle/>
          <a:p>
            <a:pPr algn="l">
              <a:defRPr sz="1400" b="0">
                <a:solidFill>
                  <a:srgbClr val="333333"/>
                </a:solidFill>
                <a:latin typeface="Calibri"/>
              </a:defRPr>
            </a:pPr>
            <a:r>
              <a:t>✓  Product listing with images</a:t>
            </a:r>
          </a:p>
        </p:txBody>
      </p:sp>
      <p:sp>
        <p:nvSpPr>
          <p:cNvPr id="9" name="TextBox 8"/>
          <p:cNvSpPr txBox="1"/>
          <p:nvPr/>
        </p:nvSpPr>
        <p:spPr>
          <a:xfrm>
            <a:off x="822960" y="2880360"/>
            <a:ext cx="2926080" cy="457200"/>
          </a:xfrm>
          <a:prstGeom prst="rect">
            <a:avLst/>
          </a:prstGeom>
          <a:noFill/>
        </p:spPr>
        <p:txBody>
          <a:bodyPr wrap="square">
            <a:spAutoFit/>
          </a:bodyPr>
          <a:lstStyle/>
          <a:p>
            <a:pPr algn="l">
              <a:defRPr sz="1400" b="0">
                <a:solidFill>
                  <a:srgbClr val="333333"/>
                </a:solidFill>
                <a:latin typeface="Calibri"/>
              </a:defRPr>
            </a:pPr>
            <a:r>
              <a:t>✓  Category &amp; sub-category filtering</a:t>
            </a:r>
          </a:p>
        </p:txBody>
      </p:sp>
      <p:sp>
        <p:nvSpPr>
          <p:cNvPr id="10" name="TextBox 9"/>
          <p:cNvSpPr txBox="1"/>
          <p:nvPr/>
        </p:nvSpPr>
        <p:spPr>
          <a:xfrm>
            <a:off x="822960" y="3383280"/>
            <a:ext cx="2926080" cy="457200"/>
          </a:xfrm>
          <a:prstGeom prst="rect">
            <a:avLst/>
          </a:prstGeom>
          <a:noFill/>
        </p:spPr>
        <p:txBody>
          <a:bodyPr wrap="square">
            <a:spAutoFit/>
          </a:bodyPr>
          <a:lstStyle/>
          <a:p>
            <a:pPr algn="l">
              <a:defRPr sz="1400" b="0">
                <a:solidFill>
                  <a:srgbClr val="333333"/>
                </a:solidFill>
                <a:latin typeface="Calibri"/>
              </a:defRPr>
            </a:pPr>
            <a:r>
              <a:t>✓  Search by name &amp; category</a:t>
            </a:r>
          </a:p>
        </p:txBody>
      </p:sp>
      <p:sp>
        <p:nvSpPr>
          <p:cNvPr id="11" name="TextBox 10"/>
          <p:cNvSpPr txBox="1"/>
          <p:nvPr/>
        </p:nvSpPr>
        <p:spPr>
          <a:xfrm>
            <a:off x="822960" y="3886200"/>
            <a:ext cx="2926080" cy="457200"/>
          </a:xfrm>
          <a:prstGeom prst="rect">
            <a:avLst/>
          </a:prstGeom>
          <a:noFill/>
        </p:spPr>
        <p:txBody>
          <a:bodyPr wrap="square">
            <a:spAutoFit/>
          </a:bodyPr>
          <a:lstStyle/>
          <a:p>
            <a:pPr algn="l">
              <a:defRPr sz="1400" b="0">
                <a:solidFill>
                  <a:srgbClr val="333333"/>
                </a:solidFill>
                <a:latin typeface="Calibri"/>
              </a:defRPr>
            </a:pPr>
            <a:r>
              <a:t>✓  Seller profiles + message button</a:t>
            </a:r>
          </a:p>
        </p:txBody>
      </p:sp>
      <p:sp>
        <p:nvSpPr>
          <p:cNvPr id="12" name="TextBox 11"/>
          <p:cNvSpPr txBox="1"/>
          <p:nvPr/>
        </p:nvSpPr>
        <p:spPr>
          <a:xfrm>
            <a:off x="822960" y="4389120"/>
            <a:ext cx="2926080" cy="457200"/>
          </a:xfrm>
          <a:prstGeom prst="rect">
            <a:avLst/>
          </a:prstGeom>
          <a:noFill/>
        </p:spPr>
        <p:txBody>
          <a:bodyPr wrap="square">
            <a:spAutoFit/>
          </a:bodyPr>
          <a:lstStyle/>
          <a:p>
            <a:pPr algn="l">
              <a:defRPr sz="1400" b="0">
                <a:solidFill>
                  <a:srgbClr val="333333"/>
                </a:solidFill>
                <a:latin typeface="Calibri"/>
              </a:defRPr>
            </a:pPr>
            <a:r>
              <a:t>✓  Featured badges on cards</a:t>
            </a:r>
          </a:p>
        </p:txBody>
      </p:sp>
      <p:sp>
        <p:nvSpPr>
          <p:cNvPr id="13" name="TextBox 12"/>
          <p:cNvSpPr txBox="1"/>
          <p:nvPr/>
        </p:nvSpPr>
        <p:spPr>
          <a:xfrm>
            <a:off x="822960" y="4892040"/>
            <a:ext cx="2926080" cy="457200"/>
          </a:xfrm>
          <a:prstGeom prst="rect">
            <a:avLst/>
          </a:prstGeom>
          <a:noFill/>
        </p:spPr>
        <p:txBody>
          <a:bodyPr wrap="square">
            <a:spAutoFit/>
          </a:bodyPr>
          <a:lstStyle/>
          <a:p>
            <a:pPr algn="l">
              <a:defRPr sz="1400" b="0">
                <a:solidFill>
                  <a:srgbClr val="333333"/>
                </a:solidFill>
                <a:latin typeface="Calibri"/>
              </a:defRPr>
            </a:pPr>
            <a:r>
              <a:t>✓  Price display (PKR with 'k' format)</a:t>
            </a:r>
          </a:p>
        </p:txBody>
      </p:sp>
      <p:sp>
        <p:nvSpPr>
          <p:cNvPr id="14" name="Rectangle 13"/>
          <p:cNvSpPr/>
          <p:nvPr/>
        </p:nvSpPr>
        <p:spPr>
          <a:xfrm>
            <a:off x="4297679" y="1280160"/>
            <a:ext cx="3474720" cy="4846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80559" y="1417320"/>
            <a:ext cx="3108960" cy="457200"/>
          </a:xfrm>
          <a:prstGeom prst="rect">
            <a:avLst/>
          </a:prstGeom>
          <a:noFill/>
        </p:spPr>
        <p:txBody>
          <a:bodyPr wrap="square">
            <a:spAutoFit/>
          </a:bodyPr>
          <a:lstStyle/>
          <a:p>
            <a:pPr algn="ctr">
              <a:defRPr sz="2400" b="1">
                <a:solidFill>
                  <a:srgbClr val="14A898"/>
                </a:solidFill>
                <a:latin typeface="Calibri"/>
              </a:defRPr>
            </a:pPr>
            <a:r>
              <a:t>Courses</a:t>
            </a:r>
          </a:p>
        </p:txBody>
      </p:sp>
      <p:sp>
        <p:nvSpPr>
          <p:cNvPr id="16" name="TextBox 15"/>
          <p:cNvSpPr txBox="1"/>
          <p:nvPr/>
        </p:nvSpPr>
        <p:spPr>
          <a:xfrm>
            <a:off x="4480559" y="1874519"/>
            <a:ext cx="3108960" cy="365760"/>
          </a:xfrm>
          <a:prstGeom prst="rect">
            <a:avLst/>
          </a:prstGeom>
          <a:noFill/>
        </p:spPr>
        <p:txBody>
          <a:bodyPr wrap="square">
            <a:spAutoFit/>
          </a:bodyPr>
          <a:lstStyle/>
          <a:p>
            <a:pPr algn="ctr">
              <a:defRPr sz="1400" b="0">
                <a:solidFill>
                  <a:srgbClr val="868686"/>
                </a:solidFill>
                <a:latin typeface="Calibri"/>
              </a:defRPr>
            </a:pPr>
            <a:r>
              <a:t>Like Udemy</a:t>
            </a:r>
          </a:p>
        </p:txBody>
      </p:sp>
      <p:sp>
        <p:nvSpPr>
          <p:cNvPr id="17" name="TextBox 16"/>
          <p:cNvSpPr txBox="1"/>
          <p:nvPr/>
        </p:nvSpPr>
        <p:spPr>
          <a:xfrm>
            <a:off x="4571999" y="2377440"/>
            <a:ext cx="2926080" cy="457200"/>
          </a:xfrm>
          <a:prstGeom prst="rect">
            <a:avLst/>
          </a:prstGeom>
          <a:noFill/>
        </p:spPr>
        <p:txBody>
          <a:bodyPr wrap="square">
            <a:spAutoFit/>
          </a:bodyPr>
          <a:lstStyle/>
          <a:p>
            <a:pPr algn="l">
              <a:defRPr sz="1400" b="0">
                <a:solidFill>
                  <a:srgbClr val="333333"/>
                </a:solidFill>
                <a:latin typeface="Calibri"/>
              </a:defRPr>
            </a:pPr>
            <a:r>
              <a:t>✓  Course scheduling (mode, duration, days)</a:t>
            </a:r>
          </a:p>
        </p:txBody>
      </p:sp>
      <p:sp>
        <p:nvSpPr>
          <p:cNvPr id="18" name="TextBox 17"/>
          <p:cNvSpPr txBox="1"/>
          <p:nvPr/>
        </p:nvSpPr>
        <p:spPr>
          <a:xfrm>
            <a:off x="4571999" y="2880360"/>
            <a:ext cx="2926080" cy="457200"/>
          </a:xfrm>
          <a:prstGeom prst="rect">
            <a:avLst/>
          </a:prstGeom>
          <a:noFill/>
        </p:spPr>
        <p:txBody>
          <a:bodyPr wrap="square">
            <a:spAutoFit/>
          </a:bodyPr>
          <a:lstStyle/>
          <a:p>
            <a:pPr algn="l">
              <a:defRPr sz="1400" b="0">
                <a:solidFill>
                  <a:srgbClr val="333333"/>
                </a:solidFill>
                <a:latin typeface="Calibri"/>
              </a:defRPr>
            </a:pPr>
            <a:r>
              <a:t>✓  In-app purchase with payment modal</a:t>
            </a:r>
          </a:p>
        </p:txBody>
      </p:sp>
      <p:sp>
        <p:nvSpPr>
          <p:cNvPr id="19" name="TextBox 18"/>
          <p:cNvSpPr txBox="1"/>
          <p:nvPr/>
        </p:nvSpPr>
        <p:spPr>
          <a:xfrm>
            <a:off x="4571999" y="3383280"/>
            <a:ext cx="2926080" cy="457200"/>
          </a:xfrm>
          <a:prstGeom prst="rect">
            <a:avLst/>
          </a:prstGeom>
          <a:noFill/>
        </p:spPr>
        <p:txBody>
          <a:bodyPr wrap="square">
            <a:spAutoFit/>
          </a:bodyPr>
          <a:lstStyle/>
          <a:p>
            <a:pPr algn="l">
              <a:defRPr sz="1400" b="0">
                <a:solidFill>
                  <a:srgbClr val="333333"/>
                </a:solidFill>
                <a:latin typeface="Calibri"/>
              </a:defRPr>
            </a:pPr>
            <a:r>
              <a:t>✓  Instructor profiles linked</a:t>
            </a:r>
          </a:p>
        </p:txBody>
      </p:sp>
      <p:sp>
        <p:nvSpPr>
          <p:cNvPr id="20" name="TextBox 19"/>
          <p:cNvSpPr txBox="1"/>
          <p:nvPr/>
        </p:nvSpPr>
        <p:spPr>
          <a:xfrm>
            <a:off x="4571999" y="3886200"/>
            <a:ext cx="2926080" cy="457200"/>
          </a:xfrm>
          <a:prstGeom prst="rect">
            <a:avLst/>
          </a:prstGeom>
          <a:noFill/>
        </p:spPr>
        <p:txBody>
          <a:bodyPr wrap="square">
            <a:spAutoFit/>
          </a:bodyPr>
          <a:lstStyle/>
          <a:p>
            <a:pPr algn="l">
              <a:defRPr sz="1400" b="0">
                <a:solidFill>
                  <a:srgbClr val="333333"/>
                </a:solidFill>
                <a:latin typeface="Calibri"/>
              </a:defRPr>
            </a:pPr>
            <a:r>
              <a:t>✓  Duration &amp; class time badges</a:t>
            </a:r>
          </a:p>
        </p:txBody>
      </p:sp>
      <p:sp>
        <p:nvSpPr>
          <p:cNvPr id="21" name="TextBox 20"/>
          <p:cNvSpPr txBox="1"/>
          <p:nvPr/>
        </p:nvSpPr>
        <p:spPr>
          <a:xfrm>
            <a:off x="4571999" y="4389120"/>
            <a:ext cx="2926080" cy="457200"/>
          </a:xfrm>
          <a:prstGeom prst="rect">
            <a:avLst/>
          </a:prstGeom>
          <a:noFill/>
        </p:spPr>
        <p:txBody>
          <a:bodyPr wrap="square">
            <a:spAutoFit/>
          </a:bodyPr>
          <a:lstStyle/>
          <a:p>
            <a:pPr algn="l">
              <a:defRPr sz="1400" b="0">
                <a:solidFill>
                  <a:srgbClr val="333333"/>
                </a:solidFill>
                <a:latin typeface="Calibri"/>
              </a:defRPr>
            </a:pPr>
            <a:r>
              <a:t>✓  Online/Onsite mode selection</a:t>
            </a:r>
          </a:p>
        </p:txBody>
      </p:sp>
      <p:sp>
        <p:nvSpPr>
          <p:cNvPr id="22" name="TextBox 21"/>
          <p:cNvSpPr txBox="1"/>
          <p:nvPr/>
        </p:nvSpPr>
        <p:spPr>
          <a:xfrm>
            <a:off x="4571999" y="4892040"/>
            <a:ext cx="2926080" cy="457200"/>
          </a:xfrm>
          <a:prstGeom prst="rect">
            <a:avLst/>
          </a:prstGeom>
          <a:noFill/>
        </p:spPr>
        <p:txBody>
          <a:bodyPr wrap="square">
            <a:spAutoFit/>
          </a:bodyPr>
          <a:lstStyle/>
          <a:p>
            <a:pPr algn="l">
              <a:defRPr sz="1400" b="0">
                <a:solidFill>
                  <a:srgbClr val="333333"/>
                </a:solidFill>
                <a:latin typeface="Calibri"/>
              </a:defRPr>
            </a:pPr>
            <a:r>
              <a:t>✓  Applicant tracking for instructors</a:t>
            </a:r>
          </a:p>
        </p:txBody>
      </p:sp>
      <p:sp>
        <p:nvSpPr>
          <p:cNvPr id="23" name="Rectangle 22"/>
          <p:cNvSpPr/>
          <p:nvPr/>
        </p:nvSpPr>
        <p:spPr>
          <a:xfrm>
            <a:off x="8046719" y="1280160"/>
            <a:ext cx="3474720" cy="4846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599" y="1417320"/>
            <a:ext cx="3108960" cy="457200"/>
          </a:xfrm>
          <a:prstGeom prst="rect">
            <a:avLst/>
          </a:prstGeom>
          <a:noFill/>
        </p:spPr>
        <p:txBody>
          <a:bodyPr wrap="square">
            <a:spAutoFit/>
          </a:bodyPr>
          <a:lstStyle/>
          <a:p>
            <a:pPr algn="ctr">
              <a:defRPr sz="2400" b="1">
                <a:solidFill>
                  <a:srgbClr val="14A898"/>
                </a:solidFill>
                <a:latin typeface="Calibri"/>
              </a:defRPr>
            </a:pPr>
            <a:r>
              <a:t>Services</a:t>
            </a:r>
          </a:p>
        </p:txBody>
      </p:sp>
      <p:sp>
        <p:nvSpPr>
          <p:cNvPr id="25" name="TextBox 24"/>
          <p:cNvSpPr txBox="1"/>
          <p:nvPr/>
        </p:nvSpPr>
        <p:spPr>
          <a:xfrm>
            <a:off x="8229599" y="1874519"/>
            <a:ext cx="3108960" cy="365760"/>
          </a:xfrm>
          <a:prstGeom prst="rect">
            <a:avLst/>
          </a:prstGeom>
          <a:noFill/>
        </p:spPr>
        <p:txBody>
          <a:bodyPr wrap="square">
            <a:spAutoFit/>
          </a:bodyPr>
          <a:lstStyle/>
          <a:p>
            <a:pPr algn="ctr">
              <a:defRPr sz="1400" b="0">
                <a:solidFill>
                  <a:srgbClr val="868686"/>
                </a:solidFill>
                <a:latin typeface="Calibri"/>
              </a:defRPr>
            </a:pPr>
            <a:r>
              <a:t>Like Fiverr</a:t>
            </a:r>
          </a:p>
        </p:txBody>
      </p:sp>
      <p:sp>
        <p:nvSpPr>
          <p:cNvPr id="26" name="TextBox 25"/>
          <p:cNvSpPr txBox="1"/>
          <p:nvPr/>
        </p:nvSpPr>
        <p:spPr>
          <a:xfrm>
            <a:off x="8321039" y="2377440"/>
            <a:ext cx="2926080" cy="457200"/>
          </a:xfrm>
          <a:prstGeom prst="rect">
            <a:avLst/>
          </a:prstGeom>
          <a:noFill/>
        </p:spPr>
        <p:txBody>
          <a:bodyPr wrap="square">
            <a:spAutoFit/>
          </a:bodyPr>
          <a:lstStyle/>
          <a:p>
            <a:pPr algn="l">
              <a:defRPr sz="1400" b="0">
                <a:solidFill>
                  <a:srgbClr val="333333"/>
                </a:solidFill>
                <a:latin typeface="Calibri"/>
              </a:defRPr>
            </a:pPr>
            <a:r>
              <a:t>✓  Professional service listings</a:t>
            </a:r>
          </a:p>
        </p:txBody>
      </p:sp>
      <p:sp>
        <p:nvSpPr>
          <p:cNvPr id="27" name="TextBox 26"/>
          <p:cNvSpPr txBox="1"/>
          <p:nvPr/>
        </p:nvSpPr>
        <p:spPr>
          <a:xfrm>
            <a:off x="8321039" y="2880360"/>
            <a:ext cx="2926080" cy="457200"/>
          </a:xfrm>
          <a:prstGeom prst="rect">
            <a:avLst/>
          </a:prstGeom>
          <a:noFill/>
        </p:spPr>
        <p:txBody>
          <a:bodyPr wrap="square">
            <a:spAutoFit/>
          </a:bodyPr>
          <a:lstStyle/>
          <a:p>
            <a:pPr algn="l">
              <a:defRPr sz="1400" b="0">
                <a:solidFill>
                  <a:srgbClr val="333333"/>
                </a:solidFill>
                <a:latin typeface="Calibri"/>
              </a:defRPr>
            </a:pPr>
            <a:r>
              <a:t>✓  In-app purchase flow</a:t>
            </a:r>
          </a:p>
        </p:txBody>
      </p:sp>
      <p:sp>
        <p:nvSpPr>
          <p:cNvPr id="28" name="TextBox 27"/>
          <p:cNvSpPr txBox="1"/>
          <p:nvPr/>
        </p:nvSpPr>
        <p:spPr>
          <a:xfrm>
            <a:off x="8321039" y="3383280"/>
            <a:ext cx="2926080" cy="457200"/>
          </a:xfrm>
          <a:prstGeom prst="rect">
            <a:avLst/>
          </a:prstGeom>
          <a:noFill/>
        </p:spPr>
        <p:txBody>
          <a:bodyPr wrap="square">
            <a:spAutoFit/>
          </a:bodyPr>
          <a:lstStyle/>
          <a:p>
            <a:pPr algn="l">
              <a:defRPr sz="1400" b="0">
                <a:solidFill>
                  <a:srgbClr val="333333"/>
                </a:solidFill>
                <a:latin typeface="Calibri"/>
              </a:defRPr>
            </a:pPr>
            <a:r>
              <a:t>✓  Seller info + direct messaging</a:t>
            </a:r>
          </a:p>
        </p:txBody>
      </p:sp>
      <p:sp>
        <p:nvSpPr>
          <p:cNvPr id="29" name="TextBox 28"/>
          <p:cNvSpPr txBox="1"/>
          <p:nvPr/>
        </p:nvSpPr>
        <p:spPr>
          <a:xfrm>
            <a:off x="8321039" y="3886200"/>
            <a:ext cx="2926080" cy="457200"/>
          </a:xfrm>
          <a:prstGeom prst="rect">
            <a:avLst/>
          </a:prstGeom>
          <a:noFill/>
        </p:spPr>
        <p:txBody>
          <a:bodyPr wrap="square">
            <a:spAutoFit/>
          </a:bodyPr>
          <a:lstStyle/>
          <a:p>
            <a:pPr algn="l">
              <a:defRPr sz="1400" b="0">
                <a:solidFill>
                  <a:srgbClr val="333333"/>
                </a:solidFill>
                <a:latin typeface="Calibri"/>
              </a:defRPr>
            </a:pPr>
            <a:r>
              <a:t>✓  Simplified creation (3 fields)</a:t>
            </a:r>
          </a:p>
        </p:txBody>
      </p:sp>
      <p:sp>
        <p:nvSpPr>
          <p:cNvPr id="30" name="TextBox 29"/>
          <p:cNvSpPr txBox="1"/>
          <p:nvPr/>
        </p:nvSpPr>
        <p:spPr>
          <a:xfrm>
            <a:off x="8321039" y="4389120"/>
            <a:ext cx="2926080" cy="457200"/>
          </a:xfrm>
          <a:prstGeom prst="rect">
            <a:avLst/>
          </a:prstGeom>
          <a:noFill/>
        </p:spPr>
        <p:txBody>
          <a:bodyPr wrap="square">
            <a:spAutoFit/>
          </a:bodyPr>
          <a:lstStyle/>
          <a:p>
            <a:pPr algn="l">
              <a:defRPr sz="1400" b="0">
                <a:solidFill>
                  <a:srgbClr val="333333"/>
                </a:solidFill>
                <a:latin typeface="Calibri"/>
              </a:defRPr>
            </a:pPr>
            <a:r>
              <a:t>✓  Refund request system</a:t>
            </a:r>
          </a:p>
        </p:txBody>
      </p:sp>
      <p:sp>
        <p:nvSpPr>
          <p:cNvPr id="31" name="TextBox 30"/>
          <p:cNvSpPr txBox="1"/>
          <p:nvPr/>
        </p:nvSpPr>
        <p:spPr>
          <a:xfrm>
            <a:off x="8321039" y="4892040"/>
            <a:ext cx="2926080" cy="457200"/>
          </a:xfrm>
          <a:prstGeom prst="rect">
            <a:avLst/>
          </a:prstGeom>
          <a:noFill/>
        </p:spPr>
        <p:txBody>
          <a:bodyPr wrap="square">
            <a:spAutoFit/>
          </a:bodyPr>
          <a:lstStyle/>
          <a:p>
            <a:pPr algn="l">
              <a:defRPr sz="1400" b="0">
                <a:solidFill>
                  <a:srgbClr val="333333"/>
                </a:solidFill>
                <a:latin typeface="Calibri"/>
              </a:defRPr>
            </a:pPr>
            <a:r>
              <a:t>✓  Category-based browsing</a:t>
            </a:r>
          </a:p>
        </p:txBody>
      </p:sp>
      <p:sp>
        <p:nvSpPr>
          <p:cNvPr id="32" name="Rectangle 31"/>
          <p:cNvSpPr/>
          <p:nvPr/>
        </p:nvSpPr>
        <p:spPr>
          <a:xfrm>
            <a:off x="548640" y="6172200"/>
            <a:ext cx="11064240" cy="27432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6172200"/>
            <a:ext cx="10698480" cy="274320"/>
          </a:xfrm>
          <a:prstGeom prst="rect">
            <a:avLst/>
          </a:prstGeom>
          <a:noFill/>
        </p:spPr>
        <p:txBody>
          <a:bodyPr wrap="square">
            <a:spAutoFit/>
          </a:bodyPr>
          <a:lstStyle/>
          <a:p>
            <a:pPr algn="ctr">
              <a:defRPr sz="1300" b="1">
                <a:solidFill>
                  <a:srgbClr val="FFFFFF"/>
                </a:solidFill>
                <a:latin typeface="Calibri"/>
              </a:defRPr>
            </a:pPr>
            <a:r>
              <a:t>All share: 2-tier categories  |  4-step creation wizard  |  Up to 10 images  |  Admin dashboard management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492240"/>
            <a:ext cx="12191695"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0" y="6537960"/>
            <a:ext cx="640080" cy="274320"/>
          </a:xfrm>
          <a:prstGeom prst="rect">
            <a:avLst/>
          </a:prstGeom>
          <a:noFill/>
        </p:spPr>
        <p:txBody>
          <a:bodyPr wrap="square">
            <a:spAutoFit/>
          </a:bodyPr>
          <a:lstStyle/>
          <a:p>
            <a:pPr algn="r">
              <a:defRPr sz="1100" b="0">
                <a:solidFill>
                  <a:srgbClr val="FFFFFF"/>
                </a:solidFill>
                <a:latin typeface="Calibri"/>
              </a:defRPr>
            </a:pPr>
            <a:r>
              <a:t>7</a:t>
            </a:r>
          </a:p>
        </p:txBody>
      </p:sp>
      <p:sp>
        <p:nvSpPr>
          <p:cNvPr id="4" name="TextBox 3"/>
          <p:cNvSpPr txBox="1"/>
          <p:nvPr/>
        </p:nvSpPr>
        <p:spPr>
          <a:xfrm>
            <a:off x="731520" y="365760"/>
            <a:ext cx="10058400" cy="640080"/>
          </a:xfrm>
          <a:prstGeom prst="rect">
            <a:avLst/>
          </a:prstGeom>
          <a:noFill/>
        </p:spPr>
        <p:txBody>
          <a:bodyPr wrap="square">
            <a:spAutoFit/>
          </a:bodyPr>
          <a:lstStyle/>
          <a:p>
            <a:pPr algn="l">
              <a:defRPr sz="4000" b="1">
                <a:solidFill>
                  <a:srgbClr val="14A898"/>
                </a:solidFill>
                <a:latin typeface="Calibri"/>
              </a:defRPr>
            </a:pPr>
            <a:r>
              <a:t>4-Step Guided Creation Wizard</a:t>
            </a:r>
          </a:p>
        </p:txBody>
      </p:sp>
      <p:sp>
        <p:nvSpPr>
          <p:cNvPr id="5" name="TextBox 4"/>
          <p:cNvSpPr txBox="1"/>
          <p:nvPr/>
        </p:nvSpPr>
        <p:spPr>
          <a:xfrm>
            <a:off x="731520" y="1005840"/>
            <a:ext cx="10058400" cy="457200"/>
          </a:xfrm>
          <a:prstGeom prst="rect">
            <a:avLst/>
          </a:prstGeom>
          <a:noFill/>
        </p:spPr>
        <p:txBody>
          <a:bodyPr wrap="square">
            <a:spAutoFit/>
          </a:bodyPr>
          <a:lstStyle/>
          <a:p>
            <a:pPr algn="l">
              <a:defRPr sz="2000" b="0">
                <a:solidFill>
                  <a:srgbClr val="868686"/>
                </a:solidFill>
                <a:latin typeface="Calibri"/>
              </a:defRPr>
            </a:pPr>
            <a:r>
              <a:t>Intuitive content creation for products, courses &amp; services</a:t>
            </a:r>
          </a:p>
        </p:txBody>
      </p:sp>
      <p:sp>
        <p:nvSpPr>
          <p:cNvPr id="6" name="Rectangle 5"/>
          <p:cNvSpPr/>
          <p:nvPr/>
        </p:nvSpPr>
        <p:spPr>
          <a:xfrm>
            <a:off x="548640" y="1645920"/>
            <a:ext cx="2651760" cy="45720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645920"/>
            <a:ext cx="2651760" cy="457200"/>
          </a:xfrm>
          <a:prstGeom prst="rect">
            <a:avLst/>
          </a:prstGeom>
          <a:noFill/>
        </p:spPr>
        <p:txBody>
          <a:bodyPr wrap="square">
            <a:spAutoFit/>
          </a:bodyPr>
          <a:lstStyle/>
          <a:p>
            <a:pPr algn="ctr">
              <a:defRPr sz="1600" b="1">
                <a:solidFill>
                  <a:srgbClr val="FFFFFF"/>
                </a:solidFill>
                <a:latin typeface="Calibri"/>
              </a:defRPr>
            </a:pPr>
            <a:r>
              <a:t>Step 1: Select Categories</a:t>
            </a:r>
          </a:p>
        </p:txBody>
      </p:sp>
      <p:sp>
        <p:nvSpPr>
          <p:cNvPr id="8" name="Rectangle 7"/>
          <p:cNvSpPr/>
          <p:nvPr/>
        </p:nvSpPr>
        <p:spPr>
          <a:xfrm>
            <a:off x="548640" y="2103120"/>
            <a:ext cx="2651760" cy="3840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286000"/>
            <a:ext cx="2286000" cy="3474720"/>
          </a:xfrm>
          <a:prstGeom prst="rect">
            <a:avLst/>
          </a:prstGeom>
          <a:noFill/>
        </p:spPr>
        <p:txBody>
          <a:bodyPr wrap="square">
            <a:spAutoFit/>
          </a:bodyPr>
          <a:lstStyle/>
          <a:p>
            <a:pPr algn="l">
              <a:defRPr sz="1400" b="0">
                <a:solidFill>
                  <a:srgbClr val="333333"/>
                </a:solidFill>
                <a:latin typeface="Calibri"/>
              </a:defRPr>
            </a:pPr>
            <a:r>
              <a:t>Choose parent category</a:t>
            </a:r>
            <a:br/>
            <a:r>
              <a:t>from admin-managed</a:t>
            </a:r>
            <a:br/>
            <a:r>
              <a:t>taxonomy</a:t>
            </a:r>
            <a:br/>
            <a:r>
              <a:t/>
            </a:r>
            <a:br/>
            <a:r>
              <a:t>Select sub-categories</a:t>
            </a:r>
            <a:br/>
            <a:r>
              <a:t>(multi-select cards</a:t>
            </a:r>
            <a:br/>
            <a:r>
              <a:t>with teal borders)</a:t>
            </a:r>
          </a:p>
        </p:txBody>
      </p:sp>
      <p:sp>
        <p:nvSpPr>
          <p:cNvPr id="10" name="Oval 9"/>
          <p:cNvSpPr/>
          <p:nvPr/>
        </p:nvSpPr>
        <p:spPr>
          <a:xfrm>
            <a:off x="1234440" y="6080760"/>
            <a:ext cx="182880" cy="182880"/>
          </a:xfrm>
          <a:prstGeom prst="ellipse">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645920" y="6080760"/>
            <a:ext cx="182880" cy="182880"/>
          </a:xfrm>
          <a:prstGeom prst="ellipse">
            <a:avLst/>
          </a:prstGeom>
          <a:solidFill>
            <a:srgbClr val="8686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057400" y="6080760"/>
            <a:ext cx="182880" cy="182880"/>
          </a:xfrm>
          <a:prstGeom prst="ellipse">
            <a:avLst/>
          </a:prstGeom>
          <a:solidFill>
            <a:srgbClr val="8686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468880" y="6080760"/>
            <a:ext cx="182880" cy="182880"/>
          </a:xfrm>
          <a:prstGeom prst="ellipse">
            <a:avLst/>
          </a:prstGeom>
          <a:solidFill>
            <a:srgbClr val="8686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29000" y="1645920"/>
            <a:ext cx="2651760" cy="45720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29000" y="1645920"/>
            <a:ext cx="2651760" cy="457200"/>
          </a:xfrm>
          <a:prstGeom prst="rect">
            <a:avLst/>
          </a:prstGeom>
          <a:noFill/>
        </p:spPr>
        <p:txBody>
          <a:bodyPr wrap="square">
            <a:spAutoFit/>
          </a:bodyPr>
          <a:lstStyle/>
          <a:p>
            <a:pPr algn="ctr">
              <a:defRPr sz="1600" b="1">
                <a:solidFill>
                  <a:srgbClr val="FFFFFF"/>
                </a:solidFill>
                <a:latin typeface="Calibri"/>
              </a:defRPr>
            </a:pPr>
            <a:r>
              <a:t>Step 2: Upload Images</a:t>
            </a:r>
          </a:p>
        </p:txBody>
      </p:sp>
      <p:sp>
        <p:nvSpPr>
          <p:cNvPr id="16" name="Rectangle 15"/>
          <p:cNvSpPr/>
          <p:nvPr/>
        </p:nvSpPr>
        <p:spPr>
          <a:xfrm>
            <a:off x="3429000" y="2103120"/>
            <a:ext cx="2651760" cy="3840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11880" y="2286000"/>
            <a:ext cx="2286000" cy="3474720"/>
          </a:xfrm>
          <a:prstGeom prst="rect">
            <a:avLst/>
          </a:prstGeom>
          <a:noFill/>
        </p:spPr>
        <p:txBody>
          <a:bodyPr wrap="square">
            <a:spAutoFit/>
          </a:bodyPr>
          <a:lstStyle/>
          <a:p>
            <a:pPr algn="l">
              <a:defRPr sz="1400" b="0">
                <a:solidFill>
                  <a:srgbClr val="333333"/>
                </a:solidFill>
                <a:latin typeface="Calibri"/>
              </a:defRPr>
            </a:pPr>
            <a:r>
              <a:t>Drag &amp; drop zone</a:t>
            </a:r>
            <a:br/>
            <a:r>
              <a:t>or click to browse</a:t>
            </a:r>
            <a:br/>
            <a:r>
              <a:t/>
            </a:r>
            <a:br/>
            <a:r>
              <a:t>Max 10 images</a:t>
            </a:r>
            <a:br/>
            <a:r>
              <a:t>PNG/JPG/WEBP/SVG</a:t>
            </a:r>
            <a:br/>
            <a:r>
              <a:t/>
            </a:r>
            <a:br/>
            <a:r>
              <a:t>Thumbnail previews</a:t>
            </a:r>
            <a:br/>
            <a:r>
              <a:t>with delete option</a:t>
            </a:r>
          </a:p>
        </p:txBody>
      </p:sp>
      <p:sp>
        <p:nvSpPr>
          <p:cNvPr id="18" name="Oval 17"/>
          <p:cNvSpPr/>
          <p:nvPr/>
        </p:nvSpPr>
        <p:spPr>
          <a:xfrm>
            <a:off x="4114800" y="6080760"/>
            <a:ext cx="182880" cy="182880"/>
          </a:xfrm>
          <a:prstGeom prst="ellipse">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526280" y="6080760"/>
            <a:ext cx="182880" cy="182880"/>
          </a:xfrm>
          <a:prstGeom prst="ellipse">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937760" y="6080760"/>
            <a:ext cx="182880" cy="182880"/>
          </a:xfrm>
          <a:prstGeom prst="ellipse">
            <a:avLst/>
          </a:prstGeom>
          <a:solidFill>
            <a:srgbClr val="8686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349240" y="6080760"/>
            <a:ext cx="182880" cy="182880"/>
          </a:xfrm>
          <a:prstGeom prst="ellipse">
            <a:avLst/>
          </a:prstGeom>
          <a:solidFill>
            <a:srgbClr val="8686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309359" y="1645920"/>
            <a:ext cx="2651760" cy="45720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09359" y="1645920"/>
            <a:ext cx="2651760" cy="457200"/>
          </a:xfrm>
          <a:prstGeom prst="rect">
            <a:avLst/>
          </a:prstGeom>
          <a:noFill/>
        </p:spPr>
        <p:txBody>
          <a:bodyPr wrap="square">
            <a:spAutoFit/>
          </a:bodyPr>
          <a:lstStyle/>
          <a:p>
            <a:pPr algn="ctr">
              <a:defRPr sz="1600" b="1">
                <a:solidFill>
                  <a:srgbClr val="FFFFFF"/>
                </a:solidFill>
                <a:latin typeface="Calibri"/>
              </a:defRPr>
            </a:pPr>
            <a:r>
              <a:t>Step 3: Enter Details</a:t>
            </a:r>
          </a:p>
        </p:txBody>
      </p:sp>
      <p:sp>
        <p:nvSpPr>
          <p:cNvPr id="24" name="Rectangle 23"/>
          <p:cNvSpPr/>
          <p:nvPr/>
        </p:nvSpPr>
        <p:spPr>
          <a:xfrm>
            <a:off x="6309359" y="2103120"/>
            <a:ext cx="2651760" cy="3840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92239" y="2286000"/>
            <a:ext cx="2286000" cy="3474720"/>
          </a:xfrm>
          <a:prstGeom prst="rect">
            <a:avLst/>
          </a:prstGeom>
          <a:noFill/>
        </p:spPr>
        <p:txBody>
          <a:bodyPr wrap="square">
            <a:spAutoFit/>
          </a:bodyPr>
          <a:lstStyle/>
          <a:p>
            <a:pPr algn="l">
              <a:defRPr sz="1400" b="0">
                <a:solidFill>
                  <a:srgbClr val="333333"/>
                </a:solidFill>
                <a:latin typeface="Calibri"/>
              </a:defRPr>
            </a:pPr>
            <a:r>
              <a:t>Title (3-100 chars)</a:t>
            </a:r>
            <a:br/>
            <a:r>
              <a:t>Price/Fee</a:t>
            </a:r>
            <a:br/>
            <a:r>
              <a:t>Description (1000 chars)</a:t>
            </a:r>
            <a:br/>
            <a:r>
              <a:t/>
            </a:r>
            <a:br/>
            <a:r>
              <a:t>Courses also include:</a:t>
            </a:r>
            <a:br/>
            <a:r>
              <a:t>Mode, Duration,</a:t>
            </a:r>
            <a:br/>
            <a:r>
              <a:t>Class Days, Class Time</a:t>
            </a:r>
          </a:p>
        </p:txBody>
      </p:sp>
      <p:sp>
        <p:nvSpPr>
          <p:cNvPr id="26" name="Oval 25"/>
          <p:cNvSpPr/>
          <p:nvPr/>
        </p:nvSpPr>
        <p:spPr>
          <a:xfrm>
            <a:off x="6995159" y="6080760"/>
            <a:ext cx="182880" cy="182880"/>
          </a:xfrm>
          <a:prstGeom prst="ellipse">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406639" y="6080760"/>
            <a:ext cx="182880" cy="182880"/>
          </a:xfrm>
          <a:prstGeom prst="ellipse">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818119" y="6080760"/>
            <a:ext cx="182880" cy="182880"/>
          </a:xfrm>
          <a:prstGeom prst="ellipse">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229599" y="6080760"/>
            <a:ext cx="182880" cy="182880"/>
          </a:xfrm>
          <a:prstGeom prst="ellipse">
            <a:avLst/>
          </a:prstGeom>
          <a:solidFill>
            <a:srgbClr val="8686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189719" y="1645920"/>
            <a:ext cx="2651760" cy="45720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89719" y="1645920"/>
            <a:ext cx="2651760" cy="457200"/>
          </a:xfrm>
          <a:prstGeom prst="rect">
            <a:avLst/>
          </a:prstGeom>
          <a:noFill/>
        </p:spPr>
        <p:txBody>
          <a:bodyPr wrap="square">
            <a:spAutoFit/>
          </a:bodyPr>
          <a:lstStyle/>
          <a:p>
            <a:pPr algn="ctr">
              <a:defRPr sz="1600" b="1">
                <a:solidFill>
                  <a:srgbClr val="FFFFFF"/>
                </a:solidFill>
                <a:latin typeface="Calibri"/>
              </a:defRPr>
            </a:pPr>
            <a:r>
              <a:t>Step 4: Review &amp; Submit</a:t>
            </a:r>
          </a:p>
        </p:txBody>
      </p:sp>
      <p:sp>
        <p:nvSpPr>
          <p:cNvPr id="32" name="Rectangle 31"/>
          <p:cNvSpPr/>
          <p:nvPr/>
        </p:nvSpPr>
        <p:spPr>
          <a:xfrm>
            <a:off x="9189719" y="2103120"/>
            <a:ext cx="2651760" cy="3840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72599" y="2286000"/>
            <a:ext cx="2286000" cy="3474720"/>
          </a:xfrm>
          <a:prstGeom prst="rect">
            <a:avLst/>
          </a:prstGeom>
          <a:noFill/>
        </p:spPr>
        <p:txBody>
          <a:bodyPr wrap="square">
            <a:spAutoFit/>
          </a:bodyPr>
          <a:lstStyle/>
          <a:p>
            <a:pPr algn="l">
              <a:defRPr sz="1400" b="0">
                <a:solidFill>
                  <a:srgbClr val="333333"/>
                </a:solidFill>
                <a:latin typeface="Calibri"/>
              </a:defRPr>
            </a:pPr>
            <a:r>
              <a:t>Full preview of:</a:t>
            </a:r>
            <a:br/>
            <a:r>
              <a:t>- All uploaded images</a:t>
            </a:r>
            <a:br/>
            <a:r>
              <a:t>- Title &amp; pricing</a:t>
            </a:r>
            <a:br/>
            <a:r>
              <a:t>- Description</a:t>
            </a:r>
            <a:br/>
            <a:r>
              <a:t>- Categories</a:t>
            </a:r>
            <a:br/>
            <a:r>
              <a:t/>
            </a:r>
            <a:br/>
            <a:r>
              <a:t>One-click submit</a:t>
            </a:r>
            <a:br/>
            <a:r>
              <a:t>Instant dashboard update</a:t>
            </a:r>
          </a:p>
        </p:txBody>
      </p:sp>
      <p:sp>
        <p:nvSpPr>
          <p:cNvPr id="34" name="Oval 33"/>
          <p:cNvSpPr/>
          <p:nvPr/>
        </p:nvSpPr>
        <p:spPr>
          <a:xfrm>
            <a:off x="9875519" y="6080760"/>
            <a:ext cx="182880" cy="182880"/>
          </a:xfrm>
          <a:prstGeom prst="ellipse">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286999" y="6080760"/>
            <a:ext cx="182880" cy="182880"/>
          </a:xfrm>
          <a:prstGeom prst="ellipse">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698479" y="6080760"/>
            <a:ext cx="182880" cy="182880"/>
          </a:xfrm>
          <a:prstGeom prst="ellipse">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1109959" y="6080760"/>
            <a:ext cx="182880" cy="182880"/>
          </a:xfrm>
          <a:prstGeom prst="ellipse">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492240"/>
            <a:ext cx="12191695"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0" y="6537960"/>
            <a:ext cx="640080" cy="274320"/>
          </a:xfrm>
          <a:prstGeom prst="rect">
            <a:avLst/>
          </a:prstGeom>
          <a:noFill/>
        </p:spPr>
        <p:txBody>
          <a:bodyPr wrap="square">
            <a:spAutoFit/>
          </a:bodyPr>
          <a:lstStyle/>
          <a:p>
            <a:pPr algn="r">
              <a:defRPr sz="1100" b="0">
                <a:solidFill>
                  <a:srgbClr val="FFFFFF"/>
                </a:solidFill>
                <a:latin typeface="Calibri"/>
              </a:defRPr>
            </a:pPr>
            <a:r>
              <a:t>8</a:t>
            </a:r>
          </a:p>
        </p:txBody>
      </p:sp>
      <p:sp>
        <p:nvSpPr>
          <p:cNvPr id="4" name="TextBox 3"/>
          <p:cNvSpPr txBox="1"/>
          <p:nvPr/>
        </p:nvSpPr>
        <p:spPr>
          <a:xfrm>
            <a:off x="731520" y="365760"/>
            <a:ext cx="10058400" cy="640080"/>
          </a:xfrm>
          <a:prstGeom prst="rect">
            <a:avLst/>
          </a:prstGeom>
          <a:noFill/>
        </p:spPr>
        <p:txBody>
          <a:bodyPr wrap="square">
            <a:spAutoFit/>
          </a:bodyPr>
          <a:lstStyle/>
          <a:p>
            <a:pPr algn="l">
              <a:defRPr sz="4000" b="1">
                <a:solidFill>
                  <a:srgbClr val="14A898"/>
                </a:solidFill>
                <a:latin typeface="Calibri"/>
              </a:defRPr>
            </a:pPr>
            <a:r>
              <a:t>Real-Time Messaging</a:t>
            </a:r>
          </a:p>
        </p:txBody>
      </p:sp>
      <p:sp>
        <p:nvSpPr>
          <p:cNvPr id="5" name="TextBox 4"/>
          <p:cNvSpPr txBox="1"/>
          <p:nvPr/>
        </p:nvSpPr>
        <p:spPr>
          <a:xfrm>
            <a:off x="731520" y="1005840"/>
            <a:ext cx="10058400" cy="457200"/>
          </a:xfrm>
          <a:prstGeom prst="rect">
            <a:avLst/>
          </a:prstGeom>
          <a:noFill/>
        </p:spPr>
        <p:txBody>
          <a:bodyPr wrap="square">
            <a:spAutoFit/>
          </a:bodyPr>
          <a:lstStyle/>
          <a:p>
            <a:pPr algn="l">
              <a:defRPr sz="2000" b="0">
                <a:solidFill>
                  <a:srgbClr val="868686"/>
                </a:solidFill>
                <a:latin typeface="Calibri"/>
              </a:defRPr>
            </a:pPr>
            <a:r>
              <a:t>Two chat systems powered by Socket.IO</a:t>
            </a:r>
          </a:p>
        </p:txBody>
      </p:sp>
      <p:sp>
        <p:nvSpPr>
          <p:cNvPr id="6" name="Rectangle 5"/>
          <p:cNvSpPr/>
          <p:nvPr/>
        </p:nvSpPr>
        <p:spPr>
          <a:xfrm>
            <a:off x="548640" y="1645920"/>
            <a:ext cx="5303520" cy="4389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4937760" cy="457200"/>
          </a:xfrm>
          <a:prstGeom prst="rect">
            <a:avLst/>
          </a:prstGeom>
          <a:noFill/>
        </p:spPr>
        <p:txBody>
          <a:bodyPr wrap="square">
            <a:spAutoFit/>
          </a:bodyPr>
          <a:lstStyle/>
          <a:p>
            <a:pPr algn="l">
              <a:defRPr sz="2000" b="1">
                <a:solidFill>
                  <a:srgbClr val="14A898"/>
                </a:solidFill>
                <a:latin typeface="Calibri"/>
              </a:defRPr>
            </a:pPr>
            <a:r>
              <a:t>Regular Chat (1-on-1 DMs)</a:t>
            </a:r>
          </a:p>
        </p:txBody>
      </p:sp>
      <p:sp>
        <p:nvSpPr>
          <p:cNvPr id="8" name="TextBox 7"/>
          <p:cNvSpPr txBox="1"/>
          <p:nvPr/>
        </p:nvSpPr>
        <p:spPr>
          <a:xfrm>
            <a:off x="822960" y="2286000"/>
            <a:ext cx="4846320" cy="365760"/>
          </a:xfrm>
          <a:prstGeom prst="rect">
            <a:avLst/>
          </a:prstGeom>
          <a:noFill/>
        </p:spPr>
        <p:txBody>
          <a:bodyPr wrap="square">
            <a:spAutoFit/>
          </a:bodyPr>
          <a:lstStyle/>
          <a:p>
            <a:pPr algn="l">
              <a:defRPr sz="1400" b="0">
                <a:solidFill>
                  <a:srgbClr val="333333"/>
                </a:solidFill>
                <a:latin typeface="Calibri"/>
              </a:defRPr>
            </a:pPr>
            <a:r>
              <a:t>•  Conversation list with unread indicators</a:t>
            </a:r>
          </a:p>
        </p:txBody>
      </p:sp>
      <p:sp>
        <p:nvSpPr>
          <p:cNvPr id="9" name="TextBox 8"/>
          <p:cNvSpPr txBox="1"/>
          <p:nvPr/>
        </p:nvSpPr>
        <p:spPr>
          <a:xfrm>
            <a:off x="822960" y="2651760"/>
            <a:ext cx="4846320" cy="365760"/>
          </a:xfrm>
          <a:prstGeom prst="rect">
            <a:avLst/>
          </a:prstGeom>
          <a:noFill/>
        </p:spPr>
        <p:txBody>
          <a:bodyPr wrap="square">
            <a:spAutoFit/>
          </a:bodyPr>
          <a:lstStyle/>
          <a:p>
            <a:pPr algn="l">
              <a:defRPr sz="1400" b="0">
                <a:solidFill>
                  <a:srgbClr val="333333"/>
                </a:solidFill>
                <a:latin typeface="Calibri"/>
              </a:defRPr>
            </a:pPr>
            <a:r>
              <a:t>•  Real-time message delivery via WebSocket</a:t>
            </a:r>
          </a:p>
        </p:txBody>
      </p:sp>
      <p:sp>
        <p:nvSpPr>
          <p:cNvPr id="10" name="TextBox 9"/>
          <p:cNvSpPr txBox="1"/>
          <p:nvPr/>
        </p:nvSpPr>
        <p:spPr>
          <a:xfrm>
            <a:off x="822960" y="3017520"/>
            <a:ext cx="4846320" cy="365760"/>
          </a:xfrm>
          <a:prstGeom prst="rect">
            <a:avLst/>
          </a:prstGeom>
          <a:noFill/>
        </p:spPr>
        <p:txBody>
          <a:bodyPr wrap="square">
            <a:spAutoFit/>
          </a:bodyPr>
          <a:lstStyle/>
          <a:p>
            <a:pPr algn="l">
              <a:defRPr sz="1400" b="0">
                <a:solidFill>
                  <a:srgbClr val="333333"/>
                </a:solidFill>
                <a:latin typeface="Calibri"/>
              </a:defRPr>
            </a:pPr>
            <a:r>
              <a:t>•  Emoji picker integration</a:t>
            </a:r>
          </a:p>
        </p:txBody>
      </p:sp>
      <p:sp>
        <p:nvSpPr>
          <p:cNvPr id="11" name="TextBox 10"/>
          <p:cNvSpPr txBox="1"/>
          <p:nvPr/>
        </p:nvSpPr>
        <p:spPr>
          <a:xfrm>
            <a:off x="822960" y="3383280"/>
            <a:ext cx="4846320" cy="365760"/>
          </a:xfrm>
          <a:prstGeom prst="rect">
            <a:avLst/>
          </a:prstGeom>
          <a:noFill/>
        </p:spPr>
        <p:txBody>
          <a:bodyPr wrap="square">
            <a:spAutoFit/>
          </a:bodyPr>
          <a:lstStyle/>
          <a:p>
            <a:pPr algn="l">
              <a:defRPr sz="1400" b="0">
                <a:solidFill>
                  <a:srgbClr val="333333"/>
                </a:solidFill>
                <a:latin typeface="Calibri"/>
              </a:defRPr>
            </a:pPr>
            <a:r>
              <a:t>•  Compose new message to any user</a:t>
            </a:r>
          </a:p>
        </p:txBody>
      </p:sp>
      <p:sp>
        <p:nvSpPr>
          <p:cNvPr id="12" name="TextBox 11"/>
          <p:cNvSpPr txBox="1"/>
          <p:nvPr/>
        </p:nvSpPr>
        <p:spPr>
          <a:xfrm>
            <a:off x="822960" y="3749039"/>
            <a:ext cx="4846320" cy="365760"/>
          </a:xfrm>
          <a:prstGeom prst="rect">
            <a:avLst/>
          </a:prstGeom>
          <a:noFill/>
        </p:spPr>
        <p:txBody>
          <a:bodyPr wrap="square">
            <a:spAutoFit/>
          </a:bodyPr>
          <a:lstStyle/>
          <a:p>
            <a:pPr algn="l">
              <a:defRPr sz="1400" b="0">
                <a:solidFill>
                  <a:srgbClr val="333333"/>
                </a:solidFill>
                <a:latin typeface="Calibri"/>
              </a:defRPr>
            </a:pPr>
            <a:r>
              <a:t>•  Quick message from profile/product pages</a:t>
            </a:r>
          </a:p>
        </p:txBody>
      </p:sp>
      <p:sp>
        <p:nvSpPr>
          <p:cNvPr id="13" name="TextBox 12"/>
          <p:cNvSpPr txBox="1"/>
          <p:nvPr/>
        </p:nvSpPr>
        <p:spPr>
          <a:xfrm>
            <a:off x="822960" y="4114800"/>
            <a:ext cx="4846320" cy="365760"/>
          </a:xfrm>
          <a:prstGeom prst="rect">
            <a:avLst/>
          </a:prstGeom>
          <a:noFill/>
        </p:spPr>
        <p:txBody>
          <a:bodyPr wrap="square">
            <a:spAutoFit/>
          </a:bodyPr>
          <a:lstStyle/>
          <a:p>
            <a:pPr algn="l">
              <a:defRPr sz="1400" b="0">
                <a:solidFill>
                  <a:srgbClr val="333333"/>
                </a:solidFill>
                <a:latin typeface="Calibri"/>
              </a:defRPr>
            </a:pPr>
            <a:r>
              <a:t>•  Auto-scroll to latest message</a:t>
            </a:r>
          </a:p>
        </p:txBody>
      </p:sp>
      <p:sp>
        <p:nvSpPr>
          <p:cNvPr id="14" name="TextBox 13"/>
          <p:cNvSpPr txBox="1"/>
          <p:nvPr/>
        </p:nvSpPr>
        <p:spPr>
          <a:xfrm>
            <a:off x="822960" y="4480560"/>
            <a:ext cx="4846320" cy="365760"/>
          </a:xfrm>
          <a:prstGeom prst="rect">
            <a:avLst/>
          </a:prstGeom>
          <a:noFill/>
        </p:spPr>
        <p:txBody>
          <a:bodyPr wrap="square">
            <a:spAutoFit/>
          </a:bodyPr>
          <a:lstStyle/>
          <a:p>
            <a:pPr algn="l">
              <a:defRPr sz="1400" b="0">
                <a:solidFill>
                  <a:srgbClr val="333333"/>
                </a:solidFill>
                <a:latin typeface="Calibri"/>
              </a:defRPr>
            </a:pPr>
            <a:r>
              <a:t>•  Date dividers between message groups</a:t>
            </a:r>
          </a:p>
        </p:txBody>
      </p:sp>
      <p:sp>
        <p:nvSpPr>
          <p:cNvPr id="15" name="TextBox 14"/>
          <p:cNvSpPr txBox="1"/>
          <p:nvPr/>
        </p:nvSpPr>
        <p:spPr>
          <a:xfrm>
            <a:off x="822960" y="4846320"/>
            <a:ext cx="4846320" cy="365760"/>
          </a:xfrm>
          <a:prstGeom prst="rect">
            <a:avLst/>
          </a:prstGeom>
          <a:noFill/>
        </p:spPr>
        <p:txBody>
          <a:bodyPr wrap="square">
            <a:spAutoFit/>
          </a:bodyPr>
          <a:lstStyle/>
          <a:p>
            <a:pPr algn="l">
              <a:defRPr sz="1400" b="0">
                <a:solidFill>
                  <a:srgbClr val="333333"/>
                </a:solidFill>
                <a:latin typeface="Calibri"/>
              </a:defRPr>
            </a:pPr>
            <a:r>
              <a:t>•  Mobile: full-screen chat with back button</a:t>
            </a:r>
          </a:p>
        </p:txBody>
      </p:sp>
      <p:sp>
        <p:nvSpPr>
          <p:cNvPr id="16" name="Rectangle 15"/>
          <p:cNvSpPr/>
          <p:nvPr/>
        </p:nvSpPr>
        <p:spPr>
          <a:xfrm>
            <a:off x="6309360" y="1645920"/>
            <a:ext cx="5303520" cy="4389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1737360"/>
            <a:ext cx="4937760" cy="457200"/>
          </a:xfrm>
          <a:prstGeom prst="rect">
            <a:avLst/>
          </a:prstGeom>
          <a:noFill/>
        </p:spPr>
        <p:txBody>
          <a:bodyPr wrap="square">
            <a:spAutoFit/>
          </a:bodyPr>
          <a:lstStyle/>
          <a:p>
            <a:pPr algn="l">
              <a:defRPr sz="2000" b="1">
                <a:solidFill>
                  <a:srgbClr val="14A898"/>
                </a:solidFill>
                <a:latin typeface="Calibri"/>
              </a:defRPr>
            </a:pPr>
            <a:r>
              <a:t>Refund Support Chat</a:t>
            </a:r>
          </a:p>
        </p:txBody>
      </p:sp>
      <p:sp>
        <p:nvSpPr>
          <p:cNvPr id="18" name="TextBox 17"/>
          <p:cNvSpPr txBox="1"/>
          <p:nvPr/>
        </p:nvSpPr>
        <p:spPr>
          <a:xfrm>
            <a:off x="6583680" y="2286000"/>
            <a:ext cx="4846320" cy="365760"/>
          </a:xfrm>
          <a:prstGeom prst="rect">
            <a:avLst/>
          </a:prstGeom>
          <a:noFill/>
        </p:spPr>
        <p:txBody>
          <a:bodyPr wrap="square">
            <a:spAutoFit/>
          </a:bodyPr>
          <a:lstStyle/>
          <a:p>
            <a:pPr algn="l">
              <a:defRPr sz="1400" b="0">
                <a:solidFill>
                  <a:srgbClr val="333333"/>
                </a:solidFill>
                <a:latin typeface="Calibri"/>
              </a:defRPr>
            </a:pPr>
            <a:r>
              <a:t>•  Embedded in refund ticket pages</a:t>
            </a:r>
          </a:p>
        </p:txBody>
      </p:sp>
      <p:sp>
        <p:nvSpPr>
          <p:cNvPr id="19" name="TextBox 18"/>
          <p:cNvSpPr txBox="1"/>
          <p:nvPr/>
        </p:nvSpPr>
        <p:spPr>
          <a:xfrm>
            <a:off x="6583680" y="2651760"/>
            <a:ext cx="4846320" cy="365760"/>
          </a:xfrm>
          <a:prstGeom prst="rect">
            <a:avLst/>
          </a:prstGeom>
          <a:noFill/>
        </p:spPr>
        <p:txBody>
          <a:bodyPr wrap="square">
            <a:spAutoFit/>
          </a:bodyPr>
          <a:lstStyle/>
          <a:p>
            <a:pPr algn="l">
              <a:defRPr sz="1400" b="0">
                <a:solidFill>
                  <a:srgbClr val="333333"/>
                </a:solidFill>
                <a:latin typeface="Calibri"/>
              </a:defRPr>
            </a:pPr>
            <a:r>
              <a:t>•  Three-way: buyer + seller + admin</a:t>
            </a:r>
          </a:p>
        </p:txBody>
      </p:sp>
      <p:sp>
        <p:nvSpPr>
          <p:cNvPr id="20" name="TextBox 19"/>
          <p:cNvSpPr txBox="1"/>
          <p:nvPr/>
        </p:nvSpPr>
        <p:spPr>
          <a:xfrm>
            <a:off x="6583680" y="3017520"/>
            <a:ext cx="4846320" cy="365760"/>
          </a:xfrm>
          <a:prstGeom prst="rect">
            <a:avLst/>
          </a:prstGeom>
          <a:noFill/>
        </p:spPr>
        <p:txBody>
          <a:bodyPr wrap="square">
            <a:spAutoFit/>
          </a:bodyPr>
          <a:lstStyle/>
          <a:p>
            <a:pPr algn="l">
              <a:defRPr sz="1400" b="0">
                <a:solidFill>
                  <a:srgbClr val="333333"/>
                </a:solidFill>
                <a:latin typeface="Calibri"/>
              </a:defRPr>
            </a:pPr>
            <a:r>
              <a:t>•  Image attachment support</a:t>
            </a:r>
          </a:p>
        </p:txBody>
      </p:sp>
      <p:sp>
        <p:nvSpPr>
          <p:cNvPr id="21" name="TextBox 20"/>
          <p:cNvSpPr txBox="1"/>
          <p:nvPr/>
        </p:nvSpPr>
        <p:spPr>
          <a:xfrm>
            <a:off x="6583680" y="3383280"/>
            <a:ext cx="4846320" cy="365760"/>
          </a:xfrm>
          <a:prstGeom prst="rect">
            <a:avLst/>
          </a:prstGeom>
          <a:noFill/>
        </p:spPr>
        <p:txBody>
          <a:bodyPr wrap="square">
            <a:spAutoFit/>
          </a:bodyPr>
          <a:lstStyle/>
          <a:p>
            <a:pPr algn="l">
              <a:defRPr sz="1400" b="0">
                <a:solidFill>
                  <a:srgbClr val="333333"/>
                </a:solidFill>
                <a:latin typeface="Calibri"/>
              </a:defRPr>
            </a:pPr>
            <a:r>
              <a:t>•  Full-screen image preview</a:t>
            </a:r>
          </a:p>
        </p:txBody>
      </p:sp>
      <p:sp>
        <p:nvSpPr>
          <p:cNvPr id="22" name="TextBox 21"/>
          <p:cNvSpPr txBox="1"/>
          <p:nvPr/>
        </p:nvSpPr>
        <p:spPr>
          <a:xfrm>
            <a:off x="6583680" y="3749039"/>
            <a:ext cx="4846320" cy="365760"/>
          </a:xfrm>
          <a:prstGeom prst="rect">
            <a:avLst/>
          </a:prstGeom>
          <a:noFill/>
        </p:spPr>
        <p:txBody>
          <a:bodyPr wrap="square">
            <a:spAutoFit/>
          </a:bodyPr>
          <a:lstStyle/>
          <a:p>
            <a:pPr algn="l">
              <a:defRPr sz="1400" b="0">
                <a:solidFill>
                  <a:srgbClr val="333333"/>
                </a:solidFill>
                <a:latin typeface="Calibri"/>
              </a:defRPr>
            </a:pPr>
            <a:r>
              <a:t>•  Auto-disabled when ticket resolved</a:t>
            </a:r>
          </a:p>
        </p:txBody>
      </p:sp>
      <p:sp>
        <p:nvSpPr>
          <p:cNvPr id="23" name="TextBox 22"/>
          <p:cNvSpPr txBox="1"/>
          <p:nvPr/>
        </p:nvSpPr>
        <p:spPr>
          <a:xfrm>
            <a:off x="6583680" y="4114800"/>
            <a:ext cx="4846320" cy="365760"/>
          </a:xfrm>
          <a:prstGeom prst="rect">
            <a:avLst/>
          </a:prstGeom>
          <a:noFill/>
        </p:spPr>
        <p:txBody>
          <a:bodyPr wrap="square">
            <a:spAutoFit/>
          </a:bodyPr>
          <a:lstStyle/>
          <a:p>
            <a:pPr algn="l">
              <a:defRPr sz="1400" b="0">
                <a:solidFill>
                  <a:srgbClr val="333333"/>
                </a:solidFill>
                <a:latin typeface="Calibri"/>
              </a:defRPr>
            </a:pPr>
            <a:r>
              <a:t>•  Real-time via Socket.IO events</a:t>
            </a:r>
          </a:p>
        </p:txBody>
      </p:sp>
      <p:sp>
        <p:nvSpPr>
          <p:cNvPr id="24" name="TextBox 23"/>
          <p:cNvSpPr txBox="1"/>
          <p:nvPr/>
        </p:nvSpPr>
        <p:spPr>
          <a:xfrm>
            <a:off x="6583680" y="4480560"/>
            <a:ext cx="4846320" cy="365760"/>
          </a:xfrm>
          <a:prstGeom prst="rect">
            <a:avLst/>
          </a:prstGeom>
          <a:noFill/>
        </p:spPr>
        <p:txBody>
          <a:bodyPr wrap="square">
            <a:spAutoFit/>
          </a:bodyPr>
          <a:lstStyle/>
          <a:p>
            <a:pPr algn="l">
              <a:defRPr sz="1400" b="0">
                <a:solidFill>
                  <a:srgbClr val="333333"/>
                </a:solidFill>
                <a:latin typeface="Calibri"/>
              </a:defRPr>
            </a:pPr>
            <a:r>
              <a:t>•  Message history loaded from REST API</a:t>
            </a:r>
          </a:p>
        </p:txBody>
      </p:sp>
      <p:sp>
        <p:nvSpPr>
          <p:cNvPr id="25" name="TextBox 24"/>
          <p:cNvSpPr txBox="1"/>
          <p:nvPr/>
        </p:nvSpPr>
        <p:spPr>
          <a:xfrm>
            <a:off x="6583680" y="4846320"/>
            <a:ext cx="4846320" cy="365760"/>
          </a:xfrm>
          <a:prstGeom prst="rect">
            <a:avLst/>
          </a:prstGeom>
          <a:noFill/>
        </p:spPr>
        <p:txBody>
          <a:bodyPr wrap="square">
            <a:spAutoFit/>
          </a:bodyPr>
          <a:lstStyle/>
          <a:p>
            <a:pPr algn="l">
              <a:defRPr sz="1400" b="0">
                <a:solidFill>
                  <a:srgbClr val="333333"/>
                </a:solidFill>
                <a:latin typeface="Calibri"/>
              </a:defRPr>
            </a:pPr>
            <a:r>
              <a:t>•  Ticket status tracking (Pending/Done)</a:t>
            </a:r>
          </a:p>
        </p:txBody>
      </p:sp>
      <p:sp>
        <p:nvSpPr>
          <p:cNvPr id="26" name="Rectangle 25"/>
          <p:cNvSpPr/>
          <p:nvPr/>
        </p:nvSpPr>
        <p:spPr>
          <a:xfrm>
            <a:off x="548640" y="6126480"/>
            <a:ext cx="11064240" cy="320040"/>
          </a:xfrm>
          <a:prstGeom prst="rect">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 y="6126480"/>
            <a:ext cx="10698480" cy="320040"/>
          </a:xfrm>
          <a:prstGeom prst="rect">
            <a:avLst/>
          </a:prstGeom>
          <a:noFill/>
        </p:spPr>
        <p:txBody>
          <a:bodyPr wrap="square">
            <a:spAutoFit/>
          </a:bodyPr>
          <a:lstStyle/>
          <a:p>
            <a:pPr algn="ctr">
              <a:defRPr sz="1300" b="1">
                <a:solidFill>
                  <a:srgbClr val="FFFFFF"/>
                </a:solidFill>
                <a:latin typeface="Calibri"/>
              </a:defRPr>
            </a:pPr>
            <a:r>
              <a:t>Socket.IO  |  WebSocket Transport  |  JWT Auth  |  Auto-Reconnect  |  Redux Middleware Bridge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492240"/>
            <a:ext cx="12191695"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0" y="6537960"/>
            <a:ext cx="640080" cy="274320"/>
          </a:xfrm>
          <a:prstGeom prst="rect">
            <a:avLst/>
          </a:prstGeom>
          <a:noFill/>
        </p:spPr>
        <p:txBody>
          <a:bodyPr wrap="square">
            <a:spAutoFit/>
          </a:bodyPr>
          <a:lstStyle/>
          <a:p>
            <a:pPr algn="r">
              <a:defRPr sz="1100" b="0">
                <a:solidFill>
                  <a:srgbClr val="FFFFFF"/>
                </a:solidFill>
                <a:latin typeface="Calibri"/>
              </a:defRPr>
            </a:pPr>
            <a:r>
              <a:t>9</a:t>
            </a:r>
          </a:p>
        </p:txBody>
      </p:sp>
      <p:sp>
        <p:nvSpPr>
          <p:cNvPr id="4" name="TextBox 3"/>
          <p:cNvSpPr txBox="1"/>
          <p:nvPr/>
        </p:nvSpPr>
        <p:spPr>
          <a:xfrm>
            <a:off x="731520" y="365760"/>
            <a:ext cx="10058400" cy="640080"/>
          </a:xfrm>
          <a:prstGeom prst="rect">
            <a:avLst/>
          </a:prstGeom>
          <a:noFill/>
        </p:spPr>
        <p:txBody>
          <a:bodyPr wrap="square">
            <a:spAutoFit/>
          </a:bodyPr>
          <a:lstStyle/>
          <a:p>
            <a:pPr algn="l">
              <a:defRPr sz="4000" b="1">
                <a:solidFill>
                  <a:srgbClr val="14A898"/>
                </a:solidFill>
                <a:latin typeface="Calibri"/>
              </a:defRPr>
            </a:pPr>
            <a:r>
              <a:t>Comprehensive Dashboards</a:t>
            </a:r>
          </a:p>
        </p:txBody>
      </p:sp>
      <p:sp>
        <p:nvSpPr>
          <p:cNvPr id="5" name="TextBox 4"/>
          <p:cNvSpPr txBox="1"/>
          <p:nvPr/>
        </p:nvSpPr>
        <p:spPr>
          <a:xfrm>
            <a:off x="731520" y="1188720"/>
            <a:ext cx="5029200" cy="457200"/>
          </a:xfrm>
          <a:prstGeom prst="rect">
            <a:avLst/>
          </a:prstGeom>
          <a:noFill/>
        </p:spPr>
        <p:txBody>
          <a:bodyPr wrap="square">
            <a:spAutoFit/>
          </a:bodyPr>
          <a:lstStyle/>
          <a:p>
            <a:pPr algn="l">
              <a:defRPr sz="2200" b="1">
                <a:solidFill>
                  <a:srgbClr val="09524A"/>
                </a:solidFill>
                <a:latin typeface="Calibri"/>
              </a:defRPr>
            </a:pPr>
            <a:r>
              <a:t>User Dashboard (6 Tabs)</a:t>
            </a:r>
          </a:p>
        </p:txBody>
      </p:sp>
      <p:sp>
        <p:nvSpPr>
          <p:cNvPr id="6" name="Rectangle 5"/>
          <p:cNvSpPr/>
          <p:nvPr/>
        </p:nvSpPr>
        <p:spPr>
          <a:xfrm>
            <a:off x="731520" y="1737360"/>
            <a:ext cx="1463040"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737360"/>
            <a:ext cx="1371600" cy="365760"/>
          </a:xfrm>
          <a:prstGeom prst="rect">
            <a:avLst/>
          </a:prstGeom>
          <a:noFill/>
        </p:spPr>
        <p:txBody>
          <a:bodyPr wrap="square">
            <a:spAutoFit/>
          </a:bodyPr>
          <a:lstStyle/>
          <a:p>
            <a:pPr algn="ctr">
              <a:defRPr sz="1300" b="1">
                <a:solidFill>
                  <a:srgbClr val="FFFFFF"/>
                </a:solidFill>
                <a:latin typeface="Calibri"/>
              </a:defRPr>
            </a:pPr>
            <a:r>
              <a:t>Courses</a:t>
            </a:r>
          </a:p>
        </p:txBody>
      </p:sp>
      <p:sp>
        <p:nvSpPr>
          <p:cNvPr id="8" name="TextBox 7"/>
          <p:cNvSpPr txBox="1"/>
          <p:nvPr/>
        </p:nvSpPr>
        <p:spPr>
          <a:xfrm>
            <a:off x="2377440" y="1737360"/>
            <a:ext cx="3657600" cy="365760"/>
          </a:xfrm>
          <a:prstGeom prst="rect">
            <a:avLst/>
          </a:prstGeom>
          <a:noFill/>
        </p:spPr>
        <p:txBody>
          <a:bodyPr wrap="square">
            <a:spAutoFit/>
          </a:bodyPr>
          <a:lstStyle/>
          <a:p>
            <a:pPr algn="l">
              <a:defRPr sz="1300" b="0">
                <a:solidFill>
                  <a:srgbClr val="333333"/>
                </a:solidFill>
                <a:latin typeface="Calibri"/>
              </a:defRPr>
            </a:pPr>
            <a:r>
              <a:t>My Courses (CRUD) + Purchased (refund)</a:t>
            </a:r>
          </a:p>
        </p:txBody>
      </p:sp>
      <p:sp>
        <p:nvSpPr>
          <p:cNvPr id="9" name="Rectangle 8"/>
          <p:cNvSpPr/>
          <p:nvPr/>
        </p:nvSpPr>
        <p:spPr>
          <a:xfrm>
            <a:off x="731520" y="2240280"/>
            <a:ext cx="1463040"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240280"/>
            <a:ext cx="1371600" cy="365760"/>
          </a:xfrm>
          <a:prstGeom prst="rect">
            <a:avLst/>
          </a:prstGeom>
          <a:noFill/>
        </p:spPr>
        <p:txBody>
          <a:bodyPr wrap="square">
            <a:spAutoFit/>
          </a:bodyPr>
          <a:lstStyle/>
          <a:p>
            <a:pPr algn="ctr">
              <a:defRPr sz="1300" b="1">
                <a:solidFill>
                  <a:srgbClr val="FFFFFF"/>
                </a:solidFill>
                <a:latin typeface="Calibri"/>
              </a:defRPr>
            </a:pPr>
            <a:r>
              <a:t>Services</a:t>
            </a:r>
          </a:p>
        </p:txBody>
      </p:sp>
      <p:sp>
        <p:nvSpPr>
          <p:cNvPr id="11" name="TextBox 10"/>
          <p:cNvSpPr txBox="1"/>
          <p:nvPr/>
        </p:nvSpPr>
        <p:spPr>
          <a:xfrm>
            <a:off x="2377440" y="2240280"/>
            <a:ext cx="3657600" cy="365760"/>
          </a:xfrm>
          <a:prstGeom prst="rect">
            <a:avLst/>
          </a:prstGeom>
          <a:noFill/>
        </p:spPr>
        <p:txBody>
          <a:bodyPr wrap="square">
            <a:spAutoFit/>
          </a:bodyPr>
          <a:lstStyle/>
          <a:p>
            <a:pPr algn="l">
              <a:defRPr sz="1300" b="0">
                <a:solidFill>
                  <a:srgbClr val="333333"/>
                </a:solidFill>
                <a:latin typeface="Calibri"/>
              </a:defRPr>
            </a:pPr>
            <a:r>
              <a:t>My Services (CRUD) + Purchased (refund)</a:t>
            </a:r>
          </a:p>
        </p:txBody>
      </p:sp>
      <p:sp>
        <p:nvSpPr>
          <p:cNvPr id="12" name="Rectangle 11"/>
          <p:cNvSpPr/>
          <p:nvPr/>
        </p:nvSpPr>
        <p:spPr>
          <a:xfrm>
            <a:off x="731520" y="2743200"/>
            <a:ext cx="1463040"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2743200"/>
            <a:ext cx="1371600" cy="365760"/>
          </a:xfrm>
          <a:prstGeom prst="rect">
            <a:avLst/>
          </a:prstGeom>
          <a:noFill/>
        </p:spPr>
        <p:txBody>
          <a:bodyPr wrap="square">
            <a:spAutoFit/>
          </a:bodyPr>
          <a:lstStyle/>
          <a:p>
            <a:pPr algn="ctr">
              <a:defRPr sz="1300" b="1">
                <a:solidFill>
                  <a:srgbClr val="FFFFFF"/>
                </a:solidFill>
                <a:latin typeface="Calibri"/>
              </a:defRPr>
            </a:pPr>
            <a:r>
              <a:t>Market</a:t>
            </a:r>
          </a:p>
        </p:txBody>
      </p:sp>
      <p:sp>
        <p:nvSpPr>
          <p:cNvPr id="14" name="TextBox 13"/>
          <p:cNvSpPr txBox="1"/>
          <p:nvPr/>
        </p:nvSpPr>
        <p:spPr>
          <a:xfrm>
            <a:off x="2377440" y="2743200"/>
            <a:ext cx="3657600" cy="365760"/>
          </a:xfrm>
          <a:prstGeom prst="rect">
            <a:avLst/>
          </a:prstGeom>
          <a:noFill/>
        </p:spPr>
        <p:txBody>
          <a:bodyPr wrap="square">
            <a:spAutoFit/>
          </a:bodyPr>
          <a:lstStyle/>
          <a:p>
            <a:pPr algn="l">
              <a:defRPr sz="1300" b="0">
                <a:solidFill>
                  <a:srgbClr val="333333"/>
                </a:solidFill>
                <a:latin typeface="Calibri"/>
              </a:defRPr>
            </a:pPr>
            <a:r>
              <a:t>My Products (CRUD + view modal)</a:t>
            </a:r>
          </a:p>
        </p:txBody>
      </p:sp>
      <p:sp>
        <p:nvSpPr>
          <p:cNvPr id="15" name="Rectangle 14"/>
          <p:cNvSpPr/>
          <p:nvPr/>
        </p:nvSpPr>
        <p:spPr>
          <a:xfrm>
            <a:off x="731520" y="3246120"/>
            <a:ext cx="1463040"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246120"/>
            <a:ext cx="1371600" cy="365760"/>
          </a:xfrm>
          <a:prstGeom prst="rect">
            <a:avLst/>
          </a:prstGeom>
          <a:noFill/>
        </p:spPr>
        <p:txBody>
          <a:bodyPr wrap="square">
            <a:spAutoFit/>
          </a:bodyPr>
          <a:lstStyle/>
          <a:p>
            <a:pPr algn="ctr">
              <a:defRPr sz="1300" b="1">
                <a:solidFill>
                  <a:srgbClr val="FFFFFF"/>
                </a:solidFill>
                <a:latin typeface="Calibri"/>
              </a:defRPr>
            </a:pPr>
            <a:r>
              <a:t>Subscriptions</a:t>
            </a:r>
          </a:p>
        </p:txBody>
      </p:sp>
      <p:sp>
        <p:nvSpPr>
          <p:cNvPr id="17" name="TextBox 16"/>
          <p:cNvSpPr txBox="1"/>
          <p:nvPr/>
        </p:nvSpPr>
        <p:spPr>
          <a:xfrm>
            <a:off x="2377440" y="3246120"/>
            <a:ext cx="3657600" cy="365760"/>
          </a:xfrm>
          <a:prstGeom prst="rect">
            <a:avLst/>
          </a:prstGeom>
          <a:noFill/>
        </p:spPr>
        <p:txBody>
          <a:bodyPr wrap="square">
            <a:spAutoFit/>
          </a:bodyPr>
          <a:lstStyle/>
          <a:p>
            <a:pPr algn="l">
              <a:defRPr sz="1300" b="0">
                <a:solidFill>
                  <a:srgbClr val="333333"/>
                </a:solidFill>
                <a:latin typeface="Calibri"/>
              </a:defRPr>
            </a:pPr>
            <a:r>
              <a:t>Current plan + payment history</a:t>
            </a:r>
          </a:p>
        </p:txBody>
      </p:sp>
      <p:sp>
        <p:nvSpPr>
          <p:cNvPr id="18" name="Rectangle 17"/>
          <p:cNvSpPr/>
          <p:nvPr/>
        </p:nvSpPr>
        <p:spPr>
          <a:xfrm>
            <a:off x="731520" y="3749039"/>
            <a:ext cx="1463040"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3749039"/>
            <a:ext cx="1371600" cy="365760"/>
          </a:xfrm>
          <a:prstGeom prst="rect">
            <a:avLst/>
          </a:prstGeom>
          <a:noFill/>
        </p:spPr>
        <p:txBody>
          <a:bodyPr wrap="square">
            <a:spAutoFit/>
          </a:bodyPr>
          <a:lstStyle/>
          <a:p>
            <a:pPr algn="ctr">
              <a:defRPr sz="1300" b="1">
                <a:solidFill>
                  <a:srgbClr val="FFFFFF"/>
                </a:solidFill>
                <a:latin typeface="Calibri"/>
              </a:defRPr>
            </a:pPr>
            <a:r>
              <a:t>Payment</a:t>
            </a:r>
          </a:p>
        </p:txBody>
      </p:sp>
      <p:sp>
        <p:nvSpPr>
          <p:cNvPr id="20" name="TextBox 19"/>
          <p:cNvSpPr txBox="1"/>
          <p:nvPr/>
        </p:nvSpPr>
        <p:spPr>
          <a:xfrm>
            <a:off x="2377440" y="3749039"/>
            <a:ext cx="3657600" cy="365760"/>
          </a:xfrm>
          <a:prstGeom prst="rect">
            <a:avLst/>
          </a:prstGeom>
          <a:noFill/>
        </p:spPr>
        <p:txBody>
          <a:bodyPr wrap="square">
            <a:spAutoFit/>
          </a:bodyPr>
          <a:lstStyle/>
          <a:p>
            <a:pPr algn="l">
              <a:defRPr sz="1300" b="0">
                <a:solidFill>
                  <a:srgbClr val="333333"/>
                </a:solidFill>
                <a:latin typeface="Calibri"/>
              </a:defRPr>
            </a:pPr>
            <a:r>
              <a:t>4 summary cards + withdrawal requests</a:t>
            </a:r>
          </a:p>
        </p:txBody>
      </p:sp>
      <p:sp>
        <p:nvSpPr>
          <p:cNvPr id="21" name="Rectangle 20"/>
          <p:cNvSpPr/>
          <p:nvPr/>
        </p:nvSpPr>
        <p:spPr>
          <a:xfrm>
            <a:off x="731520" y="4251960"/>
            <a:ext cx="1463040"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4251960"/>
            <a:ext cx="1371600" cy="365760"/>
          </a:xfrm>
          <a:prstGeom prst="rect">
            <a:avLst/>
          </a:prstGeom>
          <a:noFill/>
        </p:spPr>
        <p:txBody>
          <a:bodyPr wrap="square">
            <a:spAutoFit/>
          </a:bodyPr>
          <a:lstStyle/>
          <a:p>
            <a:pPr algn="ctr">
              <a:defRPr sz="1300" b="1">
                <a:solidFill>
                  <a:srgbClr val="FFFFFF"/>
                </a:solidFill>
                <a:latin typeface="Calibri"/>
              </a:defRPr>
            </a:pPr>
            <a:r>
              <a:t>Refunds</a:t>
            </a:r>
          </a:p>
        </p:txBody>
      </p:sp>
      <p:sp>
        <p:nvSpPr>
          <p:cNvPr id="23" name="TextBox 22"/>
          <p:cNvSpPr txBox="1"/>
          <p:nvPr/>
        </p:nvSpPr>
        <p:spPr>
          <a:xfrm>
            <a:off x="2377440" y="4251960"/>
            <a:ext cx="3657600" cy="365760"/>
          </a:xfrm>
          <a:prstGeom prst="rect">
            <a:avLst/>
          </a:prstGeom>
          <a:noFill/>
        </p:spPr>
        <p:txBody>
          <a:bodyPr wrap="square">
            <a:spAutoFit/>
          </a:bodyPr>
          <a:lstStyle/>
          <a:p>
            <a:pPr algn="l">
              <a:defRPr sz="1300" b="0">
                <a:solidFill>
                  <a:srgbClr val="333333"/>
                </a:solidFill>
                <a:latin typeface="Calibri"/>
              </a:defRPr>
            </a:pPr>
            <a:r>
              <a:t>Buyer tickets + seller tickets + chat</a:t>
            </a:r>
          </a:p>
        </p:txBody>
      </p:sp>
      <p:sp>
        <p:nvSpPr>
          <p:cNvPr id="24" name="TextBox 23"/>
          <p:cNvSpPr txBox="1"/>
          <p:nvPr/>
        </p:nvSpPr>
        <p:spPr>
          <a:xfrm>
            <a:off x="6400800" y="1188720"/>
            <a:ext cx="5029200" cy="457200"/>
          </a:xfrm>
          <a:prstGeom prst="rect">
            <a:avLst/>
          </a:prstGeom>
          <a:noFill/>
        </p:spPr>
        <p:txBody>
          <a:bodyPr wrap="square">
            <a:spAutoFit/>
          </a:bodyPr>
          <a:lstStyle/>
          <a:p>
            <a:pPr algn="l">
              <a:defRPr sz="2200" b="1">
                <a:solidFill>
                  <a:srgbClr val="09524A"/>
                </a:solidFill>
                <a:latin typeface="Calibri"/>
              </a:defRPr>
            </a:pPr>
            <a:r>
              <a:t>Admin Dashboard (8 Tabs)</a:t>
            </a:r>
          </a:p>
        </p:txBody>
      </p:sp>
      <p:sp>
        <p:nvSpPr>
          <p:cNvPr id="25" name="Rectangle 24"/>
          <p:cNvSpPr/>
          <p:nvPr/>
        </p:nvSpPr>
        <p:spPr>
          <a:xfrm>
            <a:off x="6400800" y="1737360"/>
            <a:ext cx="1463040" cy="365760"/>
          </a:xfrm>
          <a:prstGeom prst="rect">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46520" y="1737360"/>
            <a:ext cx="1371600" cy="365760"/>
          </a:xfrm>
          <a:prstGeom prst="rect">
            <a:avLst/>
          </a:prstGeom>
          <a:noFill/>
        </p:spPr>
        <p:txBody>
          <a:bodyPr wrap="square">
            <a:spAutoFit/>
          </a:bodyPr>
          <a:lstStyle/>
          <a:p>
            <a:pPr algn="ctr">
              <a:defRPr sz="1300" b="1">
                <a:solidFill>
                  <a:srgbClr val="FFFFFF"/>
                </a:solidFill>
                <a:latin typeface="Calibri"/>
              </a:defRPr>
            </a:pPr>
            <a:r>
              <a:t>Users</a:t>
            </a:r>
          </a:p>
        </p:txBody>
      </p:sp>
      <p:sp>
        <p:nvSpPr>
          <p:cNvPr id="27" name="TextBox 26"/>
          <p:cNvSpPr txBox="1"/>
          <p:nvPr/>
        </p:nvSpPr>
        <p:spPr>
          <a:xfrm>
            <a:off x="8046720" y="1737360"/>
            <a:ext cx="3657600" cy="365760"/>
          </a:xfrm>
          <a:prstGeom prst="rect">
            <a:avLst/>
          </a:prstGeom>
          <a:noFill/>
        </p:spPr>
        <p:txBody>
          <a:bodyPr wrap="square">
            <a:spAutoFit/>
          </a:bodyPr>
          <a:lstStyle/>
          <a:p>
            <a:pPr algn="l">
              <a:defRPr sz="1300" b="0">
                <a:solidFill>
                  <a:srgbClr val="333333"/>
                </a:solidFill>
                <a:latin typeface="Calibri"/>
              </a:defRPr>
            </a:pPr>
            <a:r>
              <a:t>View / Search / Block / Unblock</a:t>
            </a:r>
          </a:p>
        </p:txBody>
      </p:sp>
      <p:sp>
        <p:nvSpPr>
          <p:cNvPr id="28" name="Rectangle 27"/>
          <p:cNvSpPr/>
          <p:nvPr/>
        </p:nvSpPr>
        <p:spPr>
          <a:xfrm>
            <a:off x="6400800" y="2240280"/>
            <a:ext cx="1463040" cy="365760"/>
          </a:xfrm>
          <a:prstGeom prst="rect">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46520" y="2240280"/>
            <a:ext cx="1371600" cy="365760"/>
          </a:xfrm>
          <a:prstGeom prst="rect">
            <a:avLst/>
          </a:prstGeom>
          <a:noFill/>
        </p:spPr>
        <p:txBody>
          <a:bodyPr wrap="square">
            <a:spAutoFit/>
          </a:bodyPr>
          <a:lstStyle/>
          <a:p>
            <a:pPr algn="ctr">
              <a:defRPr sz="1300" b="1">
                <a:solidFill>
                  <a:srgbClr val="FFFFFF"/>
                </a:solidFill>
                <a:latin typeface="Calibri"/>
              </a:defRPr>
            </a:pPr>
            <a:r>
              <a:t>Courses</a:t>
            </a:r>
          </a:p>
        </p:txBody>
      </p:sp>
      <p:sp>
        <p:nvSpPr>
          <p:cNvPr id="30" name="TextBox 29"/>
          <p:cNvSpPr txBox="1"/>
          <p:nvPr/>
        </p:nvSpPr>
        <p:spPr>
          <a:xfrm>
            <a:off x="8046720" y="2240280"/>
            <a:ext cx="3657600" cy="365760"/>
          </a:xfrm>
          <a:prstGeom prst="rect">
            <a:avLst/>
          </a:prstGeom>
          <a:noFill/>
        </p:spPr>
        <p:txBody>
          <a:bodyPr wrap="square">
            <a:spAutoFit/>
          </a:bodyPr>
          <a:lstStyle/>
          <a:p>
            <a:pPr algn="l">
              <a:defRPr sz="1300" b="0">
                <a:solidFill>
                  <a:srgbClr val="333333"/>
                </a:solidFill>
                <a:latin typeface="Calibri"/>
              </a:defRPr>
            </a:pPr>
            <a:r>
              <a:t>View / Search / Delete courses</a:t>
            </a:r>
          </a:p>
        </p:txBody>
      </p:sp>
      <p:sp>
        <p:nvSpPr>
          <p:cNvPr id="31" name="Rectangle 30"/>
          <p:cNvSpPr/>
          <p:nvPr/>
        </p:nvSpPr>
        <p:spPr>
          <a:xfrm>
            <a:off x="6400800" y="2743200"/>
            <a:ext cx="1463040" cy="365760"/>
          </a:xfrm>
          <a:prstGeom prst="rect">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46520" y="2743200"/>
            <a:ext cx="1371600" cy="365760"/>
          </a:xfrm>
          <a:prstGeom prst="rect">
            <a:avLst/>
          </a:prstGeom>
          <a:noFill/>
        </p:spPr>
        <p:txBody>
          <a:bodyPr wrap="square">
            <a:spAutoFit/>
          </a:bodyPr>
          <a:lstStyle/>
          <a:p>
            <a:pPr algn="ctr">
              <a:defRPr sz="1300" b="1">
                <a:solidFill>
                  <a:srgbClr val="FFFFFF"/>
                </a:solidFill>
                <a:latin typeface="Calibri"/>
              </a:defRPr>
            </a:pPr>
            <a:r>
              <a:t>Markets</a:t>
            </a:r>
          </a:p>
        </p:txBody>
      </p:sp>
      <p:sp>
        <p:nvSpPr>
          <p:cNvPr id="33" name="TextBox 32"/>
          <p:cNvSpPr txBox="1"/>
          <p:nvPr/>
        </p:nvSpPr>
        <p:spPr>
          <a:xfrm>
            <a:off x="8046720" y="2743200"/>
            <a:ext cx="3657600" cy="365760"/>
          </a:xfrm>
          <a:prstGeom prst="rect">
            <a:avLst/>
          </a:prstGeom>
          <a:noFill/>
        </p:spPr>
        <p:txBody>
          <a:bodyPr wrap="square">
            <a:spAutoFit/>
          </a:bodyPr>
          <a:lstStyle/>
          <a:p>
            <a:pPr algn="l">
              <a:defRPr sz="1300" b="0">
                <a:solidFill>
                  <a:srgbClr val="333333"/>
                </a:solidFill>
                <a:latin typeface="Calibri"/>
              </a:defRPr>
            </a:pPr>
            <a:r>
              <a:t>View / Search / Delete products</a:t>
            </a:r>
          </a:p>
        </p:txBody>
      </p:sp>
      <p:sp>
        <p:nvSpPr>
          <p:cNvPr id="34" name="Rectangle 33"/>
          <p:cNvSpPr/>
          <p:nvPr/>
        </p:nvSpPr>
        <p:spPr>
          <a:xfrm>
            <a:off x="6400800" y="3246120"/>
            <a:ext cx="1463040" cy="365760"/>
          </a:xfrm>
          <a:prstGeom prst="rect">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46520" y="3246120"/>
            <a:ext cx="1371600" cy="365760"/>
          </a:xfrm>
          <a:prstGeom prst="rect">
            <a:avLst/>
          </a:prstGeom>
          <a:noFill/>
        </p:spPr>
        <p:txBody>
          <a:bodyPr wrap="square">
            <a:spAutoFit/>
          </a:bodyPr>
          <a:lstStyle/>
          <a:p>
            <a:pPr algn="ctr">
              <a:defRPr sz="1300" b="1">
                <a:solidFill>
                  <a:srgbClr val="FFFFFF"/>
                </a:solidFill>
                <a:latin typeface="Calibri"/>
              </a:defRPr>
            </a:pPr>
            <a:r>
              <a:t>Payments</a:t>
            </a:r>
          </a:p>
        </p:txBody>
      </p:sp>
      <p:sp>
        <p:nvSpPr>
          <p:cNvPr id="36" name="TextBox 35"/>
          <p:cNvSpPr txBox="1"/>
          <p:nvPr/>
        </p:nvSpPr>
        <p:spPr>
          <a:xfrm>
            <a:off x="8046720" y="3246120"/>
            <a:ext cx="3657600" cy="365760"/>
          </a:xfrm>
          <a:prstGeom prst="rect">
            <a:avLst/>
          </a:prstGeom>
          <a:noFill/>
        </p:spPr>
        <p:txBody>
          <a:bodyPr wrap="square">
            <a:spAutoFit/>
          </a:bodyPr>
          <a:lstStyle/>
          <a:p>
            <a:pPr algn="l">
              <a:defRPr sz="1300" b="0">
                <a:solidFill>
                  <a:srgbClr val="333333"/>
                </a:solidFill>
                <a:latin typeface="Calibri"/>
              </a:defRPr>
            </a:pPr>
            <a:r>
              <a:t>View all transactions (read-only)</a:t>
            </a:r>
          </a:p>
        </p:txBody>
      </p:sp>
      <p:sp>
        <p:nvSpPr>
          <p:cNvPr id="37" name="Rectangle 36"/>
          <p:cNvSpPr/>
          <p:nvPr/>
        </p:nvSpPr>
        <p:spPr>
          <a:xfrm>
            <a:off x="6400800" y="3749039"/>
            <a:ext cx="1463040" cy="365760"/>
          </a:xfrm>
          <a:prstGeom prst="rect">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46520" y="3749039"/>
            <a:ext cx="1371600" cy="365760"/>
          </a:xfrm>
          <a:prstGeom prst="rect">
            <a:avLst/>
          </a:prstGeom>
          <a:noFill/>
        </p:spPr>
        <p:txBody>
          <a:bodyPr wrap="square">
            <a:spAutoFit/>
          </a:bodyPr>
          <a:lstStyle/>
          <a:p>
            <a:pPr algn="ctr">
              <a:defRPr sz="1300" b="1">
                <a:solidFill>
                  <a:srgbClr val="FFFFFF"/>
                </a:solidFill>
                <a:latin typeface="Calibri"/>
              </a:defRPr>
            </a:pPr>
            <a:r>
              <a:t>Withdrawals</a:t>
            </a:r>
          </a:p>
        </p:txBody>
      </p:sp>
      <p:sp>
        <p:nvSpPr>
          <p:cNvPr id="39" name="TextBox 38"/>
          <p:cNvSpPr txBox="1"/>
          <p:nvPr/>
        </p:nvSpPr>
        <p:spPr>
          <a:xfrm>
            <a:off x="8046720" y="3749039"/>
            <a:ext cx="3657600" cy="365760"/>
          </a:xfrm>
          <a:prstGeom prst="rect">
            <a:avLst/>
          </a:prstGeom>
          <a:noFill/>
        </p:spPr>
        <p:txBody>
          <a:bodyPr wrap="square">
            <a:spAutoFit/>
          </a:bodyPr>
          <a:lstStyle/>
          <a:p>
            <a:pPr algn="l">
              <a:defRPr sz="1300" b="0">
                <a:solidFill>
                  <a:srgbClr val="333333"/>
                </a:solidFill>
                <a:latin typeface="Calibri"/>
              </a:defRPr>
            </a:pPr>
            <a:r>
              <a:t>View / Approve with txn reference</a:t>
            </a:r>
          </a:p>
        </p:txBody>
      </p:sp>
      <p:sp>
        <p:nvSpPr>
          <p:cNvPr id="40" name="Rectangle 39"/>
          <p:cNvSpPr/>
          <p:nvPr/>
        </p:nvSpPr>
        <p:spPr>
          <a:xfrm>
            <a:off x="6400800" y="4251960"/>
            <a:ext cx="1463040" cy="365760"/>
          </a:xfrm>
          <a:prstGeom prst="rect">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46520" y="4251960"/>
            <a:ext cx="1371600" cy="365760"/>
          </a:xfrm>
          <a:prstGeom prst="rect">
            <a:avLst/>
          </a:prstGeom>
          <a:noFill/>
        </p:spPr>
        <p:txBody>
          <a:bodyPr wrap="square">
            <a:spAutoFit/>
          </a:bodyPr>
          <a:lstStyle/>
          <a:p>
            <a:pPr algn="ctr">
              <a:defRPr sz="1300" b="1">
                <a:solidFill>
                  <a:srgbClr val="FFFFFF"/>
                </a:solidFill>
                <a:latin typeface="Calibri"/>
              </a:defRPr>
            </a:pPr>
            <a:r>
              <a:t>Refunds</a:t>
            </a:r>
          </a:p>
        </p:txBody>
      </p:sp>
      <p:sp>
        <p:nvSpPr>
          <p:cNvPr id="42" name="TextBox 41"/>
          <p:cNvSpPr txBox="1"/>
          <p:nvPr/>
        </p:nvSpPr>
        <p:spPr>
          <a:xfrm>
            <a:off x="8046720" y="4251960"/>
            <a:ext cx="3657600" cy="365760"/>
          </a:xfrm>
          <a:prstGeom prst="rect">
            <a:avLst/>
          </a:prstGeom>
          <a:noFill/>
        </p:spPr>
        <p:txBody>
          <a:bodyPr wrap="square">
            <a:spAutoFit/>
          </a:bodyPr>
          <a:lstStyle/>
          <a:p>
            <a:pPr algn="l">
              <a:defRPr sz="1300" b="0">
                <a:solidFill>
                  <a:srgbClr val="333333"/>
                </a:solidFill>
                <a:latin typeface="Calibri"/>
              </a:defRPr>
            </a:pPr>
            <a:r>
              <a:t>View / Approve / Reject + chat</a:t>
            </a:r>
          </a:p>
        </p:txBody>
      </p:sp>
      <p:sp>
        <p:nvSpPr>
          <p:cNvPr id="43" name="Rectangle 42"/>
          <p:cNvSpPr/>
          <p:nvPr/>
        </p:nvSpPr>
        <p:spPr>
          <a:xfrm>
            <a:off x="6400800" y="4754880"/>
            <a:ext cx="1463040" cy="365760"/>
          </a:xfrm>
          <a:prstGeom prst="rect">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46520" y="4754880"/>
            <a:ext cx="1371600" cy="365760"/>
          </a:xfrm>
          <a:prstGeom prst="rect">
            <a:avLst/>
          </a:prstGeom>
          <a:noFill/>
        </p:spPr>
        <p:txBody>
          <a:bodyPr wrap="square">
            <a:spAutoFit/>
          </a:bodyPr>
          <a:lstStyle/>
          <a:p>
            <a:pPr algn="ctr">
              <a:defRPr sz="1300" b="1">
                <a:solidFill>
                  <a:srgbClr val="FFFFFF"/>
                </a:solidFill>
                <a:latin typeface="Calibri"/>
              </a:defRPr>
            </a:pPr>
            <a:r>
              <a:t>Categories</a:t>
            </a:r>
          </a:p>
        </p:txBody>
      </p:sp>
      <p:sp>
        <p:nvSpPr>
          <p:cNvPr id="45" name="TextBox 44"/>
          <p:cNvSpPr txBox="1"/>
          <p:nvPr/>
        </p:nvSpPr>
        <p:spPr>
          <a:xfrm>
            <a:off x="8046720" y="4754880"/>
            <a:ext cx="3657600" cy="365760"/>
          </a:xfrm>
          <a:prstGeom prst="rect">
            <a:avLst/>
          </a:prstGeom>
          <a:noFill/>
        </p:spPr>
        <p:txBody>
          <a:bodyPr wrap="square">
            <a:spAutoFit/>
          </a:bodyPr>
          <a:lstStyle/>
          <a:p>
            <a:pPr algn="l">
              <a:defRPr sz="1300" b="0">
                <a:solidFill>
                  <a:srgbClr val="333333"/>
                </a:solidFill>
                <a:latin typeface="Calibri"/>
              </a:defRPr>
            </a:pPr>
            <a:r>
              <a:t>CRUD: 4 modules x 2 tiers + tags</a:t>
            </a:r>
          </a:p>
        </p:txBody>
      </p:sp>
      <p:sp>
        <p:nvSpPr>
          <p:cNvPr id="46" name="Rectangle 45"/>
          <p:cNvSpPr/>
          <p:nvPr/>
        </p:nvSpPr>
        <p:spPr>
          <a:xfrm>
            <a:off x="6400800" y="5257800"/>
            <a:ext cx="1463040" cy="365760"/>
          </a:xfrm>
          <a:prstGeom prst="rect">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446520" y="5257800"/>
            <a:ext cx="1371600" cy="365760"/>
          </a:xfrm>
          <a:prstGeom prst="rect">
            <a:avLst/>
          </a:prstGeom>
          <a:noFill/>
        </p:spPr>
        <p:txBody>
          <a:bodyPr wrap="square">
            <a:spAutoFit/>
          </a:bodyPr>
          <a:lstStyle/>
          <a:p>
            <a:pPr algn="ctr">
              <a:defRPr sz="1300" b="1">
                <a:solidFill>
                  <a:srgbClr val="FFFFFF"/>
                </a:solidFill>
                <a:latin typeface="Calibri"/>
              </a:defRPr>
            </a:pPr>
            <a:r>
              <a:t>Subscriptions</a:t>
            </a:r>
          </a:p>
        </p:txBody>
      </p:sp>
      <p:sp>
        <p:nvSpPr>
          <p:cNvPr id="48" name="TextBox 47"/>
          <p:cNvSpPr txBox="1"/>
          <p:nvPr/>
        </p:nvSpPr>
        <p:spPr>
          <a:xfrm>
            <a:off x="8046720" y="5257800"/>
            <a:ext cx="3657600" cy="365760"/>
          </a:xfrm>
          <a:prstGeom prst="rect">
            <a:avLst/>
          </a:prstGeom>
          <a:noFill/>
        </p:spPr>
        <p:txBody>
          <a:bodyPr wrap="square">
            <a:spAutoFit/>
          </a:bodyPr>
          <a:lstStyle/>
          <a:p>
            <a:pPr algn="l">
              <a:defRPr sz="1300" b="0">
                <a:solidFill>
                  <a:srgbClr val="333333"/>
                </a:solidFill>
                <a:latin typeface="Calibri"/>
              </a:defRPr>
            </a:pPr>
            <a:r>
              <a:t>Create / Edit plans + pricing</a:t>
            </a:r>
          </a:p>
        </p:txBody>
      </p:sp>
      <p:sp>
        <p:nvSpPr>
          <p:cNvPr id="49" name="TextBox 48"/>
          <p:cNvSpPr txBox="1"/>
          <p:nvPr/>
        </p:nvSpPr>
        <p:spPr>
          <a:xfrm>
            <a:off x="731520" y="5760720"/>
            <a:ext cx="10972800" cy="457200"/>
          </a:xfrm>
          <a:prstGeom prst="rect">
            <a:avLst/>
          </a:prstGeom>
          <a:noFill/>
        </p:spPr>
        <p:txBody>
          <a:bodyPr wrap="square">
            <a:spAutoFit/>
          </a:bodyPr>
          <a:lstStyle/>
          <a:p>
            <a:pPr algn="ctr">
              <a:defRPr sz="1400" b="1">
                <a:solidFill>
                  <a:srgbClr val="868686"/>
                </a:solidFill>
                <a:latin typeface="Calibri"/>
              </a:defRPr>
            </a:pPr>
            <a:r>
              <a:t>Every tab follows the same pattern:  Fetch data on load  →  Display in searchable table  →  Actions via dropdowns/modals  →  API calls  →  Refresh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492240"/>
            <a:ext cx="12191695"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0" y="6537960"/>
            <a:ext cx="640080" cy="274320"/>
          </a:xfrm>
          <a:prstGeom prst="rect">
            <a:avLst/>
          </a:prstGeom>
          <a:noFill/>
        </p:spPr>
        <p:txBody>
          <a:bodyPr wrap="square">
            <a:spAutoFit/>
          </a:bodyPr>
          <a:lstStyle/>
          <a:p>
            <a:pPr algn="r">
              <a:defRPr sz="1100" b="0">
                <a:solidFill>
                  <a:srgbClr val="FFFFFF"/>
                </a:solidFill>
                <a:latin typeface="Calibri"/>
              </a:defRPr>
            </a:pPr>
            <a:r>
              <a:t>10</a:t>
            </a:r>
          </a:p>
        </p:txBody>
      </p:sp>
      <p:sp>
        <p:nvSpPr>
          <p:cNvPr id="4" name="TextBox 3"/>
          <p:cNvSpPr txBox="1"/>
          <p:nvPr/>
        </p:nvSpPr>
        <p:spPr>
          <a:xfrm>
            <a:off x="731520" y="365760"/>
            <a:ext cx="10058400" cy="640080"/>
          </a:xfrm>
          <a:prstGeom prst="rect">
            <a:avLst/>
          </a:prstGeom>
          <a:noFill/>
        </p:spPr>
        <p:txBody>
          <a:bodyPr wrap="square">
            <a:spAutoFit/>
          </a:bodyPr>
          <a:lstStyle/>
          <a:p>
            <a:pPr algn="l">
              <a:defRPr sz="4000" b="1">
                <a:solidFill>
                  <a:srgbClr val="14A898"/>
                </a:solidFill>
                <a:latin typeface="Calibri"/>
              </a:defRPr>
            </a:pPr>
            <a:r>
              <a:t>Revenue Model</a:t>
            </a:r>
          </a:p>
        </p:txBody>
      </p:sp>
      <p:sp>
        <p:nvSpPr>
          <p:cNvPr id="5" name="TextBox 4"/>
          <p:cNvSpPr txBox="1"/>
          <p:nvPr/>
        </p:nvSpPr>
        <p:spPr>
          <a:xfrm>
            <a:off x="731520" y="1005840"/>
            <a:ext cx="10058400" cy="457200"/>
          </a:xfrm>
          <a:prstGeom prst="rect">
            <a:avLst/>
          </a:prstGeom>
          <a:noFill/>
        </p:spPr>
        <p:txBody>
          <a:bodyPr wrap="square">
            <a:spAutoFit/>
          </a:bodyPr>
          <a:lstStyle/>
          <a:p>
            <a:pPr algn="l">
              <a:defRPr sz="2000" b="0">
                <a:solidFill>
                  <a:srgbClr val="868686"/>
                </a:solidFill>
                <a:latin typeface="Calibri"/>
              </a:defRPr>
            </a:pPr>
            <a:r>
              <a:t>Multiple Revenue Streams</a:t>
            </a:r>
          </a:p>
        </p:txBody>
      </p:sp>
      <p:sp>
        <p:nvSpPr>
          <p:cNvPr id="6" name="Rectangle 5"/>
          <p:cNvSpPr/>
          <p:nvPr/>
        </p:nvSpPr>
        <p:spPr>
          <a:xfrm>
            <a:off x="731520" y="1645920"/>
            <a:ext cx="2468880" cy="3200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645920"/>
            <a:ext cx="2468880" cy="50292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64208"/>
            <a:ext cx="2468880" cy="457200"/>
          </a:xfrm>
          <a:prstGeom prst="rect">
            <a:avLst/>
          </a:prstGeom>
          <a:noFill/>
        </p:spPr>
        <p:txBody>
          <a:bodyPr wrap="square">
            <a:spAutoFit/>
          </a:bodyPr>
          <a:lstStyle/>
          <a:p>
            <a:pPr algn="ctr">
              <a:defRPr sz="1800" b="1">
                <a:solidFill>
                  <a:srgbClr val="FFFFFF"/>
                </a:solidFill>
                <a:latin typeface="Calibri"/>
              </a:defRPr>
            </a:pPr>
            <a:r>
              <a:t>STARTER</a:t>
            </a:r>
          </a:p>
        </p:txBody>
      </p:sp>
      <p:sp>
        <p:nvSpPr>
          <p:cNvPr id="9" name="TextBox 8"/>
          <p:cNvSpPr txBox="1"/>
          <p:nvPr/>
        </p:nvSpPr>
        <p:spPr>
          <a:xfrm>
            <a:off x="731520" y="2286000"/>
            <a:ext cx="2468880" cy="457200"/>
          </a:xfrm>
          <a:prstGeom prst="rect">
            <a:avLst/>
          </a:prstGeom>
          <a:noFill/>
        </p:spPr>
        <p:txBody>
          <a:bodyPr wrap="square">
            <a:spAutoFit/>
          </a:bodyPr>
          <a:lstStyle/>
          <a:p>
            <a:pPr algn="ctr">
              <a:defRPr sz="2800" b="1">
                <a:solidFill>
                  <a:srgbClr val="14A898"/>
                </a:solidFill>
                <a:latin typeface="Calibri"/>
              </a:defRPr>
            </a:pPr>
            <a:r>
              <a:t>$2.99/mo</a:t>
            </a:r>
          </a:p>
        </p:txBody>
      </p:sp>
      <p:sp>
        <p:nvSpPr>
          <p:cNvPr id="10" name="TextBox 9"/>
          <p:cNvSpPr txBox="1"/>
          <p:nvPr/>
        </p:nvSpPr>
        <p:spPr>
          <a:xfrm>
            <a:off x="731520" y="2743200"/>
            <a:ext cx="2468880" cy="274320"/>
          </a:xfrm>
          <a:prstGeom prst="rect">
            <a:avLst/>
          </a:prstGeom>
          <a:noFill/>
        </p:spPr>
        <p:txBody>
          <a:bodyPr wrap="square">
            <a:spAutoFit/>
          </a:bodyPr>
          <a:lstStyle/>
          <a:p>
            <a:pPr algn="ctr">
              <a:defRPr sz="1400" b="0">
                <a:solidFill>
                  <a:srgbClr val="868686"/>
                </a:solidFill>
                <a:latin typeface="Calibri"/>
              </a:defRPr>
            </a:pPr>
            <a:r>
              <a:t>$15.99/yr</a:t>
            </a:r>
          </a:p>
        </p:txBody>
      </p:sp>
      <p:sp>
        <p:nvSpPr>
          <p:cNvPr id="11" name="TextBox 10"/>
          <p:cNvSpPr txBox="1"/>
          <p:nvPr/>
        </p:nvSpPr>
        <p:spPr>
          <a:xfrm>
            <a:off x="1005840" y="3200400"/>
            <a:ext cx="1920240" cy="1371600"/>
          </a:xfrm>
          <a:prstGeom prst="rect">
            <a:avLst/>
          </a:prstGeom>
          <a:noFill/>
        </p:spPr>
        <p:txBody>
          <a:bodyPr wrap="square">
            <a:spAutoFit/>
          </a:bodyPr>
          <a:lstStyle/>
          <a:p>
            <a:pPr algn="ctr">
              <a:defRPr sz="1500" b="0">
                <a:solidFill>
                  <a:srgbClr val="333333"/>
                </a:solidFill>
                <a:latin typeface="Calibri"/>
              </a:defRPr>
            </a:pPr>
            <a:r>
              <a:t>2 Courses</a:t>
            </a:r>
            <a:br/>
            <a:r>
              <a:t>2 Products</a:t>
            </a:r>
            <a:br/>
            <a:r>
              <a:t>2 Services</a:t>
            </a:r>
          </a:p>
        </p:txBody>
      </p:sp>
      <p:sp>
        <p:nvSpPr>
          <p:cNvPr id="12" name="Rectangle 11"/>
          <p:cNvSpPr/>
          <p:nvPr/>
        </p:nvSpPr>
        <p:spPr>
          <a:xfrm>
            <a:off x="3474720" y="1645920"/>
            <a:ext cx="2468880" cy="3200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74720" y="1645920"/>
            <a:ext cx="2468880" cy="502920"/>
          </a:xfrm>
          <a:prstGeom prst="rect">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0" y="1664208"/>
            <a:ext cx="2468880" cy="457200"/>
          </a:xfrm>
          <a:prstGeom prst="rect">
            <a:avLst/>
          </a:prstGeom>
          <a:noFill/>
        </p:spPr>
        <p:txBody>
          <a:bodyPr wrap="square">
            <a:spAutoFit/>
          </a:bodyPr>
          <a:lstStyle/>
          <a:p>
            <a:pPr algn="ctr">
              <a:defRPr sz="1800" b="1">
                <a:solidFill>
                  <a:srgbClr val="FFFFFF"/>
                </a:solidFill>
                <a:latin typeface="Calibri"/>
              </a:defRPr>
            </a:pPr>
            <a:r>
              <a:t>BUSINESS</a:t>
            </a:r>
          </a:p>
        </p:txBody>
      </p:sp>
      <p:sp>
        <p:nvSpPr>
          <p:cNvPr id="15" name="TextBox 14"/>
          <p:cNvSpPr txBox="1"/>
          <p:nvPr/>
        </p:nvSpPr>
        <p:spPr>
          <a:xfrm>
            <a:off x="3474720" y="2286000"/>
            <a:ext cx="2468880" cy="457200"/>
          </a:xfrm>
          <a:prstGeom prst="rect">
            <a:avLst/>
          </a:prstGeom>
          <a:noFill/>
        </p:spPr>
        <p:txBody>
          <a:bodyPr wrap="square">
            <a:spAutoFit/>
          </a:bodyPr>
          <a:lstStyle/>
          <a:p>
            <a:pPr algn="ctr">
              <a:defRPr sz="2800" b="1">
                <a:solidFill>
                  <a:srgbClr val="14A898"/>
                </a:solidFill>
                <a:latin typeface="Calibri"/>
              </a:defRPr>
            </a:pPr>
            <a:r>
              <a:t>$3.99/mo</a:t>
            </a:r>
          </a:p>
        </p:txBody>
      </p:sp>
      <p:sp>
        <p:nvSpPr>
          <p:cNvPr id="16" name="TextBox 15"/>
          <p:cNvSpPr txBox="1"/>
          <p:nvPr/>
        </p:nvSpPr>
        <p:spPr>
          <a:xfrm>
            <a:off x="3474720" y="2743200"/>
            <a:ext cx="2468880" cy="274320"/>
          </a:xfrm>
          <a:prstGeom prst="rect">
            <a:avLst/>
          </a:prstGeom>
          <a:noFill/>
        </p:spPr>
        <p:txBody>
          <a:bodyPr wrap="square">
            <a:spAutoFit/>
          </a:bodyPr>
          <a:lstStyle/>
          <a:p>
            <a:pPr algn="ctr">
              <a:defRPr sz="1400" b="0">
                <a:solidFill>
                  <a:srgbClr val="868686"/>
                </a:solidFill>
                <a:latin typeface="Calibri"/>
              </a:defRPr>
            </a:pPr>
            <a:r>
              <a:t>$24.99/yr</a:t>
            </a:r>
          </a:p>
        </p:txBody>
      </p:sp>
      <p:sp>
        <p:nvSpPr>
          <p:cNvPr id="17" name="TextBox 16"/>
          <p:cNvSpPr txBox="1"/>
          <p:nvPr/>
        </p:nvSpPr>
        <p:spPr>
          <a:xfrm>
            <a:off x="3749040" y="3200400"/>
            <a:ext cx="1920240" cy="1371600"/>
          </a:xfrm>
          <a:prstGeom prst="rect">
            <a:avLst/>
          </a:prstGeom>
          <a:noFill/>
        </p:spPr>
        <p:txBody>
          <a:bodyPr wrap="square">
            <a:spAutoFit/>
          </a:bodyPr>
          <a:lstStyle/>
          <a:p>
            <a:pPr algn="ctr">
              <a:defRPr sz="1500" b="0">
                <a:solidFill>
                  <a:srgbClr val="333333"/>
                </a:solidFill>
                <a:latin typeface="Calibri"/>
              </a:defRPr>
            </a:pPr>
            <a:r>
              <a:t>5 Courses</a:t>
            </a:r>
            <a:br/>
            <a:r>
              <a:t>5 Products</a:t>
            </a:r>
            <a:br/>
            <a:r>
              <a:t>5 Services</a:t>
            </a:r>
          </a:p>
        </p:txBody>
      </p:sp>
      <p:sp>
        <p:nvSpPr>
          <p:cNvPr id="18" name="Rectangle 17"/>
          <p:cNvSpPr/>
          <p:nvPr/>
        </p:nvSpPr>
        <p:spPr>
          <a:xfrm>
            <a:off x="6217920" y="1645920"/>
            <a:ext cx="2468880" cy="3200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17920" y="1645920"/>
            <a:ext cx="2468880" cy="50292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17920" y="1664208"/>
            <a:ext cx="2468880" cy="457200"/>
          </a:xfrm>
          <a:prstGeom prst="rect">
            <a:avLst/>
          </a:prstGeom>
          <a:noFill/>
        </p:spPr>
        <p:txBody>
          <a:bodyPr wrap="square">
            <a:spAutoFit/>
          </a:bodyPr>
          <a:lstStyle/>
          <a:p>
            <a:pPr algn="ctr">
              <a:defRPr sz="1800" b="1">
                <a:solidFill>
                  <a:srgbClr val="FFFFFF"/>
                </a:solidFill>
                <a:latin typeface="Calibri"/>
              </a:defRPr>
            </a:pPr>
            <a:r>
              <a:t>SCALE-UP</a:t>
            </a:r>
          </a:p>
        </p:txBody>
      </p:sp>
      <p:sp>
        <p:nvSpPr>
          <p:cNvPr id="21" name="TextBox 20"/>
          <p:cNvSpPr txBox="1"/>
          <p:nvPr/>
        </p:nvSpPr>
        <p:spPr>
          <a:xfrm>
            <a:off x="6217920" y="2286000"/>
            <a:ext cx="2468880" cy="457200"/>
          </a:xfrm>
          <a:prstGeom prst="rect">
            <a:avLst/>
          </a:prstGeom>
          <a:noFill/>
        </p:spPr>
        <p:txBody>
          <a:bodyPr wrap="square">
            <a:spAutoFit/>
          </a:bodyPr>
          <a:lstStyle/>
          <a:p>
            <a:pPr algn="ctr">
              <a:defRPr sz="2800" b="1">
                <a:solidFill>
                  <a:srgbClr val="14A898"/>
                </a:solidFill>
                <a:latin typeface="Calibri"/>
              </a:defRPr>
            </a:pPr>
            <a:r>
              <a:t>$4.99/mo</a:t>
            </a:r>
          </a:p>
        </p:txBody>
      </p:sp>
      <p:sp>
        <p:nvSpPr>
          <p:cNvPr id="22" name="TextBox 21"/>
          <p:cNvSpPr txBox="1"/>
          <p:nvPr/>
        </p:nvSpPr>
        <p:spPr>
          <a:xfrm>
            <a:off x="6217920" y="2743200"/>
            <a:ext cx="2468880" cy="274320"/>
          </a:xfrm>
          <a:prstGeom prst="rect">
            <a:avLst/>
          </a:prstGeom>
          <a:noFill/>
        </p:spPr>
        <p:txBody>
          <a:bodyPr wrap="square">
            <a:spAutoFit/>
          </a:bodyPr>
          <a:lstStyle/>
          <a:p>
            <a:pPr algn="ctr">
              <a:defRPr sz="1400" b="0">
                <a:solidFill>
                  <a:srgbClr val="868686"/>
                </a:solidFill>
                <a:latin typeface="Calibri"/>
              </a:defRPr>
            </a:pPr>
            <a:r>
              <a:t>$36.99/yr</a:t>
            </a:r>
          </a:p>
        </p:txBody>
      </p:sp>
      <p:sp>
        <p:nvSpPr>
          <p:cNvPr id="23" name="TextBox 22"/>
          <p:cNvSpPr txBox="1"/>
          <p:nvPr/>
        </p:nvSpPr>
        <p:spPr>
          <a:xfrm>
            <a:off x="6492240" y="3200400"/>
            <a:ext cx="1920240" cy="1371600"/>
          </a:xfrm>
          <a:prstGeom prst="rect">
            <a:avLst/>
          </a:prstGeom>
          <a:noFill/>
        </p:spPr>
        <p:txBody>
          <a:bodyPr wrap="square">
            <a:spAutoFit/>
          </a:bodyPr>
          <a:lstStyle/>
          <a:p>
            <a:pPr algn="ctr">
              <a:defRPr sz="1500" b="0">
                <a:solidFill>
                  <a:srgbClr val="333333"/>
                </a:solidFill>
                <a:latin typeface="Calibri"/>
              </a:defRPr>
            </a:pPr>
            <a:r>
              <a:t>8 Courses</a:t>
            </a:r>
            <a:br/>
            <a:r>
              <a:t>8 Products</a:t>
            </a:r>
            <a:br/>
            <a:r>
              <a:t>8 Services</a:t>
            </a:r>
          </a:p>
        </p:txBody>
      </p:sp>
      <p:sp>
        <p:nvSpPr>
          <p:cNvPr id="24" name="Rectangle 23"/>
          <p:cNvSpPr/>
          <p:nvPr/>
        </p:nvSpPr>
        <p:spPr>
          <a:xfrm>
            <a:off x="8961120" y="1645920"/>
            <a:ext cx="2743200" cy="137160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961120" y="1783080"/>
            <a:ext cx="2743200" cy="365760"/>
          </a:xfrm>
          <a:prstGeom prst="rect">
            <a:avLst/>
          </a:prstGeom>
          <a:noFill/>
        </p:spPr>
        <p:txBody>
          <a:bodyPr wrap="square">
            <a:spAutoFit/>
          </a:bodyPr>
          <a:lstStyle/>
          <a:p>
            <a:pPr algn="ctr">
              <a:defRPr sz="1600" b="1">
                <a:solidFill>
                  <a:srgbClr val="FFFFFF"/>
                </a:solidFill>
                <a:latin typeface="Calibri"/>
              </a:defRPr>
            </a:pPr>
            <a:r>
              <a:t>TRANSACTION FEE</a:t>
            </a:r>
          </a:p>
        </p:txBody>
      </p:sp>
      <p:sp>
        <p:nvSpPr>
          <p:cNvPr id="26" name="TextBox 25"/>
          <p:cNvSpPr txBox="1"/>
          <p:nvPr/>
        </p:nvSpPr>
        <p:spPr>
          <a:xfrm>
            <a:off x="8961120" y="2194560"/>
            <a:ext cx="2743200" cy="548640"/>
          </a:xfrm>
          <a:prstGeom prst="rect">
            <a:avLst/>
          </a:prstGeom>
          <a:noFill/>
        </p:spPr>
        <p:txBody>
          <a:bodyPr wrap="square">
            <a:spAutoFit/>
          </a:bodyPr>
          <a:lstStyle/>
          <a:p>
            <a:pPr algn="ctr">
              <a:defRPr sz="4800" b="1">
                <a:solidFill>
                  <a:srgbClr val="FFFFFF"/>
                </a:solidFill>
                <a:latin typeface="Calibri"/>
              </a:defRPr>
            </a:pPr>
            <a:r>
              <a:t>5%</a:t>
            </a:r>
          </a:p>
        </p:txBody>
      </p:sp>
      <p:sp>
        <p:nvSpPr>
          <p:cNvPr id="27" name="TextBox 26"/>
          <p:cNvSpPr txBox="1"/>
          <p:nvPr/>
        </p:nvSpPr>
        <p:spPr>
          <a:xfrm>
            <a:off x="8961120" y="3200400"/>
            <a:ext cx="2743200" cy="365760"/>
          </a:xfrm>
          <a:prstGeom prst="rect">
            <a:avLst/>
          </a:prstGeom>
          <a:noFill/>
        </p:spPr>
        <p:txBody>
          <a:bodyPr wrap="square">
            <a:spAutoFit/>
          </a:bodyPr>
          <a:lstStyle/>
          <a:p>
            <a:pPr algn="ctr">
              <a:defRPr sz="1300" b="0">
                <a:solidFill>
                  <a:srgbClr val="868686"/>
                </a:solidFill>
                <a:latin typeface="Calibri"/>
              </a:defRPr>
            </a:pPr>
            <a:r>
              <a:t>on every service sale</a:t>
            </a:r>
          </a:p>
        </p:txBody>
      </p:sp>
      <p:sp>
        <p:nvSpPr>
          <p:cNvPr id="28" name="Rectangle 27"/>
          <p:cNvSpPr/>
          <p:nvPr/>
        </p:nvSpPr>
        <p:spPr>
          <a:xfrm>
            <a:off x="8961120" y="3749039"/>
            <a:ext cx="274320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0" y="3794760"/>
            <a:ext cx="2377440" cy="320040"/>
          </a:xfrm>
          <a:prstGeom prst="rect">
            <a:avLst/>
          </a:prstGeom>
          <a:noFill/>
        </p:spPr>
        <p:txBody>
          <a:bodyPr wrap="square">
            <a:spAutoFit/>
          </a:bodyPr>
          <a:lstStyle/>
          <a:p>
            <a:pPr algn="l">
              <a:defRPr sz="1400" b="1">
                <a:solidFill>
                  <a:srgbClr val="09524A"/>
                </a:solidFill>
                <a:latin typeface="Calibri"/>
              </a:defRPr>
            </a:pPr>
            <a:r>
              <a:t>Future Revenue Streams</a:t>
            </a:r>
          </a:p>
        </p:txBody>
      </p:sp>
      <p:sp>
        <p:nvSpPr>
          <p:cNvPr id="30" name="TextBox 29"/>
          <p:cNvSpPr txBox="1"/>
          <p:nvPr/>
        </p:nvSpPr>
        <p:spPr>
          <a:xfrm>
            <a:off x="9144000" y="4160520"/>
            <a:ext cx="2377440" cy="640080"/>
          </a:xfrm>
          <a:prstGeom prst="rect">
            <a:avLst/>
          </a:prstGeom>
          <a:noFill/>
        </p:spPr>
        <p:txBody>
          <a:bodyPr wrap="square">
            <a:spAutoFit/>
          </a:bodyPr>
          <a:lstStyle/>
          <a:p>
            <a:pPr algn="l">
              <a:defRPr sz="1300" b="0">
                <a:solidFill>
                  <a:srgbClr val="333333"/>
                </a:solidFill>
                <a:latin typeface="Calibri"/>
              </a:defRPr>
            </a:pPr>
            <a:r>
              <a:t>• Featured listings</a:t>
            </a:r>
            <a:br/>
            <a:r>
              <a:t>• Premium messaging</a:t>
            </a:r>
            <a:br/>
            <a:r>
              <a:t>• Enterprise licensing</a:t>
            </a:r>
          </a:p>
        </p:txBody>
      </p:sp>
      <p:sp>
        <p:nvSpPr>
          <p:cNvPr id="31" name="TextBox 30"/>
          <p:cNvSpPr txBox="1"/>
          <p:nvPr/>
        </p:nvSpPr>
        <p:spPr>
          <a:xfrm>
            <a:off x="731520" y="5120640"/>
            <a:ext cx="10972800" cy="457200"/>
          </a:xfrm>
          <a:prstGeom prst="rect">
            <a:avLst/>
          </a:prstGeom>
          <a:noFill/>
        </p:spPr>
        <p:txBody>
          <a:bodyPr wrap="square">
            <a:spAutoFit/>
          </a:bodyPr>
          <a:lstStyle/>
          <a:p>
            <a:pPr algn="ctr">
              <a:defRPr sz="1800" b="1">
                <a:solidFill>
                  <a:srgbClr val="14A898"/>
                </a:solidFill>
                <a:latin typeface="Calibri"/>
              </a:defRPr>
            </a:pPr>
            <a:r>
              <a:rPr dirty="0"/>
              <a:t>Fee Comparison:   SMAC 5%   </a:t>
            </a:r>
            <a:r>
              <a:rPr dirty="0" err="1"/>
              <a:t>vs</a:t>
            </a:r>
            <a:r>
              <a:rPr dirty="0"/>
              <a:t>   </a:t>
            </a:r>
            <a:r>
              <a:rPr dirty="0" err="1"/>
              <a:t>Udemy</a:t>
            </a:r>
            <a:r>
              <a:rPr dirty="0"/>
              <a:t> 37%   </a:t>
            </a:r>
            <a:r>
              <a:rPr dirty="0" err="1"/>
              <a:t>vs</a:t>
            </a:r>
            <a:r>
              <a:rPr dirty="0"/>
              <a:t>   Fiverr 5.5-20%   </a:t>
            </a:r>
            <a:r>
              <a:rPr dirty="0" err="1"/>
              <a:t>vs</a:t>
            </a:r>
            <a:r>
              <a:rPr dirty="0"/>
              <a:t>   </a:t>
            </a:r>
            <a:r>
              <a:rPr dirty="0" err="1"/>
              <a:t>Upwork</a:t>
            </a:r>
            <a:r>
              <a:rPr dirty="0"/>
              <a:t> 5-20%</a:t>
            </a:r>
          </a:p>
        </p:txBody>
      </p:sp>
      <p:sp>
        <p:nvSpPr>
          <p:cNvPr id="32" name="TextBox 31"/>
          <p:cNvSpPr txBox="1"/>
          <p:nvPr/>
        </p:nvSpPr>
        <p:spPr>
          <a:xfrm>
            <a:off x="731520" y="5669280"/>
            <a:ext cx="10972800" cy="457200"/>
          </a:xfrm>
          <a:prstGeom prst="rect">
            <a:avLst/>
          </a:prstGeom>
          <a:noFill/>
        </p:spPr>
        <p:txBody>
          <a:bodyPr wrap="square">
            <a:spAutoFit/>
          </a:bodyPr>
          <a:lstStyle/>
          <a:p>
            <a:pPr algn="ctr">
              <a:defRPr sz="1600" b="0">
                <a:solidFill>
                  <a:srgbClr val="868686"/>
                </a:solidFill>
                <a:latin typeface="Calibri"/>
              </a:defRPr>
            </a:pPr>
            <a:r>
              <a:t>Local PKR Pricing:  Basic PKR 300  |  Regular PKR 500  |  Enterprise PKR 1,000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492240"/>
            <a:ext cx="12191695"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0" y="6537960"/>
            <a:ext cx="640080" cy="274320"/>
          </a:xfrm>
          <a:prstGeom prst="rect">
            <a:avLst/>
          </a:prstGeom>
          <a:noFill/>
        </p:spPr>
        <p:txBody>
          <a:bodyPr wrap="square">
            <a:spAutoFit/>
          </a:bodyPr>
          <a:lstStyle/>
          <a:p>
            <a:pPr algn="r">
              <a:defRPr sz="1100" b="0">
                <a:solidFill>
                  <a:srgbClr val="FFFFFF"/>
                </a:solidFill>
                <a:latin typeface="Calibri"/>
              </a:defRPr>
            </a:pPr>
            <a:r>
              <a:t>11</a:t>
            </a:r>
          </a:p>
        </p:txBody>
      </p:sp>
      <p:sp>
        <p:nvSpPr>
          <p:cNvPr id="4" name="TextBox 3"/>
          <p:cNvSpPr txBox="1"/>
          <p:nvPr/>
        </p:nvSpPr>
        <p:spPr>
          <a:xfrm>
            <a:off x="731520" y="365760"/>
            <a:ext cx="10058400" cy="640080"/>
          </a:xfrm>
          <a:prstGeom prst="rect">
            <a:avLst/>
          </a:prstGeom>
          <a:noFill/>
        </p:spPr>
        <p:txBody>
          <a:bodyPr wrap="square">
            <a:spAutoFit/>
          </a:bodyPr>
          <a:lstStyle/>
          <a:p>
            <a:pPr algn="l">
              <a:defRPr sz="4000" b="1">
                <a:solidFill>
                  <a:srgbClr val="14A898"/>
                </a:solidFill>
                <a:latin typeface="Calibri"/>
              </a:defRPr>
            </a:pPr>
            <a:r>
              <a:t>Authentication &amp; Security</a:t>
            </a: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09524A"/>
                </a:solidFill>
                <a:latin typeface="Calibri"/>
              </a:defRPr>
            </a:pPr>
            <a:r>
              <a:t>Authentication Methods</a:t>
            </a:r>
          </a:p>
        </p:txBody>
      </p:sp>
      <p:sp>
        <p:nvSpPr>
          <p:cNvPr id="6" name="TextBox 5"/>
          <p:cNvSpPr txBox="1"/>
          <p:nvPr/>
        </p:nvSpPr>
        <p:spPr>
          <a:xfrm>
            <a:off x="731520" y="1737360"/>
            <a:ext cx="5029200" cy="365760"/>
          </a:xfrm>
          <a:prstGeom prst="rect">
            <a:avLst/>
          </a:prstGeom>
          <a:noFill/>
        </p:spPr>
        <p:txBody>
          <a:bodyPr wrap="square">
            <a:spAutoFit/>
          </a:bodyPr>
          <a:lstStyle/>
          <a:p>
            <a:pPr algn="l">
              <a:defRPr sz="1500" b="0">
                <a:solidFill>
                  <a:srgbClr val="333333"/>
                </a:solidFill>
                <a:latin typeface="Calibri"/>
              </a:defRPr>
            </a:pPr>
            <a:r>
              <a:t>✓  Email + Password sign-in/sign-up</a:t>
            </a:r>
          </a:p>
        </p:txBody>
      </p:sp>
      <p:sp>
        <p:nvSpPr>
          <p:cNvPr id="7" name="TextBox 6"/>
          <p:cNvSpPr txBox="1"/>
          <p:nvPr/>
        </p:nvSpPr>
        <p:spPr>
          <a:xfrm>
            <a:off x="731520" y="2148840"/>
            <a:ext cx="5029200" cy="365760"/>
          </a:xfrm>
          <a:prstGeom prst="rect">
            <a:avLst/>
          </a:prstGeom>
          <a:noFill/>
        </p:spPr>
        <p:txBody>
          <a:bodyPr wrap="square">
            <a:spAutoFit/>
          </a:bodyPr>
          <a:lstStyle/>
          <a:p>
            <a:pPr algn="l">
              <a:defRPr sz="1500" b="0">
                <a:solidFill>
                  <a:srgbClr val="333333"/>
                </a:solidFill>
                <a:latin typeface="Calibri"/>
              </a:defRPr>
            </a:pPr>
            <a:r>
              <a:t>✓  Google OAuth 2.0 (one-click)</a:t>
            </a:r>
          </a:p>
        </p:txBody>
      </p:sp>
      <p:sp>
        <p:nvSpPr>
          <p:cNvPr id="8" name="TextBox 7"/>
          <p:cNvSpPr txBox="1"/>
          <p:nvPr/>
        </p:nvSpPr>
        <p:spPr>
          <a:xfrm>
            <a:off x="731520" y="2560320"/>
            <a:ext cx="5029200" cy="365760"/>
          </a:xfrm>
          <a:prstGeom prst="rect">
            <a:avLst/>
          </a:prstGeom>
          <a:noFill/>
        </p:spPr>
        <p:txBody>
          <a:bodyPr wrap="square">
            <a:spAutoFit/>
          </a:bodyPr>
          <a:lstStyle/>
          <a:p>
            <a:pPr algn="l">
              <a:defRPr sz="1500" b="0">
                <a:solidFill>
                  <a:srgbClr val="333333"/>
                </a:solidFill>
                <a:latin typeface="Calibri"/>
              </a:defRPr>
            </a:pPr>
            <a:r>
              <a:t>✓  JWT token-based sessions</a:t>
            </a:r>
          </a:p>
        </p:txBody>
      </p:sp>
      <p:sp>
        <p:nvSpPr>
          <p:cNvPr id="9" name="TextBox 8"/>
          <p:cNvSpPr txBox="1"/>
          <p:nvPr/>
        </p:nvSpPr>
        <p:spPr>
          <a:xfrm>
            <a:off x="731520" y="2971800"/>
            <a:ext cx="5029200" cy="365760"/>
          </a:xfrm>
          <a:prstGeom prst="rect">
            <a:avLst/>
          </a:prstGeom>
          <a:noFill/>
        </p:spPr>
        <p:txBody>
          <a:bodyPr wrap="square">
            <a:spAutoFit/>
          </a:bodyPr>
          <a:lstStyle/>
          <a:p>
            <a:pPr algn="l">
              <a:defRPr sz="1500" b="0">
                <a:solidFill>
                  <a:srgbClr val="333333"/>
                </a:solidFill>
                <a:latin typeface="Calibri"/>
              </a:defRPr>
            </a:pPr>
            <a:r>
              <a:t>✓  Email verification for activation</a:t>
            </a:r>
          </a:p>
        </p:txBody>
      </p:sp>
      <p:sp>
        <p:nvSpPr>
          <p:cNvPr id="10" name="TextBox 9"/>
          <p:cNvSpPr txBox="1"/>
          <p:nvPr/>
        </p:nvSpPr>
        <p:spPr>
          <a:xfrm>
            <a:off x="731520" y="3383280"/>
            <a:ext cx="5029200" cy="365760"/>
          </a:xfrm>
          <a:prstGeom prst="rect">
            <a:avLst/>
          </a:prstGeom>
          <a:noFill/>
        </p:spPr>
        <p:txBody>
          <a:bodyPr wrap="square">
            <a:spAutoFit/>
          </a:bodyPr>
          <a:lstStyle/>
          <a:p>
            <a:pPr algn="l">
              <a:defRPr sz="1500" b="0">
                <a:solidFill>
                  <a:srgbClr val="333333"/>
                </a:solidFill>
                <a:latin typeface="Calibri"/>
              </a:defRPr>
            </a:pPr>
            <a:r>
              <a:t>✓  Forgot / Reset password via email link</a:t>
            </a:r>
          </a:p>
        </p:txBody>
      </p:sp>
      <p:sp>
        <p:nvSpPr>
          <p:cNvPr id="11" name="TextBox 10"/>
          <p:cNvSpPr txBox="1"/>
          <p:nvPr/>
        </p:nvSpPr>
        <p:spPr>
          <a:xfrm>
            <a:off x="731520" y="3794760"/>
            <a:ext cx="5029200" cy="365760"/>
          </a:xfrm>
          <a:prstGeom prst="rect">
            <a:avLst/>
          </a:prstGeom>
          <a:noFill/>
        </p:spPr>
        <p:txBody>
          <a:bodyPr wrap="square">
            <a:spAutoFit/>
          </a:bodyPr>
          <a:lstStyle/>
          <a:p>
            <a:pPr algn="l">
              <a:defRPr sz="1500" b="0">
                <a:solidFill>
                  <a:srgbClr val="333333"/>
                </a:solidFill>
                <a:latin typeface="Calibri"/>
              </a:defRPr>
            </a:pPr>
            <a:r>
              <a:t>✓  Auto-logout on expired tokens (401)</a:t>
            </a:r>
          </a:p>
        </p:txBody>
      </p:sp>
      <p:sp>
        <p:nvSpPr>
          <p:cNvPr id="12" name="TextBox 11"/>
          <p:cNvSpPr txBox="1"/>
          <p:nvPr/>
        </p:nvSpPr>
        <p:spPr>
          <a:xfrm>
            <a:off x="731520" y="4206240"/>
            <a:ext cx="5029200" cy="365760"/>
          </a:xfrm>
          <a:prstGeom prst="rect">
            <a:avLst/>
          </a:prstGeom>
          <a:noFill/>
        </p:spPr>
        <p:txBody>
          <a:bodyPr wrap="square">
            <a:spAutoFit/>
          </a:bodyPr>
          <a:lstStyle/>
          <a:p>
            <a:pPr algn="l">
              <a:defRPr sz="1500" b="0">
                <a:solidFill>
                  <a:srgbClr val="333333"/>
                </a:solidFill>
                <a:latin typeface="Calibri"/>
              </a:defRPr>
            </a:pPr>
            <a:r>
              <a:t>✓  Token persisted via Redux Persist</a:t>
            </a:r>
          </a:p>
        </p:txBody>
      </p:sp>
      <p:sp>
        <p:nvSpPr>
          <p:cNvPr id="13" name="TextBox 12"/>
          <p:cNvSpPr txBox="1"/>
          <p:nvPr/>
        </p:nvSpPr>
        <p:spPr>
          <a:xfrm>
            <a:off x="731520" y="4617720"/>
            <a:ext cx="5029200" cy="365760"/>
          </a:xfrm>
          <a:prstGeom prst="rect">
            <a:avLst/>
          </a:prstGeom>
          <a:noFill/>
        </p:spPr>
        <p:txBody>
          <a:bodyPr wrap="square">
            <a:spAutoFit/>
          </a:bodyPr>
          <a:lstStyle/>
          <a:p>
            <a:pPr algn="l">
              <a:defRPr sz="1500" b="0">
                <a:solidFill>
                  <a:srgbClr val="333333"/>
                </a:solidFill>
                <a:latin typeface="Calibri"/>
              </a:defRPr>
            </a:pPr>
            <a:r>
              <a:t>✓  Socket.IO authenticated with JWT</a:t>
            </a:r>
          </a:p>
        </p:txBody>
      </p:sp>
      <p:sp>
        <p:nvSpPr>
          <p:cNvPr id="14" name="TextBox 13"/>
          <p:cNvSpPr txBox="1"/>
          <p:nvPr/>
        </p:nvSpPr>
        <p:spPr>
          <a:xfrm>
            <a:off x="6400800" y="1188720"/>
            <a:ext cx="5029200" cy="457200"/>
          </a:xfrm>
          <a:prstGeom prst="rect">
            <a:avLst/>
          </a:prstGeom>
          <a:noFill/>
        </p:spPr>
        <p:txBody>
          <a:bodyPr wrap="square">
            <a:spAutoFit/>
          </a:bodyPr>
          <a:lstStyle/>
          <a:p>
            <a:pPr algn="l">
              <a:defRPr sz="2000" b="1">
                <a:solidFill>
                  <a:srgbClr val="09524A"/>
                </a:solidFill>
                <a:latin typeface="Calibri"/>
              </a:defRPr>
            </a:pPr>
            <a:r>
              <a:t>Route Protection</a:t>
            </a:r>
          </a:p>
        </p:txBody>
      </p:sp>
      <p:sp>
        <p:nvSpPr>
          <p:cNvPr id="15" name="Rectangle 14"/>
          <p:cNvSpPr/>
          <p:nvPr/>
        </p:nvSpPr>
        <p:spPr>
          <a:xfrm>
            <a:off x="6400800" y="1737360"/>
            <a:ext cx="1645920"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46520" y="1737360"/>
            <a:ext cx="1554480" cy="365760"/>
          </a:xfrm>
          <a:prstGeom prst="rect">
            <a:avLst/>
          </a:prstGeom>
          <a:noFill/>
        </p:spPr>
        <p:txBody>
          <a:bodyPr wrap="square">
            <a:spAutoFit/>
          </a:bodyPr>
          <a:lstStyle/>
          <a:p>
            <a:pPr algn="ctr">
              <a:defRPr sz="1300" b="1">
                <a:solidFill>
                  <a:srgbClr val="FFFFFF"/>
                </a:solidFill>
                <a:latin typeface="Calibri"/>
              </a:defRPr>
            </a:pPr>
            <a:r>
              <a:t>Public</a:t>
            </a:r>
          </a:p>
        </p:txBody>
      </p:sp>
      <p:sp>
        <p:nvSpPr>
          <p:cNvPr id="17" name="TextBox 16"/>
          <p:cNvSpPr txBox="1"/>
          <p:nvPr/>
        </p:nvSpPr>
        <p:spPr>
          <a:xfrm>
            <a:off x="8229600" y="1737360"/>
            <a:ext cx="3657600" cy="365760"/>
          </a:xfrm>
          <a:prstGeom prst="rect">
            <a:avLst/>
          </a:prstGeom>
          <a:noFill/>
        </p:spPr>
        <p:txBody>
          <a:bodyPr wrap="square">
            <a:spAutoFit/>
          </a:bodyPr>
          <a:lstStyle/>
          <a:p>
            <a:pPr algn="l">
              <a:defRPr sz="1200" b="0">
                <a:solidFill>
                  <a:srgbClr val="868686"/>
                </a:solidFill>
                <a:latin typeface="Calibri"/>
              </a:defRPr>
            </a:pPr>
            <a:r>
              <a:t>/signin, /signup, /about-us, /blogs</a:t>
            </a:r>
          </a:p>
        </p:txBody>
      </p:sp>
      <p:sp>
        <p:nvSpPr>
          <p:cNvPr id="18" name="TextBox 17"/>
          <p:cNvSpPr txBox="1"/>
          <p:nvPr/>
        </p:nvSpPr>
        <p:spPr>
          <a:xfrm>
            <a:off x="8229600" y="2057400"/>
            <a:ext cx="3657600" cy="274320"/>
          </a:xfrm>
          <a:prstGeom prst="rect">
            <a:avLst/>
          </a:prstGeom>
          <a:noFill/>
        </p:spPr>
        <p:txBody>
          <a:bodyPr wrap="square">
            <a:spAutoFit/>
          </a:bodyPr>
          <a:lstStyle/>
          <a:p>
            <a:pPr algn="l">
              <a:defRPr sz="1200" b="0">
                <a:solidFill>
                  <a:srgbClr val="333333"/>
                </a:solidFill>
                <a:latin typeface="Calibri"/>
              </a:defRPr>
            </a:pPr>
            <a:r>
              <a:t>• Anyone can access</a:t>
            </a:r>
          </a:p>
        </p:txBody>
      </p:sp>
      <p:sp>
        <p:nvSpPr>
          <p:cNvPr id="19" name="Rectangle 18"/>
          <p:cNvSpPr/>
          <p:nvPr/>
        </p:nvSpPr>
        <p:spPr>
          <a:xfrm>
            <a:off x="6400800" y="2926080"/>
            <a:ext cx="1645920"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46520" y="2926080"/>
            <a:ext cx="1554480" cy="365760"/>
          </a:xfrm>
          <a:prstGeom prst="rect">
            <a:avLst/>
          </a:prstGeom>
          <a:noFill/>
        </p:spPr>
        <p:txBody>
          <a:bodyPr wrap="square">
            <a:spAutoFit/>
          </a:bodyPr>
          <a:lstStyle/>
          <a:p>
            <a:pPr algn="ctr">
              <a:defRPr sz="1300" b="1">
                <a:solidFill>
                  <a:srgbClr val="FFFFFF"/>
                </a:solidFill>
                <a:latin typeface="Calibri"/>
              </a:defRPr>
            </a:pPr>
            <a:r>
              <a:t>Authenticated</a:t>
            </a:r>
          </a:p>
        </p:txBody>
      </p:sp>
      <p:sp>
        <p:nvSpPr>
          <p:cNvPr id="21" name="TextBox 20"/>
          <p:cNvSpPr txBox="1"/>
          <p:nvPr/>
        </p:nvSpPr>
        <p:spPr>
          <a:xfrm>
            <a:off x="8229600" y="2926080"/>
            <a:ext cx="3657600" cy="365760"/>
          </a:xfrm>
          <a:prstGeom prst="rect">
            <a:avLst/>
          </a:prstGeom>
          <a:noFill/>
        </p:spPr>
        <p:txBody>
          <a:bodyPr wrap="square">
            <a:spAutoFit/>
          </a:bodyPr>
          <a:lstStyle/>
          <a:p>
            <a:pPr algn="l">
              <a:defRPr sz="1200" b="0">
                <a:solidFill>
                  <a:srgbClr val="868686"/>
                </a:solidFill>
                <a:latin typeface="Calibri"/>
              </a:defRPr>
            </a:pPr>
            <a:r>
              <a:t>/feed, /messaging, /courses, /market</a:t>
            </a:r>
          </a:p>
        </p:txBody>
      </p:sp>
      <p:sp>
        <p:nvSpPr>
          <p:cNvPr id="22" name="TextBox 21"/>
          <p:cNvSpPr txBox="1"/>
          <p:nvPr/>
        </p:nvSpPr>
        <p:spPr>
          <a:xfrm>
            <a:off x="8229600" y="3246120"/>
            <a:ext cx="3657600" cy="274320"/>
          </a:xfrm>
          <a:prstGeom prst="rect">
            <a:avLst/>
          </a:prstGeom>
          <a:noFill/>
        </p:spPr>
        <p:txBody>
          <a:bodyPr wrap="square">
            <a:spAutoFit/>
          </a:bodyPr>
          <a:lstStyle/>
          <a:p>
            <a:pPr algn="l">
              <a:defRPr sz="1200" b="0">
                <a:solidFill>
                  <a:srgbClr val="333333"/>
                </a:solidFill>
                <a:latin typeface="Calibri"/>
              </a:defRPr>
            </a:pPr>
            <a:r>
              <a:t>• Login required</a:t>
            </a:r>
          </a:p>
        </p:txBody>
      </p:sp>
      <p:sp>
        <p:nvSpPr>
          <p:cNvPr id="23" name="Rectangle 22"/>
          <p:cNvSpPr/>
          <p:nvPr/>
        </p:nvSpPr>
        <p:spPr>
          <a:xfrm>
            <a:off x="6400800" y="4114800"/>
            <a:ext cx="1645920" cy="365760"/>
          </a:xfrm>
          <a:prstGeom prst="rect">
            <a:avLst/>
          </a:prstGeom>
          <a:solidFill>
            <a:srgbClr val="FF3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46520" y="4114800"/>
            <a:ext cx="1554480" cy="365760"/>
          </a:xfrm>
          <a:prstGeom prst="rect">
            <a:avLst/>
          </a:prstGeom>
          <a:noFill/>
        </p:spPr>
        <p:txBody>
          <a:bodyPr wrap="square">
            <a:spAutoFit/>
          </a:bodyPr>
          <a:lstStyle/>
          <a:p>
            <a:pPr algn="ctr">
              <a:defRPr sz="1300" b="1">
                <a:solidFill>
                  <a:srgbClr val="FFFFFF"/>
                </a:solidFill>
                <a:latin typeface="Calibri"/>
              </a:defRPr>
            </a:pPr>
            <a:r>
              <a:t>Admin Only</a:t>
            </a:r>
          </a:p>
        </p:txBody>
      </p:sp>
      <p:sp>
        <p:nvSpPr>
          <p:cNvPr id="25" name="TextBox 24"/>
          <p:cNvSpPr txBox="1"/>
          <p:nvPr/>
        </p:nvSpPr>
        <p:spPr>
          <a:xfrm>
            <a:off x="8229600" y="4114800"/>
            <a:ext cx="3657600" cy="365760"/>
          </a:xfrm>
          <a:prstGeom prst="rect">
            <a:avLst/>
          </a:prstGeom>
          <a:noFill/>
        </p:spPr>
        <p:txBody>
          <a:bodyPr wrap="square">
            <a:spAutoFit/>
          </a:bodyPr>
          <a:lstStyle/>
          <a:p>
            <a:pPr algn="l">
              <a:defRPr sz="1200" b="0">
                <a:solidFill>
                  <a:srgbClr val="868686"/>
                </a:solidFill>
                <a:latin typeface="Calibri"/>
              </a:defRPr>
            </a:pPr>
            <a:r>
              <a:t>/admin/dashboard</a:t>
            </a:r>
          </a:p>
        </p:txBody>
      </p:sp>
      <p:sp>
        <p:nvSpPr>
          <p:cNvPr id="26" name="TextBox 25"/>
          <p:cNvSpPr txBox="1"/>
          <p:nvPr/>
        </p:nvSpPr>
        <p:spPr>
          <a:xfrm>
            <a:off x="8229600" y="4434840"/>
            <a:ext cx="3657600" cy="274320"/>
          </a:xfrm>
          <a:prstGeom prst="rect">
            <a:avLst/>
          </a:prstGeom>
          <a:noFill/>
        </p:spPr>
        <p:txBody>
          <a:bodyPr wrap="square">
            <a:spAutoFit/>
          </a:bodyPr>
          <a:lstStyle/>
          <a:p>
            <a:pPr algn="l">
              <a:defRPr sz="1200" b="0">
                <a:solidFill>
                  <a:srgbClr val="333333"/>
                </a:solidFill>
                <a:latin typeface="Calibri"/>
              </a:defRPr>
            </a:pPr>
            <a:r>
              <a:t>• Admin role required</a:t>
            </a:r>
          </a:p>
        </p:txBody>
      </p:sp>
      <p:sp>
        <p:nvSpPr>
          <p:cNvPr id="27" name="TextBox 26"/>
          <p:cNvSpPr txBox="1"/>
          <p:nvPr/>
        </p:nvSpPr>
        <p:spPr>
          <a:xfrm>
            <a:off x="6400800" y="4846320"/>
            <a:ext cx="5029200" cy="365760"/>
          </a:xfrm>
          <a:prstGeom prst="rect">
            <a:avLst/>
          </a:prstGeom>
          <a:noFill/>
        </p:spPr>
        <p:txBody>
          <a:bodyPr wrap="square">
            <a:spAutoFit/>
          </a:bodyPr>
          <a:lstStyle/>
          <a:p>
            <a:pPr algn="l">
              <a:defRPr sz="1800" b="1">
                <a:solidFill>
                  <a:srgbClr val="09524A"/>
                </a:solidFill>
                <a:latin typeface="Calibri"/>
              </a:defRPr>
            </a:pPr>
            <a:r>
              <a:t>Password Security Rules</a:t>
            </a:r>
          </a:p>
        </p:txBody>
      </p:sp>
      <p:sp>
        <p:nvSpPr>
          <p:cNvPr id="28" name="TextBox 27"/>
          <p:cNvSpPr txBox="1"/>
          <p:nvPr/>
        </p:nvSpPr>
        <p:spPr>
          <a:xfrm>
            <a:off x="6400800" y="5257800"/>
            <a:ext cx="5029200" cy="822960"/>
          </a:xfrm>
          <a:prstGeom prst="rect">
            <a:avLst/>
          </a:prstGeom>
          <a:noFill/>
        </p:spPr>
        <p:txBody>
          <a:bodyPr wrap="square">
            <a:spAutoFit/>
          </a:bodyPr>
          <a:lstStyle/>
          <a:p>
            <a:pPr algn="l">
              <a:defRPr sz="1400" b="0">
                <a:solidFill>
                  <a:srgbClr val="333333"/>
                </a:solidFill>
                <a:latin typeface="Calibri"/>
              </a:defRPr>
            </a:pPr>
            <a:r>
              <a:t>8-16 characters | Uppercase letter required</a:t>
            </a:r>
            <a:br/>
            <a:r>
              <a:t>Number required | Special character (!@#$%^&amp;*.) required</a:t>
            </a:r>
            <a:br/>
            <a:r>
              <a:t>Confirm password matching on reset &amp; change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492240"/>
            <a:ext cx="12191695"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0" y="6537960"/>
            <a:ext cx="640080" cy="274320"/>
          </a:xfrm>
          <a:prstGeom prst="rect">
            <a:avLst/>
          </a:prstGeom>
          <a:noFill/>
        </p:spPr>
        <p:txBody>
          <a:bodyPr wrap="square">
            <a:spAutoFit/>
          </a:bodyPr>
          <a:lstStyle/>
          <a:p>
            <a:pPr algn="r">
              <a:defRPr sz="1100" b="0">
                <a:solidFill>
                  <a:srgbClr val="FFFFFF"/>
                </a:solidFill>
                <a:latin typeface="Calibri"/>
              </a:defRPr>
            </a:pPr>
            <a:r>
              <a:t>12</a:t>
            </a:r>
          </a:p>
        </p:txBody>
      </p:sp>
      <p:sp>
        <p:nvSpPr>
          <p:cNvPr id="4" name="TextBox 3"/>
          <p:cNvSpPr txBox="1"/>
          <p:nvPr/>
        </p:nvSpPr>
        <p:spPr>
          <a:xfrm>
            <a:off x="731520" y="365760"/>
            <a:ext cx="10058400" cy="640080"/>
          </a:xfrm>
          <a:prstGeom prst="rect">
            <a:avLst/>
          </a:prstGeom>
          <a:noFill/>
        </p:spPr>
        <p:txBody>
          <a:bodyPr wrap="square">
            <a:spAutoFit/>
          </a:bodyPr>
          <a:lstStyle/>
          <a:p>
            <a:pPr algn="l">
              <a:defRPr sz="4000" b="1">
                <a:solidFill>
                  <a:srgbClr val="14A898"/>
                </a:solidFill>
                <a:latin typeface="Calibri"/>
              </a:defRPr>
            </a:pPr>
            <a:r>
              <a:t>Technology Architecture</a:t>
            </a:r>
          </a:p>
        </p:txBody>
      </p:sp>
      <p:sp>
        <p:nvSpPr>
          <p:cNvPr id="5" name="Rectangle 4"/>
          <p:cNvSpPr/>
          <p:nvPr/>
        </p:nvSpPr>
        <p:spPr>
          <a:xfrm>
            <a:off x="457200" y="1371600"/>
            <a:ext cx="2468880" cy="1371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463040"/>
            <a:ext cx="2194560" cy="365760"/>
          </a:xfrm>
          <a:prstGeom prst="rect">
            <a:avLst/>
          </a:prstGeom>
          <a:noFill/>
        </p:spPr>
        <p:txBody>
          <a:bodyPr wrap="square">
            <a:spAutoFit/>
          </a:bodyPr>
          <a:lstStyle/>
          <a:p>
            <a:pPr algn="l">
              <a:defRPr sz="1600" b="1">
                <a:solidFill>
                  <a:srgbClr val="14A898"/>
                </a:solidFill>
                <a:latin typeface="Calibri"/>
              </a:defRPr>
            </a:pPr>
            <a:r>
              <a:t>React 18 SPA</a:t>
            </a:r>
          </a:p>
        </p:txBody>
      </p:sp>
      <p:sp>
        <p:nvSpPr>
          <p:cNvPr id="7" name="TextBox 6"/>
          <p:cNvSpPr txBox="1"/>
          <p:nvPr/>
        </p:nvSpPr>
        <p:spPr>
          <a:xfrm>
            <a:off x="594360" y="1874520"/>
            <a:ext cx="2194560" cy="731520"/>
          </a:xfrm>
          <a:prstGeom prst="rect">
            <a:avLst/>
          </a:prstGeom>
          <a:noFill/>
        </p:spPr>
        <p:txBody>
          <a:bodyPr wrap="square">
            <a:spAutoFit/>
          </a:bodyPr>
          <a:lstStyle/>
          <a:p>
            <a:pPr algn="l">
              <a:defRPr sz="1300" b="0">
                <a:solidFill>
                  <a:srgbClr val="333333"/>
                </a:solidFill>
                <a:latin typeface="Calibri"/>
              </a:defRPr>
            </a:pPr>
            <a:r>
              <a:t>Functional components</a:t>
            </a:r>
            <a:br/>
            <a:r>
              <a:t>&amp; hooks architecture</a:t>
            </a:r>
          </a:p>
        </p:txBody>
      </p:sp>
      <p:sp>
        <p:nvSpPr>
          <p:cNvPr id="8" name="Rectangle 7"/>
          <p:cNvSpPr/>
          <p:nvPr/>
        </p:nvSpPr>
        <p:spPr>
          <a:xfrm>
            <a:off x="3200400" y="1371600"/>
            <a:ext cx="2468880" cy="1371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37560" y="1463040"/>
            <a:ext cx="2194560" cy="365760"/>
          </a:xfrm>
          <a:prstGeom prst="rect">
            <a:avLst/>
          </a:prstGeom>
          <a:noFill/>
        </p:spPr>
        <p:txBody>
          <a:bodyPr wrap="square">
            <a:spAutoFit/>
          </a:bodyPr>
          <a:lstStyle/>
          <a:p>
            <a:pPr algn="l">
              <a:defRPr sz="1600" b="1">
                <a:solidFill>
                  <a:srgbClr val="14A898"/>
                </a:solidFill>
                <a:latin typeface="Calibri"/>
              </a:defRPr>
            </a:pPr>
            <a:r>
              <a:t>Redux Toolkit</a:t>
            </a:r>
          </a:p>
        </p:txBody>
      </p:sp>
      <p:sp>
        <p:nvSpPr>
          <p:cNvPr id="10" name="TextBox 9"/>
          <p:cNvSpPr txBox="1"/>
          <p:nvPr/>
        </p:nvSpPr>
        <p:spPr>
          <a:xfrm>
            <a:off x="3337560" y="1874520"/>
            <a:ext cx="2194560" cy="731520"/>
          </a:xfrm>
          <a:prstGeom prst="rect">
            <a:avLst/>
          </a:prstGeom>
          <a:noFill/>
        </p:spPr>
        <p:txBody>
          <a:bodyPr wrap="square">
            <a:spAutoFit/>
          </a:bodyPr>
          <a:lstStyle/>
          <a:p>
            <a:pPr algn="l">
              <a:defRPr sz="1300" b="0">
                <a:solidFill>
                  <a:srgbClr val="333333"/>
                </a:solidFill>
                <a:latin typeface="Calibri"/>
              </a:defRPr>
            </a:pPr>
            <a:r>
              <a:t>21 domain-separated</a:t>
            </a:r>
            <a:br/>
            <a:r>
              <a:t>state slices</a:t>
            </a:r>
          </a:p>
        </p:txBody>
      </p:sp>
      <p:sp>
        <p:nvSpPr>
          <p:cNvPr id="11" name="Rectangle 10"/>
          <p:cNvSpPr/>
          <p:nvPr/>
        </p:nvSpPr>
        <p:spPr>
          <a:xfrm>
            <a:off x="5943600" y="1371600"/>
            <a:ext cx="2468880" cy="1371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80760" y="1463040"/>
            <a:ext cx="2194560" cy="365760"/>
          </a:xfrm>
          <a:prstGeom prst="rect">
            <a:avLst/>
          </a:prstGeom>
          <a:noFill/>
        </p:spPr>
        <p:txBody>
          <a:bodyPr wrap="square">
            <a:spAutoFit/>
          </a:bodyPr>
          <a:lstStyle/>
          <a:p>
            <a:pPr algn="l">
              <a:defRPr sz="1600" b="1">
                <a:solidFill>
                  <a:srgbClr val="14A898"/>
                </a:solidFill>
                <a:latin typeface="Calibri"/>
              </a:defRPr>
            </a:pPr>
            <a:r>
              <a:t>Material UI v5</a:t>
            </a:r>
          </a:p>
        </p:txBody>
      </p:sp>
      <p:sp>
        <p:nvSpPr>
          <p:cNvPr id="13" name="TextBox 12"/>
          <p:cNvSpPr txBox="1"/>
          <p:nvPr/>
        </p:nvSpPr>
        <p:spPr>
          <a:xfrm>
            <a:off x="6080760" y="1874520"/>
            <a:ext cx="2194560" cy="731520"/>
          </a:xfrm>
          <a:prstGeom prst="rect">
            <a:avLst/>
          </a:prstGeom>
          <a:noFill/>
        </p:spPr>
        <p:txBody>
          <a:bodyPr wrap="square">
            <a:spAutoFit/>
          </a:bodyPr>
          <a:lstStyle/>
          <a:p>
            <a:pPr algn="l">
              <a:defRPr sz="1300" b="0">
                <a:solidFill>
                  <a:srgbClr val="333333"/>
                </a:solidFill>
                <a:latin typeface="Calibri"/>
              </a:defRPr>
            </a:pPr>
            <a:r>
              <a:t>Custom theme with</a:t>
            </a:r>
            <a:br/>
            <a:r>
              <a:t>30+ typography variants</a:t>
            </a:r>
          </a:p>
        </p:txBody>
      </p:sp>
      <p:sp>
        <p:nvSpPr>
          <p:cNvPr id="14" name="Rectangle 13"/>
          <p:cNvSpPr/>
          <p:nvPr/>
        </p:nvSpPr>
        <p:spPr>
          <a:xfrm>
            <a:off x="8686800" y="1371600"/>
            <a:ext cx="2468880" cy="1371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23960" y="1463040"/>
            <a:ext cx="2194560" cy="365760"/>
          </a:xfrm>
          <a:prstGeom prst="rect">
            <a:avLst/>
          </a:prstGeom>
          <a:noFill/>
        </p:spPr>
        <p:txBody>
          <a:bodyPr wrap="square">
            <a:spAutoFit/>
          </a:bodyPr>
          <a:lstStyle/>
          <a:p>
            <a:pPr algn="l">
              <a:defRPr sz="1600" b="1">
                <a:solidFill>
                  <a:srgbClr val="14A898"/>
                </a:solidFill>
                <a:latin typeface="Calibri"/>
              </a:defRPr>
            </a:pPr>
            <a:r>
              <a:t>Socket.IO</a:t>
            </a:r>
          </a:p>
        </p:txBody>
      </p:sp>
      <p:sp>
        <p:nvSpPr>
          <p:cNvPr id="16" name="TextBox 15"/>
          <p:cNvSpPr txBox="1"/>
          <p:nvPr/>
        </p:nvSpPr>
        <p:spPr>
          <a:xfrm>
            <a:off x="8823960" y="1874520"/>
            <a:ext cx="2194560" cy="731520"/>
          </a:xfrm>
          <a:prstGeom prst="rect">
            <a:avLst/>
          </a:prstGeom>
          <a:noFill/>
        </p:spPr>
        <p:txBody>
          <a:bodyPr wrap="square">
            <a:spAutoFit/>
          </a:bodyPr>
          <a:lstStyle/>
          <a:p>
            <a:pPr algn="l">
              <a:defRPr sz="1300" b="0">
                <a:solidFill>
                  <a:srgbClr val="333333"/>
                </a:solidFill>
                <a:latin typeface="Calibri"/>
              </a:defRPr>
            </a:pPr>
            <a:r>
              <a:t>WebSocket transport</a:t>
            </a:r>
            <a:br/>
            <a:r>
              <a:t>with auto-reconnect</a:t>
            </a:r>
          </a:p>
        </p:txBody>
      </p:sp>
      <p:sp>
        <p:nvSpPr>
          <p:cNvPr id="17" name="Rectangle 16"/>
          <p:cNvSpPr/>
          <p:nvPr/>
        </p:nvSpPr>
        <p:spPr>
          <a:xfrm>
            <a:off x="457200" y="3017520"/>
            <a:ext cx="2468880" cy="1371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3108960"/>
            <a:ext cx="2194560" cy="365760"/>
          </a:xfrm>
          <a:prstGeom prst="rect">
            <a:avLst/>
          </a:prstGeom>
          <a:noFill/>
        </p:spPr>
        <p:txBody>
          <a:bodyPr wrap="square">
            <a:spAutoFit/>
          </a:bodyPr>
          <a:lstStyle/>
          <a:p>
            <a:pPr algn="l">
              <a:defRPr sz="1600" b="1">
                <a:solidFill>
                  <a:srgbClr val="14A898"/>
                </a:solidFill>
                <a:latin typeface="Calibri"/>
              </a:defRPr>
            </a:pPr>
            <a:r>
              <a:t>Axios</a:t>
            </a:r>
          </a:p>
        </p:txBody>
      </p:sp>
      <p:sp>
        <p:nvSpPr>
          <p:cNvPr id="19" name="TextBox 18"/>
          <p:cNvSpPr txBox="1"/>
          <p:nvPr/>
        </p:nvSpPr>
        <p:spPr>
          <a:xfrm>
            <a:off x="594360" y="3520440"/>
            <a:ext cx="2194560" cy="731520"/>
          </a:xfrm>
          <a:prstGeom prst="rect">
            <a:avLst/>
          </a:prstGeom>
          <a:noFill/>
        </p:spPr>
        <p:txBody>
          <a:bodyPr wrap="square">
            <a:spAutoFit/>
          </a:bodyPr>
          <a:lstStyle/>
          <a:p>
            <a:pPr algn="l">
              <a:defRPr sz="1300" b="0">
                <a:solidFill>
                  <a:srgbClr val="333333"/>
                </a:solidFill>
                <a:latin typeface="Calibri"/>
              </a:defRPr>
            </a:pPr>
            <a:r>
              <a:t>Centralized API layer</a:t>
            </a:r>
            <a:br/>
            <a:r>
              <a:t>via useFetch hook</a:t>
            </a:r>
          </a:p>
        </p:txBody>
      </p:sp>
      <p:sp>
        <p:nvSpPr>
          <p:cNvPr id="20" name="Rectangle 19"/>
          <p:cNvSpPr/>
          <p:nvPr/>
        </p:nvSpPr>
        <p:spPr>
          <a:xfrm>
            <a:off x="3200400" y="3017520"/>
            <a:ext cx="2468880" cy="1371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337560" y="3108960"/>
            <a:ext cx="2194560" cy="365760"/>
          </a:xfrm>
          <a:prstGeom prst="rect">
            <a:avLst/>
          </a:prstGeom>
          <a:noFill/>
        </p:spPr>
        <p:txBody>
          <a:bodyPr wrap="square">
            <a:spAutoFit/>
          </a:bodyPr>
          <a:lstStyle/>
          <a:p>
            <a:pPr algn="l">
              <a:defRPr sz="1600" b="1">
                <a:solidFill>
                  <a:srgbClr val="14A898"/>
                </a:solidFill>
                <a:latin typeface="Calibri"/>
              </a:defRPr>
            </a:pPr>
            <a:r>
              <a:t>JWT + Google OAuth</a:t>
            </a:r>
          </a:p>
        </p:txBody>
      </p:sp>
      <p:sp>
        <p:nvSpPr>
          <p:cNvPr id="22" name="TextBox 21"/>
          <p:cNvSpPr txBox="1"/>
          <p:nvPr/>
        </p:nvSpPr>
        <p:spPr>
          <a:xfrm>
            <a:off x="3337560" y="3520440"/>
            <a:ext cx="2194560" cy="731520"/>
          </a:xfrm>
          <a:prstGeom prst="rect">
            <a:avLst/>
          </a:prstGeom>
          <a:noFill/>
        </p:spPr>
        <p:txBody>
          <a:bodyPr wrap="square">
            <a:spAutoFit/>
          </a:bodyPr>
          <a:lstStyle/>
          <a:p>
            <a:pPr algn="l">
              <a:defRPr sz="1300" b="0">
                <a:solidFill>
                  <a:srgbClr val="333333"/>
                </a:solidFill>
                <a:latin typeface="Calibri"/>
              </a:defRPr>
            </a:pPr>
            <a:r>
              <a:t>Token-based auth</a:t>
            </a:r>
            <a:br/>
            <a:r>
              <a:t>with Redux Persist</a:t>
            </a:r>
          </a:p>
        </p:txBody>
      </p:sp>
      <p:sp>
        <p:nvSpPr>
          <p:cNvPr id="23" name="Rectangle 22"/>
          <p:cNvSpPr/>
          <p:nvPr/>
        </p:nvSpPr>
        <p:spPr>
          <a:xfrm>
            <a:off x="5943600" y="3017520"/>
            <a:ext cx="2468880" cy="1371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080760" y="3108960"/>
            <a:ext cx="2194560" cy="365760"/>
          </a:xfrm>
          <a:prstGeom prst="rect">
            <a:avLst/>
          </a:prstGeom>
          <a:noFill/>
        </p:spPr>
        <p:txBody>
          <a:bodyPr wrap="square">
            <a:spAutoFit/>
          </a:bodyPr>
          <a:lstStyle/>
          <a:p>
            <a:pPr algn="l">
              <a:defRPr sz="1600" b="1">
                <a:solidFill>
                  <a:srgbClr val="14A898"/>
                </a:solidFill>
                <a:latin typeface="Calibri"/>
              </a:defRPr>
            </a:pPr>
            <a:r>
              <a:t>Formik + Yup</a:t>
            </a:r>
          </a:p>
        </p:txBody>
      </p:sp>
      <p:sp>
        <p:nvSpPr>
          <p:cNvPr id="25" name="TextBox 24"/>
          <p:cNvSpPr txBox="1"/>
          <p:nvPr/>
        </p:nvSpPr>
        <p:spPr>
          <a:xfrm>
            <a:off x="6080760" y="3520440"/>
            <a:ext cx="2194560" cy="731520"/>
          </a:xfrm>
          <a:prstGeom prst="rect">
            <a:avLst/>
          </a:prstGeom>
          <a:noFill/>
        </p:spPr>
        <p:txBody>
          <a:bodyPr wrap="square">
            <a:spAutoFit/>
          </a:bodyPr>
          <a:lstStyle/>
          <a:p>
            <a:pPr algn="l">
              <a:defRPr sz="1300" b="0">
                <a:solidFill>
                  <a:srgbClr val="333333"/>
                </a:solidFill>
                <a:latin typeface="Calibri"/>
              </a:defRPr>
            </a:pPr>
            <a:r>
              <a:t>Form handling with</a:t>
            </a:r>
            <a:br/>
            <a:r>
              <a:t>schema validation</a:t>
            </a:r>
          </a:p>
        </p:txBody>
      </p:sp>
      <p:sp>
        <p:nvSpPr>
          <p:cNvPr id="26" name="Rectangle 25"/>
          <p:cNvSpPr/>
          <p:nvPr/>
        </p:nvSpPr>
        <p:spPr>
          <a:xfrm>
            <a:off x="8686800" y="3017520"/>
            <a:ext cx="2468880" cy="1371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823960" y="3108960"/>
            <a:ext cx="2194560" cy="365760"/>
          </a:xfrm>
          <a:prstGeom prst="rect">
            <a:avLst/>
          </a:prstGeom>
          <a:noFill/>
        </p:spPr>
        <p:txBody>
          <a:bodyPr wrap="square">
            <a:spAutoFit/>
          </a:bodyPr>
          <a:lstStyle/>
          <a:p>
            <a:pPr algn="l">
              <a:defRPr sz="1600" b="1">
                <a:solidFill>
                  <a:srgbClr val="14A898"/>
                </a:solidFill>
                <a:latin typeface="Calibri"/>
              </a:defRPr>
            </a:pPr>
            <a:r>
              <a:t>React Router v6</a:t>
            </a:r>
          </a:p>
        </p:txBody>
      </p:sp>
      <p:sp>
        <p:nvSpPr>
          <p:cNvPr id="28" name="TextBox 27"/>
          <p:cNvSpPr txBox="1"/>
          <p:nvPr/>
        </p:nvSpPr>
        <p:spPr>
          <a:xfrm>
            <a:off x="8823960" y="3520440"/>
            <a:ext cx="2194560" cy="731520"/>
          </a:xfrm>
          <a:prstGeom prst="rect">
            <a:avLst/>
          </a:prstGeom>
          <a:noFill/>
        </p:spPr>
        <p:txBody>
          <a:bodyPr wrap="square">
            <a:spAutoFit/>
          </a:bodyPr>
          <a:lstStyle/>
          <a:p>
            <a:pPr algn="l">
              <a:defRPr sz="1300" b="0">
                <a:solidFill>
                  <a:srgbClr val="333333"/>
                </a:solidFill>
                <a:latin typeface="Calibri"/>
              </a:defRPr>
            </a:pPr>
            <a:r>
              <a:t>Protected routing</a:t>
            </a:r>
            <a:br/>
            <a:r>
              <a:t>with role-based access</a:t>
            </a:r>
          </a:p>
        </p:txBody>
      </p:sp>
      <p:sp>
        <p:nvSpPr>
          <p:cNvPr id="29" name="Rectangle 28"/>
          <p:cNvSpPr/>
          <p:nvPr/>
        </p:nvSpPr>
        <p:spPr>
          <a:xfrm>
            <a:off x="457200" y="4754880"/>
            <a:ext cx="11247120" cy="1371600"/>
          </a:xfrm>
          <a:prstGeom prst="rect">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4892040"/>
            <a:ext cx="1645920" cy="457200"/>
          </a:xfrm>
          <a:prstGeom prst="rect">
            <a:avLst/>
          </a:prstGeom>
          <a:noFill/>
        </p:spPr>
        <p:txBody>
          <a:bodyPr wrap="square">
            <a:spAutoFit/>
          </a:bodyPr>
          <a:lstStyle/>
          <a:p>
            <a:pPr algn="ctr">
              <a:defRPr sz="3600" b="1">
                <a:solidFill>
                  <a:srgbClr val="FFFFFF"/>
                </a:solidFill>
                <a:latin typeface="Calibri"/>
              </a:defRPr>
            </a:pPr>
            <a:r>
              <a:t>100+</a:t>
            </a:r>
          </a:p>
        </p:txBody>
      </p:sp>
      <p:sp>
        <p:nvSpPr>
          <p:cNvPr id="31" name="TextBox 30"/>
          <p:cNvSpPr txBox="1"/>
          <p:nvPr/>
        </p:nvSpPr>
        <p:spPr>
          <a:xfrm>
            <a:off x="640080" y="5394960"/>
            <a:ext cx="1645920" cy="548640"/>
          </a:xfrm>
          <a:prstGeom prst="rect">
            <a:avLst/>
          </a:prstGeom>
          <a:noFill/>
        </p:spPr>
        <p:txBody>
          <a:bodyPr wrap="square">
            <a:spAutoFit/>
          </a:bodyPr>
          <a:lstStyle/>
          <a:p>
            <a:pPr algn="ctr">
              <a:defRPr sz="1300" b="0">
                <a:solidFill>
                  <a:srgbClr val="FFFFFF"/>
                </a:solidFill>
                <a:latin typeface="Calibri"/>
              </a:defRPr>
            </a:pPr>
            <a:r>
              <a:t>React</a:t>
            </a:r>
            <a:br/>
            <a:r>
              <a:t>Components</a:t>
            </a:r>
          </a:p>
        </p:txBody>
      </p:sp>
      <p:sp>
        <p:nvSpPr>
          <p:cNvPr id="32" name="TextBox 31"/>
          <p:cNvSpPr txBox="1"/>
          <p:nvPr/>
        </p:nvSpPr>
        <p:spPr>
          <a:xfrm>
            <a:off x="2514600" y="4892040"/>
            <a:ext cx="1645920" cy="457200"/>
          </a:xfrm>
          <a:prstGeom prst="rect">
            <a:avLst/>
          </a:prstGeom>
          <a:noFill/>
        </p:spPr>
        <p:txBody>
          <a:bodyPr wrap="square">
            <a:spAutoFit/>
          </a:bodyPr>
          <a:lstStyle/>
          <a:p>
            <a:pPr algn="ctr">
              <a:defRPr sz="3600" b="1">
                <a:solidFill>
                  <a:srgbClr val="FFFFFF"/>
                </a:solidFill>
                <a:latin typeface="Calibri"/>
              </a:defRPr>
            </a:pPr>
            <a:r>
              <a:t>21</a:t>
            </a:r>
          </a:p>
        </p:txBody>
      </p:sp>
      <p:sp>
        <p:nvSpPr>
          <p:cNvPr id="33" name="TextBox 32"/>
          <p:cNvSpPr txBox="1"/>
          <p:nvPr/>
        </p:nvSpPr>
        <p:spPr>
          <a:xfrm>
            <a:off x="2514600" y="5394960"/>
            <a:ext cx="1645920" cy="548640"/>
          </a:xfrm>
          <a:prstGeom prst="rect">
            <a:avLst/>
          </a:prstGeom>
          <a:noFill/>
        </p:spPr>
        <p:txBody>
          <a:bodyPr wrap="square">
            <a:spAutoFit/>
          </a:bodyPr>
          <a:lstStyle/>
          <a:p>
            <a:pPr algn="ctr">
              <a:defRPr sz="1300" b="0">
                <a:solidFill>
                  <a:srgbClr val="FFFFFF"/>
                </a:solidFill>
                <a:latin typeface="Calibri"/>
              </a:defRPr>
            </a:pPr>
            <a:r>
              <a:t>Redux</a:t>
            </a:r>
            <a:br/>
            <a:r>
              <a:t>Slices</a:t>
            </a:r>
          </a:p>
        </p:txBody>
      </p:sp>
      <p:sp>
        <p:nvSpPr>
          <p:cNvPr id="34" name="TextBox 33"/>
          <p:cNvSpPr txBox="1"/>
          <p:nvPr/>
        </p:nvSpPr>
        <p:spPr>
          <a:xfrm>
            <a:off x="4389120" y="4892040"/>
            <a:ext cx="1645920" cy="457200"/>
          </a:xfrm>
          <a:prstGeom prst="rect">
            <a:avLst/>
          </a:prstGeom>
          <a:noFill/>
        </p:spPr>
        <p:txBody>
          <a:bodyPr wrap="square">
            <a:spAutoFit/>
          </a:bodyPr>
          <a:lstStyle/>
          <a:p>
            <a:pPr algn="ctr">
              <a:defRPr sz="3600" b="1">
                <a:solidFill>
                  <a:srgbClr val="FFFFFF"/>
                </a:solidFill>
                <a:latin typeface="Calibri"/>
              </a:defRPr>
            </a:pPr>
            <a:r>
              <a:t>50+</a:t>
            </a:r>
          </a:p>
        </p:txBody>
      </p:sp>
      <p:sp>
        <p:nvSpPr>
          <p:cNvPr id="35" name="TextBox 34"/>
          <p:cNvSpPr txBox="1"/>
          <p:nvPr/>
        </p:nvSpPr>
        <p:spPr>
          <a:xfrm>
            <a:off x="4389120" y="5394960"/>
            <a:ext cx="1645920" cy="548640"/>
          </a:xfrm>
          <a:prstGeom prst="rect">
            <a:avLst/>
          </a:prstGeom>
          <a:noFill/>
        </p:spPr>
        <p:txBody>
          <a:bodyPr wrap="square">
            <a:spAutoFit/>
          </a:bodyPr>
          <a:lstStyle/>
          <a:p>
            <a:pPr algn="ctr">
              <a:defRPr sz="1300" b="0">
                <a:solidFill>
                  <a:srgbClr val="FFFFFF"/>
                </a:solidFill>
                <a:latin typeface="Calibri"/>
              </a:defRPr>
            </a:pPr>
            <a:r>
              <a:t>API</a:t>
            </a:r>
            <a:br/>
            <a:r>
              <a:t>Endpoints</a:t>
            </a:r>
          </a:p>
        </p:txBody>
      </p:sp>
      <p:sp>
        <p:nvSpPr>
          <p:cNvPr id="36" name="TextBox 35"/>
          <p:cNvSpPr txBox="1"/>
          <p:nvPr/>
        </p:nvSpPr>
        <p:spPr>
          <a:xfrm>
            <a:off x="6263640" y="4892040"/>
            <a:ext cx="1645920" cy="457200"/>
          </a:xfrm>
          <a:prstGeom prst="rect">
            <a:avLst/>
          </a:prstGeom>
          <a:noFill/>
        </p:spPr>
        <p:txBody>
          <a:bodyPr wrap="square">
            <a:spAutoFit/>
          </a:bodyPr>
          <a:lstStyle/>
          <a:p>
            <a:pPr algn="ctr">
              <a:defRPr sz="3600" b="1">
                <a:solidFill>
                  <a:srgbClr val="FFFFFF"/>
                </a:solidFill>
                <a:latin typeface="Calibri"/>
              </a:defRPr>
            </a:pPr>
            <a:r>
              <a:t>9</a:t>
            </a:r>
          </a:p>
        </p:txBody>
      </p:sp>
      <p:sp>
        <p:nvSpPr>
          <p:cNvPr id="37" name="TextBox 36"/>
          <p:cNvSpPr txBox="1"/>
          <p:nvPr/>
        </p:nvSpPr>
        <p:spPr>
          <a:xfrm>
            <a:off x="6263640" y="5394960"/>
            <a:ext cx="1645920" cy="548640"/>
          </a:xfrm>
          <a:prstGeom prst="rect">
            <a:avLst/>
          </a:prstGeom>
          <a:noFill/>
        </p:spPr>
        <p:txBody>
          <a:bodyPr wrap="square">
            <a:spAutoFit/>
          </a:bodyPr>
          <a:lstStyle/>
          <a:p>
            <a:pPr algn="ctr">
              <a:defRPr sz="1300" b="0">
                <a:solidFill>
                  <a:srgbClr val="FFFFFF"/>
                </a:solidFill>
                <a:latin typeface="Calibri"/>
              </a:defRPr>
            </a:pPr>
            <a:r>
              <a:t>Custom</a:t>
            </a:r>
            <a:br/>
            <a:r>
              <a:t>Hooks</a:t>
            </a:r>
          </a:p>
        </p:txBody>
      </p:sp>
      <p:sp>
        <p:nvSpPr>
          <p:cNvPr id="38" name="TextBox 37"/>
          <p:cNvSpPr txBox="1"/>
          <p:nvPr/>
        </p:nvSpPr>
        <p:spPr>
          <a:xfrm>
            <a:off x="8138159" y="4892040"/>
            <a:ext cx="1645920" cy="457200"/>
          </a:xfrm>
          <a:prstGeom prst="rect">
            <a:avLst/>
          </a:prstGeom>
          <a:noFill/>
        </p:spPr>
        <p:txBody>
          <a:bodyPr wrap="square">
            <a:spAutoFit/>
          </a:bodyPr>
          <a:lstStyle/>
          <a:p>
            <a:pPr algn="ctr">
              <a:defRPr sz="3600" b="1">
                <a:solidFill>
                  <a:srgbClr val="FFFFFF"/>
                </a:solidFill>
                <a:latin typeface="Calibri"/>
              </a:defRPr>
            </a:pPr>
            <a:r>
              <a:t>30+</a:t>
            </a:r>
          </a:p>
        </p:txBody>
      </p:sp>
      <p:sp>
        <p:nvSpPr>
          <p:cNvPr id="39" name="TextBox 38"/>
          <p:cNvSpPr txBox="1"/>
          <p:nvPr/>
        </p:nvSpPr>
        <p:spPr>
          <a:xfrm>
            <a:off x="8138159" y="5394960"/>
            <a:ext cx="1645920" cy="548640"/>
          </a:xfrm>
          <a:prstGeom prst="rect">
            <a:avLst/>
          </a:prstGeom>
          <a:noFill/>
        </p:spPr>
        <p:txBody>
          <a:bodyPr wrap="square">
            <a:spAutoFit/>
          </a:bodyPr>
          <a:lstStyle/>
          <a:p>
            <a:pPr algn="ctr">
              <a:defRPr sz="1300" b="0">
                <a:solidFill>
                  <a:srgbClr val="FFFFFF"/>
                </a:solidFill>
                <a:latin typeface="Calibri"/>
              </a:defRPr>
            </a:pPr>
            <a:r>
              <a:t>Typography</a:t>
            </a:r>
            <a:br/>
            <a:r>
              <a:t>Variants</a:t>
            </a:r>
          </a:p>
        </p:txBody>
      </p:sp>
      <p:sp>
        <p:nvSpPr>
          <p:cNvPr id="40" name="TextBox 39"/>
          <p:cNvSpPr txBox="1"/>
          <p:nvPr/>
        </p:nvSpPr>
        <p:spPr>
          <a:xfrm>
            <a:off x="10012680" y="4892040"/>
            <a:ext cx="1645920" cy="457200"/>
          </a:xfrm>
          <a:prstGeom prst="rect">
            <a:avLst/>
          </a:prstGeom>
          <a:noFill/>
        </p:spPr>
        <p:txBody>
          <a:bodyPr wrap="square">
            <a:spAutoFit/>
          </a:bodyPr>
          <a:lstStyle/>
          <a:p>
            <a:pPr algn="ctr">
              <a:defRPr sz="3600" b="1">
                <a:solidFill>
                  <a:srgbClr val="FFFFFF"/>
                </a:solidFill>
                <a:latin typeface="Calibri"/>
              </a:defRPr>
            </a:pPr>
            <a:r>
              <a:t>5</a:t>
            </a:r>
          </a:p>
        </p:txBody>
      </p:sp>
      <p:sp>
        <p:nvSpPr>
          <p:cNvPr id="41" name="TextBox 40"/>
          <p:cNvSpPr txBox="1"/>
          <p:nvPr/>
        </p:nvSpPr>
        <p:spPr>
          <a:xfrm>
            <a:off x="10012680" y="5394960"/>
            <a:ext cx="1645920" cy="548640"/>
          </a:xfrm>
          <a:prstGeom prst="rect">
            <a:avLst/>
          </a:prstGeom>
          <a:noFill/>
        </p:spPr>
        <p:txBody>
          <a:bodyPr wrap="square">
            <a:spAutoFit/>
          </a:bodyPr>
          <a:lstStyle/>
          <a:p>
            <a:pPr algn="ctr">
              <a:defRPr sz="1300" b="0">
                <a:solidFill>
                  <a:srgbClr val="FFFFFF"/>
                </a:solidFill>
                <a:latin typeface="Calibri"/>
              </a:defRPr>
            </a:pPr>
            <a:r>
              <a:t>Responsive</a:t>
            </a:r>
            <a:br/>
            <a:r>
              <a:t>Breakpoints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492240"/>
            <a:ext cx="12191695"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0" y="6537960"/>
            <a:ext cx="640080" cy="274320"/>
          </a:xfrm>
          <a:prstGeom prst="rect">
            <a:avLst/>
          </a:prstGeom>
          <a:noFill/>
        </p:spPr>
        <p:txBody>
          <a:bodyPr wrap="square">
            <a:spAutoFit/>
          </a:bodyPr>
          <a:lstStyle/>
          <a:p>
            <a:pPr algn="r">
              <a:defRPr sz="1100" b="0">
                <a:solidFill>
                  <a:srgbClr val="FFFFFF"/>
                </a:solidFill>
                <a:latin typeface="Calibri"/>
              </a:defRPr>
            </a:pPr>
            <a:r>
              <a:t>13</a:t>
            </a:r>
          </a:p>
        </p:txBody>
      </p:sp>
      <p:sp>
        <p:nvSpPr>
          <p:cNvPr id="4" name="TextBox 3"/>
          <p:cNvSpPr txBox="1"/>
          <p:nvPr/>
        </p:nvSpPr>
        <p:spPr>
          <a:xfrm>
            <a:off x="731520" y="365760"/>
            <a:ext cx="10058400" cy="640080"/>
          </a:xfrm>
          <a:prstGeom prst="rect">
            <a:avLst/>
          </a:prstGeom>
          <a:noFill/>
        </p:spPr>
        <p:txBody>
          <a:bodyPr wrap="square">
            <a:spAutoFit/>
          </a:bodyPr>
          <a:lstStyle/>
          <a:p>
            <a:pPr algn="l">
              <a:defRPr sz="4000" b="1">
                <a:solidFill>
                  <a:srgbClr val="14A898"/>
                </a:solidFill>
                <a:latin typeface="Calibri"/>
              </a:defRPr>
            </a:pPr>
            <a:r>
              <a:t>Unified Global Search</a:t>
            </a:r>
          </a:p>
        </p:txBody>
      </p:sp>
      <p:sp>
        <p:nvSpPr>
          <p:cNvPr id="5" name="TextBox 4"/>
          <p:cNvSpPr txBox="1"/>
          <p:nvPr/>
        </p:nvSpPr>
        <p:spPr>
          <a:xfrm>
            <a:off x="731520" y="1005840"/>
            <a:ext cx="10058400" cy="457200"/>
          </a:xfrm>
          <a:prstGeom prst="rect">
            <a:avLst/>
          </a:prstGeom>
          <a:noFill/>
        </p:spPr>
        <p:txBody>
          <a:bodyPr wrap="square">
            <a:spAutoFit/>
          </a:bodyPr>
          <a:lstStyle/>
          <a:p>
            <a:pPr algn="l">
              <a:defRPr sz="2000" b="0">
                <a:solidFill>
                  <a:srgbClr val="868686"/>
                </a:solidFill>
                <a:latin typeface="Calibri"/>
              </a:defRPr>
            </a:pPr>
            <a:r>
              <a:t>One Search. Five Result Types. Single API Call.</a:t>
            </a:r>
          </a:p>
        </p:txBody>
      </p:sp>
      <p:sp>
        <p:nvSpPr>
          <p:cNvPr id="6" name="Rectangle 5"/>
          <p:cNvSpPr/>
          <p:nvPr/>
        </p:nvSpPr>
        <p:spPr>
          <a:xfrm>
            <a:off x="4114800" y="1737360"/>
            <a:ext cx="3931920" cy="457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0" y="1783080"/>
            <a:ext cx="3931920" cy="365760"/>
          </a:xfrm>
          <a:prstGeom prst="rect">
            <a:avLst/>
          </a:prstGeom>
          <a:noFill/>
        </p:spPr>
        <p:txBody>
          <a:bodyPr wrap="square">
            <a:spAutoFit/>
          </a:bodyPr>
          <a:lstStyle/>
          <a:p>
            <a:pPr algn="ctr">
              <a:defRPr sz="1400" b="1">
                <a:solidFill>
                  <a:srgbClr val="333333"/>
                </a:solidFill>
                <a:latin typeface="Calibri"/>
              </a:defRPr>
            </a:pPr>
            <a:r>
              <a:t>User types "react" + presses Enter</a:t>
            </a:r>
          </a:p>
        </p:txBody>
      </p:sp>
      <p:sp>
        <p:nvSpPr>
          <p:cNvPr id="8" name="Rectangle 7"/>
          <p:cNvSpPr/>
          <p:nvPr/>
        </p:nvSpPr>
        <p:spPr>
          <a:xfrm>
            <a:off x="4114800" y="2377440"/>
            <a:ext cx="3931920" cy="45720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0" y="2423160"/>
            <a:ext cx="3931920" cy="365760"/>
          </a:xfrm>
          <a:prstGeom prst="rect">
            <a:avLst/>
          </a:prstGeom>
          <a:noFill/>
        </p:spPr>
        <p:txBody>
          <a:bodyPr wrap="square">
            <a:spAutoFit/>
          </a:bodyPr>
          <a:lstStyle/>
          <a:p>
            <a:pPr algn="ctr">
              <a:defRPr sz="1400" b="1">
                <a:solidFill>
                  <a:srgbClr val="FFFFFF"/>
                </a:solidFill>
                <a:latin typeface="Calibri"/>
              </a:defRPr>
            </a:pPr>
            <a:r>
              <a:t>GET /api/search?searchQuery=react</a:t>
            </a:r>
          </a:p>
        </p:txBody>
      </p:sp>
      <p:sp>
        <p:nvSpPr>
          <p:cNvPr id="10" name="Rectangle 9"/>
          <p:cNvSpPr/>
          <p:nvPr/>
        </p:nvSpPr>
        <p:spPr>
          <a:xfrm>
            <a:off x="4114800" y="3017520"/>
            <a:ext cx="3931920" cy="457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0" y="3063240"/>
            <a:ext cx="3931920" cy="365760"/>
          </a:xfrm>
          <a:prstGeom prst="rect">
            <a:avLst/>
          </a:prstGeom>
          <a:noFill/>
        </p:spPr>
        <p:txBody>
          <a:bodyPr wrap="square">
            <a:spAutoFit/>
          </a:bodyPr>
          <a:lstStyle/>
          <a:p>
            <a:pPr algn="ctr">
              <a:defRPr sz="1400" b="1">
                <a:solidFill>
                  <a:srgbClr val="333333"/>
                </a:solidFill>
                <a:latin typeface="Calibri"/>
              </a:defRPr>
            </a:pPr>
            <a:r>
              <a:t>Server returns 5 result sets</a:t>
            </a:r>
          </a:p>
        </p:txBody>
      </p:sp>
      <p:sp>
        <p:nvSpPr>
          <p:cNvPr id="12" name="Rectangle 11"/>
          <p:cNvSpPr/>
          <p:nvPr/>
        </p:nvSpPr>
        <p:spPr>
          <a:xfrm>
            <a:off x="4114800" y="3657600"/>
            <a:ext cx="3931920" cy="45720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800" y="3703320"/>
            <a:ext cx="3931920" cy="365760"/>
          </a:xfrm>
          <a:prstGeom prst="rect">
            <a:avLst/>
          </a:prstGeom>
          <a:noFill/>
        </p:spPr>
        <p:txBody>
          <a:bodyPr wrap="square">
            <a:spAutoFit/>
          </a:bodyPr>
          <a:lstStyle/>
          <a:p>
            <a:pPr algn="ctr">
              <a:defRPr sz="1400" b="1">
                <a:solidFill>
                  <a:srgbClr val="FFFFFF"/>
                </a:solidFill>
                <a:latin typeface="Calibri"/>
              </a:defRPr>
            </a:pPr>
            <a:r>
              <a:t>6 Redux dispatches at once</a:t>
            </a:r>
          </a:p>
        </p:txBody>
      </p:sp>
      <p:sp>
        <p:nvSpPr>
          <p:cNvPr id="14" name="Down Arrow 13"/>
          <p:cNvSpPr/>
          <p:nvPr/>
        </p:nvSpPr>
        <p:spPr>
          <a:xfrm>
            <a:off x="5943600" y="2240280"/>
            <a:ext cx="274320" cy="182880"/>
          </a:xfrm>
          <a:prstGeom prst="downArrow">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Down Arrow 14"/>
          <p:cNvSpPr/>
          <p:nvPr/>
        </p:nvSpPr>
        <p:spPr>
          <a:xfrm>
            <a:off x="5943600" y="2880360"/>
            <a:ext cx="274320" cy="182880"/>
          </a:xfrm>
          <a:prstGeom prst="downArrow">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Down Arrow 15"/>
          <p:cNvSpPr/>
          <p:nvPr/>
        </p:nvSpPr>
        <p:spPr>
          <a:xfrm>
            <a:off x="5943600" y="3520440"/>
            <a:ext cx="274320" cy="182880"/>
          </a:xfrm>
          <a:prstGeom prst="downArrow">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463040" y="4389120"/>
            <a:ext cx="1737360" cy="45720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463040" y="4389120"/>
            <a:ext cx="1737360" cy="457200"/>
          </a:xfrm>
          <a:prstGeom prst="rect">
            <a:avLst/>
          </a:prstGeom>
          <a:noFill/>
        </p:spPr>
        <p:txBody>
          <a:bodyPr wrap="square">
            <a:spAutoFit/>
          </a:bodyPr>
          <a:lstStyle/>
          <a:p>
            <a:pPr algn="ctr">
              <a:defRPr sz="1500" b="1">
                <a:solidFill>
                  <a:srgbClr val="FFFFFF"/>
                </a:solidFill>
                <a:latin typeface="Calibri"/>
              </a:defRPr>
            </a:pPr>
            <a:r>
              <a:t>People</a:t>
            </a:r>
          </a:p>
        </p:txBody>
      </p:sp>
      <p:sp>
        <p:nvSpPr>
          <p:cNvPr id="19" name="Rectangle 18"/>
          <p:cNvSpPr/>
          <p:nvPr/>
        </p:nvSpPr>
        <p:spPr>
          <a:xfrm>
            <a:off x="3383280" y="4389120"/>
            <a:ext cx="1737360" cy="45720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83280" y="4389120"/>
            <a:ext cx="1737360" cy="457200"/>
          </a:xfrm>
          <a:prstGeom prst="rect">
            <a:avLst/>
          </a:prstGeom>
          <a:noFill/>
        </p:spPr>
        <p:txBody>
          <a:bodyPr wrap="square">
            <a:spAutoFit/>
          </a:bodyPr>
          <a:lstStyle/>
          <a:p>
            <a:pPr algn="ctr">
              <a:defRPr sz="1500" b="1">
                <a:solidFill>
                  <a:srgbClr val="FFFFFF"/>
                </a:solidFill>
                <a:latin typeface="Calibri"/>
              </a:defRPr>
            </a:pPr>
            <a:r>
              <a:t>Posts</a:t>
            </a:r>
          </a:p>
        </p:txBody>
      </p:sp>
      <p:sp>
        <p:nvSpPr>
          <p:cNvPr id="21" name="Rectangle 20"/>
          <p:cNvSpPr/>
          <p:nvPr/>
        </p:nvSpPr>
        <p:spPr>
          <a:xfrm>
            <a:off x="5303520" y="4389120"/>
            <a:ext cx="1737360" cy="45720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03520" y="4389120"/>
            <a:ext cx="1737360" cy="457200"/>
          </a:xfrm>
          <a:prstGeom prst="rect">
            <a:avLst/>
          </a:prstGeom>
          <a:noFill/>
        </p:spPr>
        <p:txBody>
          <a:bodyPr wrap="square">
            <a:spAutoFit/>
          </a:bodyPr>
          <a:lstStyle/>
          <a:p>
            <a:pPr algn="ctr">
              <a:defRPr sz="1500" b="1">
                <a:solidFill>
                  <a:srgbClr val="FFFFFF"/>
                </a:solidFill>
                <a:latin typeface="Calibri"/>
              </a:defRPr>
            </a:pPr>
            <a:r>
              <a:t>Products</a:t>
            </a:r>
          </a:p>
        </p:txBody>
      </p:sp>
      <p:sp>
        <p:nvSpPr>
          <p:cNvPr id="23" name="Rectangle 22"/>
          <p:cNvSpPr/>
          <p:nvPr/>
        </p:nvSpPr>
        <p:spPr>
          <a:xfrm>
            <a:off x="7223760" y="4389120"/>
            <a:ext cx="1737360" cy="45720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223760" y="4389120"/>
            <a:ext cx="1737360" cy="457200"/>
          </a:xfrm>
          <a:prstGeom prst="rect">
            <a:avLst/>
          </a:prstGeom>
          <a:noFill/>
        </p:spPr>
        <p:txBody>
          <a:bodyPr wrap="square">
            <a:spAutoFit/>
          </a:bodyPr>
          <a:lstStyle/>
          <a:p>
            <a:pPr algn="ctr">
              <a:defRPr sz="1500" b="1">
                <a:solidFill>
                  <a:srgbClr val="FFFFFF"/>
                </a:solidFill>
                <a:latin typeface="Calibri"/>
              </a:defRPr>
            </a:pPr>
            <a:r>
              <a:t>Courses</a:t>
            </a:r>
          </a:p>
        </p:txBody>
      </p:sp>
      <p:sp>
        <p:nvSpPr>
          <p:cNvPr id="25" name="Rectangle 24"/>
          <p:cNvSpPr/>
          <p:nvPr/>
        </p:nvSpPr>
        <p:spPr>
          <a:xfrm>
            <a:off x="9144000" y="4389120"/>
            <a:ext cx="1737360" cy="45720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0" y="4389120"/>
            <a:ext cx="1737360" cy="457200"/>
          </a:xfrm>
          <a:prstGeom prst="rect">
            <a:avLst/>
          </a:prstGeom>
          <a:noFill/>
        </p:spPr>
        <p:txBody>
          <a:bodyPr wrap="square">
            <a:spAutoFit/>
          </a:bodyPr>
          <a:lstStyle/>
          <a:p>
            <a:pPr algn="ctr">
              <a:defRPr sz="1500" b="1">
                <a:solidFill>
                  <a:srgbClr val="FFFFFF"/>
                </a:solidFill>
                <a:latin typeface="Calibri"/>
              </a:defRPr>
            </a:pPr>
            <a:r>
              <a:t>Services</a:t>
            </a:r>
          </a:p>
        </p:txBody>
      </p:sp>
      <p:sp>
        <p:nvSpPr>
          <p:cNvPr id="27" name="Rectangle 26"/>
          <p:cNvSpPr/>
          <p:nvPr/>
        </p:nvSpPr>
        <p:spPr>
          <a:xfrm>
            <a:off x="914400" y="5212080"/>
            <a:ext cx="10332720" cy="8229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97280" y="5303520"/>
            <a:ext cx="9966960" cy="640080"/>
          </a:xfrm>
          <a:prstGeom prst="rect">
            <a:avLst/>
          </a:prstGeom>
          <a:noFill/>
        </p:spPr>
        <p:txBody>
          <a:bodyPr wrap="square">
            <a:spAutoFit/>
          </a:bodyPr>
          <a:lstStyle/>
          <a:p>
            <a:pPr algn="ctr">
              <a:defRPr sz="1400" b="0">
                <a:solidFill>
                  <a:srgbClr val="333333"/>
                </a:solidFill>
                <a:latin typeface="Calibri"/>
              </a:defRPr>
            </a:pPr>
            <a:r>
              <a:t>Key: No additional API calls when switching tabs.</a:t>
            </a:r>
            <a:br/>
            <a:r>
              <a:t>All 5 result sets are fetched in a single request and stored in Redux globalSearch slice.</a:t>
            </a:r>
            <a:br/>
            <a:r>
              <a:t>This gives users instant tab-switching while minimizing server load.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492240"/>
            <a:ext cx="12191695"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0" y="6537960"/>
            <a:ext cx="640080" cy="274320"/>
          </a:xfrm>
          <a:prstGeom prst="rect">
            <a:avLst/>
          </a:prstGeom>
          <a:noFill/>
        </p:spPr>
        <p:txBody>
          <a:bodyPr wrap="square">
            <a:spAutoFit/>
          </a:bodyPr>
          <a:lstStyle/>
          <a:p>
            <a:pPr algn="r">
              <a:defRPr sz="1100" b="0">
                <a:solidFill>
                  <a:srgbClr val="FFFFFF"/>
                </a:solidFill>
                <a:latin typeface="Calibri"/>
              </a:defRPr>
            </a:pPr>
            <a:r>
              <a:t>14</a:t>
            </a:r>
          </a:p>
        </p:txBody>
      </p:sp>
      <p:sp>
        <p:nvSpPr>
          <p:cNvPr id="4" name="TextBox 3"/>
          <p:cNvSpPr txBox="1"/>
          <p:nvPr/>
        </p:nvSpPr>
        <p:spPr>
          <a:xfrm>
            <a:off x="731520" y="365760"/>
            <a:ext cx="10058400" cy="640080"/>
          </a:xfrm>
          <a:prstGeom prst="rect">
            <a:avLst/>
          </a:prstGeom>
          <a:noFill/>
        </p:spPr>
        <p:txBody>
          <a:bodyPr wrap="square">
            <a:spAutoFit/>
          </a:bodyPr>
          <a:lstStyle/>
          <a:p>
            <a:pPr algn="l">
              <a:defRPr sz="4000" b="1">
                <a:solidFill>
                  <a:srgbClr val="14A898"/>
                </a:solidFill>
                <a:latin typeface="Calibri"/>
              </a:defRPr>
            </a:pPr>
            <a:r>
              <a:t>Market Opportunity</a:t>
            </a:r>
          </a:p>
        </p:txBody>
      </p:sp>
      <p:sp>
        <p:nvSpPr>
          <p:cNvPr id="5" name="TextBox 4"/>
          <p:cNvSpPr txBox="1"/>
          <p:nvPr/>
        </p:nvSpPr>
        <p:spPr>
          <a:xfrm>
            <a:off x="731520" y="1005840"/>
            <a:ext cx="10058400" cy="457200"/>
          </a:xfrm>
          <a:prstGeom prst="rect">
            <a:avLst/>
          </a:prstGeom>
          <a:noFill/>
        </p:spPr>
        <p:txBody>
          <a:bodyPr wrap="square">
            <a:spAutoFit/>
          </a:bodyPr>
          <a:lstStyle/>
          <a:p>
            <a:pPr algn="l">
              <a:defRPr sz="2000" b="0">
                <a:solidFill>
                  <a:srgbClr val="868686"/>
                </a:solidFill>
                <a:latin typeface="Calibri"/>
              </a:defRPr>
            </a:pPr>
            <a:r>
              <a:t>Pakistan's Digital Economy is at an Inflection Point</a:t>
            </a:r>
          </a:p>
        </p:txBody>
      </p:sp>
      <p:sp>
        <p:nvSpPr>
          <p:cNvPr id="6" name="Rectangle 5"/>
          <p:cNvSpPr/>
          <p:nvPr/>
        </p:nvSpPr>
        <p:spPr>
          <a:xfrm>
            <a:off x="548640" y="1645920"/>
            <a:ext cx="2651760" cy="201168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783080"/>
            <a:ext cx="2651760" cy="640080"/>
          </a:xfrm>
          <a:prstGeom prst="rect">
            <a:avLst/>
          </a:prstGeom>
          <a:noFill/>
        </p:spPr>
        <p:txBody>
          <a:bodyPr wrap="square">
            <a:spAutoFit/>
          </a:bodyPr>
          <a:lstStyle/>
          <a:p>
            <a:pPr algn="ctr">
              <a:defRPr sz="4000" b="1">
                <a:solidFill>
                  <a:srgbClr val="FFFFFF"/>
                </a:solidFill>
                <a:latin typeface="Calibri"/>
              </a:defRPr>
            </a:pPr>
            <a:r>
              <a:t>$7.6B+</a:t>
            </a:r>
          </a:p>
        </p:txBody>
      </p:sp>
      <p:sp>
        <p:nvSpPr>
          <p:cNvPr id="8" name="TextBox 7"/>
          <p:cNvSpPr txBox="1"/>
          <p:nvPr/>
        </p:nvSpPr>
        <p:spPr>
          <a:xfrm>
            <a:off x="548640" y="2423160"/>
            <a:ext cx="2651760" cy="548640"/>
          </a:xfrm>
          <a:prstGeom prst="rect">
            <a:avLst/>
          </a:prstGeom>
          <a:noFill/>
        </p:spPr>
        <p:txBody>
          <a:bodyPr wrap="square">
            <a:spAutoFit/>
          </a:bodyPr>
          <a:lstStyle/>
          <a:p>
            <a:pPr algn="ctr">
              <a:defRPr sz="1600" b="1">
                <a:solidFill>
                  <a:srgbClr val="FFFFFF"/>
                </a:solidFill>
                <a:latin typeface="Calibri"/>
              </a:defRPr>
            </a:pPr>
            <a:r>
              <a:rPr dirty="0"/>
              <a:t>E-Commerce Market</a:t>
            </a:r>
          </a:p>
        </p:txBody>
      </p:sp>
      <p:sp>
        <p:nvSpPr>
          <p:cNvPr id="9" name="TextBox 8"/>
          <p:cNvSpPr txBox="1"/>
          <p:nvPr/>
        </p:nvSpPr>
        <p:spPr>
          <a:xfrm>
            <a:off x="548640" y="3063240"/>
            <a:ext cx="2651760" cy="365760"/>
          </a:xfrm>
          <a:prstGeom prst="rect">
            <a:avLst/>
          </a:prstGeom>
          <a:noFill/>
        </p:spPr>
        <p:txBody>
          <a:bodyPr wrap="square">
            <a:spAutoFit/>
          </a:bodyPr>
          <a:lstStyle/>
          <a:p>
            <a:pPr algn="ctr">
              <a:defRPr sz="1300" b="0">
                <a:solidFill>
                  <a:srgbClr val="FFFFFF"/>
                </a:solidFill>
                <a:latin typeface="Calibri"/>
              </a:defRPr>
            </a:pPr>
            <a:r>
              <a:t>Growing 25%+ YoY</a:t>
            </a:r>
          </a:p>
        </p:txBody>
      </p:sp>
      <p:sp>
        <p:nvSpPr>
          <p:cNvPr id="10" name="Rectangle 9"/>
          <p:cNvSpPr/>
          <p:nvPr/>
        </p:nvSpPr>
        <p:spPr>
          <a:xfrm>
            <a:off x="3429000" y="1645920"/>
            <a:ext cx="2651760" cy="2011680"/>
          </a:xfrm>
          <a:prstGeom prst="rect">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29000" y="1783080"/>
            <a:ext cx="2651760" cy="640080"/>
          </a:xfrm>
          <a:prstGeom prst="rect">
            <a:avLst/>
          </a:prstGeom>
          <a:noFill/>
        </p:spPr>
        <p:txBody>
          <a:bodyPr wrap="square">
            <a:spAutoFit/>
          </a:bodyPr>
          <a:lstStyle/>
          <a:p>
            <a:pPr algn="ctr">
              <a:defRPr sz="4000" b="1">
                <a:solidFill>
                  <a:srgbClr val="FFFFFF"/>
                </a:solidFill>
                <a:latin typeface="Calibri"/>
              </a:defRPr>
            </a:pPr>
            <a:r>
              <a:t>#2</a:t>
            </a:r>
          </a:p>
        </p:txBody>
      </p:sp>
      <p:sp>
        <p:nvSpPr>
          <p:cNvPr id="12" name="TextBox 11"/>
          <p:cNvSpPr txBox="1"/>
          <p:nvPr/>
        </p:nvSpPr>
        <p:spPr>
          <a:xfrm>
            <a:off x="3429000" y="2423160"/>
            <a:ext cx="2651760" cy="548640"/>
          </a:xfrm>
          <a:prstGeom prst="rect">
            <a:avLst/>
          </a:prstGeom>
          <a:noFill/>
        </p:spPr>
        <p:txBody>
          <a:bodyPr wrap="square">
            <a:spAutoFit/>
          </a:bodyPr>
          <a:lstStyle/>
          <a:p>
            <a:pPr algn="ctr">
              <a:defRPr sz="1600" b="1">
                <a:solidFill>
                  <a:srgbClr val="FFFFFF"/>
                </a:solidFill>
                <a:latin typeface="Calibri"/>
              </a:defRPr>
            </a:pPr>
            <a:r>
              <a:t>Global Freelance</a:t>
            </a:r>
            <a:br/>
            <a:r>
              <a:t>Workforce</a:t>
            </a:r>
          </a:p>
        </p:txBody>
      </p:sp>
      <p:sp>
        <p:nvSpPr>
          <p:cNvPr id="13" name="TextBox 12"/>
          <p:cNvSpPr txBox="1"/>
          <p:nvPr/>
        </p:nvSpPr>
        <p:spPr>
          <a:xfrm>
            <a:off x="3429000" y="3063240"/>
            <a:ext cx="2651760" cy="365760"/>
          </a:xfrm>
          <a:prstGeom prst="rect">
            <a:avLst/>
          </a:prstGeom>
          <a:noFill/>
        </p:spPr>
        <p:txBody>
          <a:bodyPr wrap="square">
            <a:spAutoFit/>
          </a:bodyPr>
          <a:lstStyle/>
          <a:p>
            <a:pPr algn="ctr">
              <a:defRPr sz="1300" b="0">
                <a:solidFill>
                  <a:srgbClr val="FFFFFF"/>
                </a:solidFill>
                <a:latin typeface="Calibri"/>
              </a:defRPr>
            </a:pPr>
            <a:r>
              <a:t>On platforms like Fiverr</a:t>
            </a:r>
          </a:p>
        </p:txBody>
      </p:sp>
      <p:sp>
        <p:nvSpPr>
          <p:cNvPr id="14" name="Rectangle 13"/>
          <p:cNvSpPr/>
          <p:nvPr/>
        </p:nvSpPr>
        <p:spPr>
          <a:xfrm>
            <a:off x="6309359" y="1645920"/>
            <a:ext cx="2651760" cy="201168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59" y="1783080"/>
            <a:ext cx="2651760" cy="640080"/>
          </a:xfrm>
          <a:prstGeom prst="rect">
            <a:avLst/>
          </a:prstGeom>
          <a:noFill/>
        </p:spPr>
        <p:txBody>
          <a:bodyPr wrap="square">
            <a:spAutoFit/>
          </a:bodyPr>
          <a:lstStyle/>
          <a:p>
            <a:pPr algn="ctr">
              <a:defRPr sz="4000" b="1">
                <a:solidFill>
                  <a:srgbClr val="FFFFFF"/>
                </a:solidFill>
                <a:latin typeface="Calibri"/>
              </a:defRPr>
            </a:pPr>
            <a:r>
              <a:t>120M+</a:t>
            </a:r>
          </a:p>
        </p:txBody>
      </p:sp>
      <p:sp>
        <p:nvSpPr>
          <p:cNvPr id="16" name="TextBox 15"/>
          <p:cNvSpPr txBox="1"/>
          <p:nvPr/>
        </p:nvSpPr>
        <p:spPr>
          <a:xfrm>
            <a:off x="6309359" y="2423160"/>
            <a:ext cx="2651760" cy="548640"/>
          </a:xfrm>
          <a:prstGeom prst="rect">
            <a:avLst/>
          </a:prstGeom>
          <a:noFill/>
        </p:spPr>
        <p:txBody>
          <a:bodyPr wrap="square">
            <a:spAutoFit/>
          </a:bodyPr>
          <a:lstStyle/>
          <a:p>
            <a:pPr algn="ctr">
              <a:defRPr sz="1600" b="1">
                <a:solidFill>
                  <a:srgbClr val="FFFFFF"/>
                </a:solidFill>
                <a:latin typeface="Calibri"/>
              </a:defRPr>
            </a:pPr>
            <a:r>
              <a:t>Internet Users</a:t>
            </a:r>
          </a:p>
        </p:txBody>
      </p:sp>
      <p:sp>
        <p:nvSpPr>
          <p:cNvPr id="17" name="TextBox 16"/>
          <p:cNvSpPr txBox="1"/>
          <p:nvPr/>
        </p:nvSpPr>
        <p:spPr>
          <a:xfrm>
            <a:off x="6309359" y="3063240"/>
            <a:ext cx="2651760" cy="365760"/>
          </a:xfrm>
          <a:prstGeom prst="rect">
            <a:avLst/>
          </a:prstGeom>
          <a:noFill/>
        </p:spPr>
        <p:txBody>
          <a:bodyPr wrap="square">
            <a:spAutoFit/>
          </a:bodyPr>
          <a:lstStyle/>
          <a:p>
            <a:pPr algn="ctr">
              <a:defRPr sz="1300" b="0">
                <a:solidFill>
                  <a:srgbClr val="FFFFFF"/>
                </a:solidFill>
                <a:latin typeface="Calibri"/>
              </a:defRPr>
            </a:pPr>
            <a:r>
              <a:t>And rapidly growing</a:t>
            </a:r>
          </a:p>
        </p:txBody>
      </p:sp>
      <p:sp>
        <p:nvSpPr>
          <p:cNvPr id="18" name="Rectangle 17"/>
          <p:cNvSpPr/>
          <p:nvPr/>
        </p:nvSpPr>
        <p:spPr>
          <a:xfrm>
            <a:off x="9189719" y="1645920"/>
            <a:ext cx="2651760" cy="2011680"/>
          </a:xfrm>
          <a:prstGeom prst="rect">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89719" y="1783080"/>
            <a:ext cx="2651760" cy="640080"/>
          </a:xfrm>
          <a:prstGeom prst="rect">
            <a:avLst/>
          </a:prstGeom>
          <a:noFill/>
        </p:spPr>
        <p:txBody>
          <a:bodyPr wrap="square">
            <a:spAutoFit/>
          </a:bodyPr>
          <a:lstStyle/>
          <a:p>
            <a:pPr algn="ctr">
              <a:defRPr sz="4000" b="1">
                <a:solidFill>
                  <a:srgbClr val="FFFFFF"/>
                </a:solidFill>
                <a:latin typeface="Calibri"/>
              </a:defRPr>
            </a:pPr>
            <a:r>
              <a:t>60%</a:t>
            </a:r>
          </a:p>
        </p:txBody>
      </p:sp>
      <p:sp>
        <p:nvSpPr>
          <p:cNvPr id="20" name="TextBox 19"/>
          <p:cNvSpPr txBox="1"/>
          <p:nvPr/>
        </p:nvSpPr>
        <p:spPr>
          <a:xfrm>
            <a:off x="9189719" y="2423160"/>
            <a:ext cx="2651760" cy="548640"/>
          </a:xfrm>
          <a:prstGeom prst="rect">
            <a:avLst/>
          </a:prstGeom>
          <a:noFill/>
        </p:spPr>
        <p:txBody>
          <a:bodyPr wrap="square">
            <a:spAutoFit/>
          </a:bodyPr>
          <a:lstStyle/>
          <a:p>
            <a:pPr algn="ctr">
              <a:defRPr sz="1600" b="1">
                <a:solidFill>
                  <a:srgbClr val="FFFFFF"/>
                </a:solidFill>
                <a:latin typeface="Calibri"/>
              </a:defRPr>
            </a:pPr>
            <a:r>
              <a:t>Youth Population</a:t>
            </a:r>
          </a:p>
        </p:txBody>
      </p:sp>
      <p:sp>
        <p:nvSpPr>
          <p:cNvPr id="21" name="TextBox 20"/>
          <p:cNvSpPr txBox="1"/>
          <p:nvPr/>
        </p:nvSpPr>
        <p:spPr>
          <a:xfrm>
            <a:off x="9189719" y="3063240"/>
            <a:ext cx="2651760" cy="365760"/>
          </a:xfrm>
          <a:prstGeom prst="rect">
            <a:avLst/>
          </a:prstGeom>
          <a:noFill/>
        </p:spPr>
        <p:txBody>
          <a:bodyPr wrap="square">
            <a:spAutoFit/>
          </a:bodyPr>
          <a:lstStyle/>
          <a:p>
            <a:pPr algn="ctr">
              <a:defRPr sz="1300" b="0">
                <a:solidFill>
                  <a:srgbClr val="FFFFFF"/>
                </a:solidFill>
                <a:latin typeface="Calibri"/>
              </a:defRPr>
            </a:pPr>
            <a:r>
              <a:t>Under 30 years old</a:t>
            </a:r>
          </a:p>
        </p:txBody>
      </p:sp>
      <p:sp>
        <p:nvSpPr>
          <p:cNvPr id="22" name="TextBox 21"/>
          <p:cNvSpPr txBox="1"/>
          <p:nvPr/>
        </p:nvSpPr>
        <p:spPr>
          <a:xfrm>
            <a:off x="731520" y="3931920"/>
            <a:ext cx="10972800" cy="457200"/>
          </a:xfrm>
          <a:prstGeom prst="rect">
            <a:avLst/>
          </a:prstGeom>
          <a:noFill/>
        </p:spPr>
        <p:txBody>
          <a:bodyPr wrap="square">
            <a:spAutoFit/>
          </a:bodyPr>
          <a:lstStyle/>
          <a:p>
            <a:pPr algn="l">
              <a:defRPr sz="2000" b="1">
                <a:solidFill>
                  <a:srgbClr val="09524A"/>
                </a:solidFill>
                <a:latin typeface="Calibri"/>
              </a:defRPr>
            </a:pPr>
            <a:r>
              <a:t>The Gap SMAC Fills:</a:t>
            </a:r>
          </a:p>
        </p:txBody>
      </p:sp>
      <p:sp>
        <p:nvSpPr>
          <p:cNvPr id="23" name="TextBox 22"/>
          <p:cNvSpPr txBox="1"/>
          <p:nvPr/>
        </p:nvSpPr>
        <p:spPr>
          <a:xfrm>
            <a:off x="1005840" y="4480560"/>
            <a:ext cx="10058400" cy="365760"/>
          </a:xfrm>
          <a:prstGeom prst="rect">
            <a:avLst/>
          </a:prstGeom>
          <a:noFill/>
        </p:spPr>
        <p:txBody>
          <a:bodyPr wrap="square">
            <a:spAutoFit/>
          </a:bodyPr>
          <a:lstStyle/>
          <a:p>
            <a:pPr algn="l">
              <a:defRPr sz="1500" b="0">
                <a:solidFill>
                  <a:srgbClr val="333333"/>
                </a:solidFill>
                <a:latin typeface="Calibri"/>
              </a:defRPr>
            </a:pPr>
            <a:r>
              <a:t>•  No local platform combining social + commerce + education</a:t>
            </a:r>
          </a:p>
        </p:txBody>
      </p:sp>
      <p:sp>
        <p:nvSpPr>
          <p:cNvPr id="24" name="TextBox 23"/>
          <p:cNvSpPr txBox="1"/>
          <p:nvPr/>
        </p:nvSpPr>
        <p:spPr>
          <a:xfrm>
            <a:off x="1005840" y="4864608"/>
            <a:ext cx="10058400" cy="365760"/>
          </a:xfrm>
          <a:prstGeom prst="rect">
            <a:avLst/>
          </a:prstGeom>
          <a:noFill/>
        </p:spPr>
        <p:txBody>
          <a:bodyPr wrap="square">
            <a:spAutoFit/>
          </a:bodyPr>
          <a:lstStyle/>
          <a:p>
            <a:pPr algn="l">
              <a:defRPr sz="1500" b="0">
                <a:solidFill>
                  <a:srgbClr val="333333"/>
                </a:solidFill>
                <a:latin typeface="Calibri"/>
              </a:defRPr>
            </a:pPr>
            <a:r>
              <a:t>•  International platforms have high fees (Udemy 37%, Fiverr 20%) and no social layer</a:t>
            </a:r>
          </a:p>
        </p:txBody>
      </p:sp>
      <p:sp>
        <p:nvSpPr>
          <p:cNvPr id="25" name="TextBox 24"/>
          <p:cNvSpPr txBox="1"/>
          <p:nvPr/>
        </p:nvSpPr>
        <p:spPr>
          <a:xfrm>
            <a:off x="1005840" y="5248656"/>
            <a:ext cx="10058400" cy="365760"/>
          </a:xfrm>
          <a:prstGeom prst="rect">
            <a:avLst/>
          </a:prstGeom>
          <a:noFill/>
        </p:spPr>
        <p:txBody>
          <a:bodyPr wrap="square">
            <a:spAutoFit/>
          </a:bodyPr>
          <a:lstStyle/>
          <a:p>
            <a:pPr algn="l">
              <a:defRPr sz="1500" b="0">
                <a:solidFill>
                  <a:srgbClr val="333333"/>
                </a:solidFill>
                <a:latin typeface="Calibri"/>
              </a:defRPr>
            </a:pPr>
            <a:r>
              <a:t>•  Local alternatives (Daraz, OLX) are commerce-only -- no community</a:t>
            </a:r>
          </a:p>
        </p:txBody>
      </p:sp>
      <p:sp>
        <p:nvSpPr>
          <p:cNvPr id="26" name="TextBox 25"/>
          <p:cNvSpPr txBox="1"/>
          <p:nvPr/>
        </p:nvSpPr>
        <p:spPr>
          <a:xfrm>
            <a:off x="1005840" y="5632704"/>
            <a:ext cx="10058400" cy="365760"/>
          </a:xfrm>
          <a:prstGeom prst="rect">
            <a:avLst/>
          </a:prstGeom>
          <a:noFill/>
        </p:spPr>
        <p:txBody>
          <a:bodyPr wrap="square">
            <a:spAutoFit/>
          </a:bodyPr>
          <a:lstStyle/>
          <a:p>
            <a:pPr algn="l">
              <a:defRPr sz="1500" b="0">
                <a:solidFill>
                  <a:srgbClr val="333333"/>
                </a:solidFill>
                <a:latin typeface="Calibri"/>
              </a:defRPr>
            </a:pPr>
            <a:r>
              <a:t>•  Freelancers need a localized ecosystem with PKR support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492240"/>
            <a:ext cx="12191695"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0" y="6537960"/>
            <a:ext cx="640080" cy="274320"/>
          </a:xfrm>
          <a:prstGeom prst="rect">
            <a:avLst/>
          </a:prstGeom>
          <a:noFill/>
        </p:spPr>
        <p:txBody>
          <a:bodyPr wrap="square">
            <a:spAutoFit/>
          </a:bodyPr>
          <a:lstStyle/>
          <a:p>
            <a:pPr algn="r">
              <a:defRPr sz="1100" b="0">
                <a:solidFill>
                  <a:srgbClr val="FFFFFF"/>
                </a:solidFill>
                <a:latin typeface="Calibri"/>
              </a:defRPr>
            </a:pPr>
            <a:r>
              <a:t>15</a:t>
            </a:r>
          </a:p>
        </p:txBody>
      </p:sp>
      <p:sp>
        <p:nvSpPr>
          <p:cNvPr id="4" name="TextBox 3"/>
          <p:cNvSpPr txBox="1"/>
          <p:nvPr/>
        </p:nvSpPr>
        <p:spPr>
          <a:xfrm>
            <a:off x="731520" y="365760"/>
            <a:ext cx="10058400" cy="640080"/>
          </a:xfrm>
          <a:prstGeom prst="rect">
            <a:avLst/>
          </a:prstGeom>
          <a:noFill/>
        </p:spPr>
        <p:txBody>
          <a:bodyPr wrap="square">
            <a:spAutoFit/>
          </a:bodyPr>
          <a:lstStyle/>
          <a:p>
            <a:pPr algn="l">
              <a:defRPr sz="4000" b="1">
                <a:solidFill>
                  <a:srgbClr val="14A898"/>
                </a:solidFill>
                <a:latin typeface="Calibri"/>
              </a:defRPr>
            </a:pPr>
            <a:r>
              <a:t>Competitive Landscape</a:t>
            </a:r>
          </a:p>
        </p:txBody>
      </p:sp>
      <p:sp>
        <p:nvSpPr>
          <p:cNvPr id="5" name="Rectangle 4"/>
          <p:cNvSpPr/>
          <p:nvPr/>
        </p:nvSpPr>
        <p:spPr>
          <a:xfrm>
            <a:off x="1188720" y="1097280"/>
            <a:ext cx="2011680" cy="411480"/>
          </a:xfrm>
          <a:prstGeom prst="rect">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1115568"/>
            <a:ext cx="2011680" cy="365760"/>
          </a:xfrm>
          <a:prstGeom prst="rect">
            <a:avLst/>
          </a:prstGeom>
          <a:noFill/>
        </p:spPr>
        <p:txBody>
          <a:bodyPr wrap="square">
            <a:spAutoFit/>
          </a:bodyPr>
          <a:lstStyle/>
          <a:p>
            <a:pPr algn="ctr">
              <a:defRPr sz="1300" b="1">
                <a:solidFill>
                  <a:srgbClr val="FFFFFF"/>
                </a:solidFill>
                <a:latin typeface="Calibri"/>
              </a:defRPr>
            </a:pPr>
            <a:r>
              <a:t>Feature</a:t>
            </a:r>
          </a:p>
        </p:txBody>
      </p:sp>
      <p:sp>
        <p:nvSpPr>
          <p:cNvPr id="7" name="Rectangle 6"/>
          <p:cNvSpPr/>
          <p:nvPr/>
        </p:nvSpPr>
        <p:spPr>
          <a:xfrm>
            <a:off x="3200400" y="1097280"/>
            <a:ext cx="1371600" cy="411480"/>
          </a:xfrm>
          <a:prstGeom prst="rect">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0" y="1115568"/>
            <a:ext cx="1371600" cy="365760"/>
          </a:xfrm>
          <a:prstGeom prst="rect">
            <a:avLst/>
          </a:prstGeom>
          <a:noFill/>
        </p:spPr>
        <p:txBody>
          <a:bodyPr wrap="square">
            <a:spAutoFit/>
          </a:bodyPr>
          <a:lstStyle/>
          <a:p>
            <a:pPr algn="ctr">
              <a:defRPr sz="1300" b="1">
                <a:solidFill>
                  <a:srgbClr val="FFFFFF"/>
                </a:solidFill>
                <a:latin typeface="Calibri"/>
              </a:defRPr>
            </a:pPr>
            <a:r>
              <a:t>SMAC</a:t>
            </a:r>
          </a:p>
        </p:txBody>
      </p:sp>
      <p:sp>
        <p:nvSpPr>
          <p:cNvPr id="9" name="Rectangle 8"/>
          <p:cNvSpPr/>
          <p:nvPr/>
        </p:nvSpPr>
        <p:spPr>
          <a:xfrm>
            <a:off x="4572000" y="1097280"/>
            <a:ext cx="1371600" cy="411480"/>
          </a:xfrm>
          <a:prstGeom prst="rect">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1115568"/>
            <a:ext cx="1371600" cy="365760"/>
          </a:xfrm>
          <a:prstGeom prst="rect">
            <a:avLst/>
          </a:prstGeom>
          <a:noFill/>
        </p:spPr>
        <p:txBody>
          <a:bodyPr wrap="square">
            <a:spAutoFit/>
          </a:bodyPr>
          <a:lstStyle/>
          <a:p>
            <a:pPr algn="ctr">
              <a:defRPr sz="1300" b="1">
                <a:solidFill>
                  <a:srgbClr val="FFFFFF"/>
                </a:solidFill>
                <a:latin typeface="Calibri"/>
              </a:defRPr>
            </a:pPr>
            <a:r>
              <a:t>Facebook</a:t>
            </a:r>
          </a:p>
        </p:txBody>
      </p:sp>
      <p:sp>
        <p:nvSpPr>
          <p:cNvPr id="11" name="Rectangle 10"/>
          <p:cNvSpPr/>
          <p:nvPr/>
        </p:nvSpPr>
        <p:spPr>
          <a:xfrm>
            <a:off x="5943600" y="1097280"/>
            <a:ext cx="1371600" cy="411480"/>
          </a:xfrm>
          <a:prstGeom prst="rect">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0" y="1115568"/>
            <a:ext cx="1371600" cy="365760"/>
          </a:xfrm>
          <a:prstGeom prst="rect">
            <a:avLst/>
          </a:prstGeom>
          <a:noFill/>
        </p:spPr>
        <p:txBody>
          <a:bodyPr wrap="square">
            <a:spAutoFit/>
          </a:bodyPr>
          <a:lstStyle/>
          <a:p>
            <a:pPr algn="ctr">
              <a:defRPr sz="1300" b="1">
                <a:solidFill>
                  <a:srgbClr val="FFFFFF"/>
                </a:solidFill>
                <a:latin typeface="Calibri"/>
              </a:defRPr>
            </a:pPr>
            <a:r>
              <a:t>Udemy</a:t>
            </a:r>
          </a:p>
        </p:txBody>
      </p:sp>
      <p:sp>
        <p:nvSpPr>
          <p:cNvPr id="13" name="Rectangle 12"/>
          <p:cNvSpPr/>
          <p:nvPr/>
        </p:nvSpPr>
        <p:spPr>
          <a:xfrm>
            <a:off x="7315200" y="1097280"/>
            <a:ext cx="1371600" cy="411480"/>
          </a:xfrm>
          <a:prstGeom prst="rect">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0" y="1115568"/>
            <a:ext cx="1371600" cy="365760"/>
          </a:xfrm>
          <a:prstGeom prst="rect">
            <a:avLst/>
          </a:prstGeom>
          <a:noFill/>
        </p:spPr>
        <p:txBody>
          <a:bodyPr wrap="square">
            <a:spAutoFit/>
          </a:bodyPr>
          <a:lstStyle/>
          <a:p>
            <a:pPr algn="ctr">
              <a:defRPr sz="1300" b="1">
                <a:solidFill>
                  <a:srgbClr val="FFFFFF"/>
                </a:solidFill>
                <a:latin typeface="Calibri"/>
              </a:defRPr>
            </a:pPr>
            <a:r>
              <a:t>Fiverr</a:t>
            </a:r>
          </a:p>
        </p:txBody>
      </p:sp>
      <p:sp>
        <p:nvSpPr>
          <p:cNvPr id="15" name="Rectangle 14"/>
          <p:cNvSpPr/>
          <p:nvPr/>
        </p:nvSpPr>
        <p:spPr>
          <a:xfrm>
            <a:off x="8686800" y="1097280"/>
            <a:ext cx="1371600" cy="411480"/>
          </a:xfrm>
          <a:prstGeom prst="rect">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0" y="1115568"/>
            <a:ext cx="1371600" cy="365760"/>
          </a:xfrm>
          <a:prstGeom prst="rect">
            <a:avLst/>
          </a:prstGeom>
          <a:noFill/>
        </p:spPr>
        <p:txBody>
          <a:bodyPr wrap="square">
            <a:spAutoFit/>
          </a:bodyPr>
          <a:lstStyle/>
          <a:p>
            <a:pPr algn="ctr">
              <a:defRPr sz="1300" b="1">
                <a:solidFill>
                  <a:srgbClr val="FFFFFF"/>
                </a:solidFill>
                <a:latin typeface="Calibri"/>
              </a:defRPr>
            </a:pPr>
            <a:r>
              <a:t>Daraz</a:t>
            </a:r>
          </a:p>
        </p:txBody>
      </p:sp>
      <p:sp>
        <p:nvSpPr>
          <p:cNvPr id="17" name="Rectangle 16"/>
          <p:cNvSpPr/>
          <p:nvPr/>
        </p:nvSpPr>
        <p:spPr>
          <a:xfrm>
            <a:off x="1188720" y="1508760"/>
            <a:ext cx="201168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88720" y="1554480"/>
            <a:ext cx="2011680" cy="320040"/>
          </a:xfrm>
          <a:prstGeom prst="rect">
            <a:avLst/>
          </a:prstGeom>
          <a:noFill/>
        </p:spPr>
        <p:txBody>
          <a:bodyPr wrap="square">
            <a:spAutoFit/>
          </a:bodyPr>
          <a:lstStyle/>
          <a:p>
            <a:pPr algn="ctr">
              <a:defRPr sz="1200" b="1">
                <a:solidFill>
                  <a:srgbClr val="333333"/>
                </a:solidFill>
                <a:latin typeface="Calibri"/>
              </a:defRPr>
            </a:pPr>
            <a:r>
              <a:t>Social Feed</a:t>
            </a:r>
          </a:p>
        </p:txBody>
      </p:sp>
      <p:sp>
        <p:nvSpPr>
          <p:cNvPr id="19" name="Rectangle 18"/>
          <p:cNvSpPr/>
          <p:nvPr/>
        </p:nvSpPr>
        <p:spPr>
          <a:xfrm>
            <a:off x="3200400" y="1508760"/>
            <a:ext cx="1371600" cy="384048"/>
          </a:xfrm>
          <a:prstGeom prst="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00400" y="1554480"/>
            <a:ext cx="1371600" cy="320040"/>
          </a:xfrm>
          <a:prstGeom prst="rect">
            <a:avLst/>
          </a:prstGeom>
          <a:noFill/>
        </p:spPr>
        <p:txBody>
          <a:bodyPr wrap="square">
            <a:spAutoFit/>
          </a:bodyPr>
          <a:lstStyle/>
          <a:p>
            <a:pPr algn="ctr">
              <a:defRPr sz="1200" b="1">
                <a:solidFill>
                  <a:srgbClr val="4CAF50"/>
                </a:solidFill>
                <a:latin typeface="Calibri"/>
              </a:defRPr>
            </a:pPr>
            <a:r>
              <a:t>YES</a:t>
            </a:r>
          </a:p>
        </p:txBody>
      </p:sp>
      <p:sp>
        <p:nvSpPr>
          <p:cNvPr id="21" name="Rectangle 20"/>
          <p:cNvSpPr/>
          <p:nvPr/>
        </p:nvSpPr>
        <p:spPr>
          <a:xfrm>
            <a:off x="4572000" y="1508760"/>
            <a:ext cx="13716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0" y="1554480"/>
            <a:ext cx="1371600" cy="320040"/>
          </a:xfrm>
          <a:prstGeom prst="rect">
            <a:avLst/>
          </a:prstGeom>
          <a:noFill/>
        </p:spPr>
        <p:txBody>
          <a:bodyPr wrap="square">
            <a:spAutoFit/>
          </a:bodyPr>
          <a:lstStyle/>
          <a:p>
            <a:pPr algn="ctr">
              <a:defRPr sz="1200" b="0">
                <a:solidFill>
                  <a:srgbClr val="4CAF50"/>
                </a:solidFill>
                <a:latin typeface="Calibri"/>
              </a:defRPr>
            </a:pPr>
            <a:r>
              <a:t>YES</a:t>
            </a:r>
          </a:p>
        </p:txBody>
      </p:sp>
      <p:sp>
        <p:nvSpPr>
          <p:cNvPr id="23" name="Rectangle 22"/>
          <p:cNvSpPr/>
          <p:nvPr/>
        </p:nvSpPr>
        <p:spPr>
          <a:xfrm>
            <a:off x="5943600" y="1508760"/>
            <a:ext cx="13716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43600" y="1554480"/>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25" name="Rectangle 24"/>
          <p:cNvSpPr/>
          <p:nvPr/>
        </p:nvSpPr>
        <p:spPr>
          <a:xfrm>
            <a:off x="7315200" y="1508760"/>
            <a:ext cx="13716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0" y="1554480"/>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27" name="Rectangle 26"/>
          <p:cNvSpPr/>
          <p:nvPr/>
        </p:nvSpPr>
        <p:spPr>
          <a:xfrm>
            <a:off x="8686800" y="1508760"/>
            <a:ext cx="13716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86800" y="1554480"/>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29" name="Rectangle 28"/>
          <p:cNvSpPr/>
          <p:nvPr/>
        </p:nvSpPr>
        <p:spPr>
          <a:xfrm>
            <a:off x="1188720" y="1892807"/>
            <a:ext cx="201168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88720" y="1938527"/>
            <a:ext cx="2011680" cy="320040"/>
          </a:xfrm>
          <a:prstGeom prst="rect">
            <a:avLst/>
          </a:prstGeom>
          <a:noFill/>
        </p:spPr>
        <p:txBody>
          <a:bodyPr wrap="square">
            <a:spAutoFit/>
          </a:bodyPr>
          <a:lstStyle/>
          <a:p>
            <a:pPr algn="ctr">
              <a:defRPr sz="1200" b="1">
                <a:solidFill>
                  <a:srgbClr val="333333"/>
                </a:solidFill>
                <a:latin typeface="Calibri"/>
              </a:defRPr>
            </a:pPr>
            <a:r>
              <a:t>Stories</a:t>
            </a:r>
          </a:p>
        </p:txBody>
      </p:sp>
      <p:sp>
        <p:nvSpPr>
          <p:cNvPr id="31" name="Rectangle 30"/>
          <p:cNvSpPr/>
          <p:nvPr/>
        </p:nvSpPr>
        <p:spPr>
          <a:xfrm>
            <a:off x="3200400" y="1892807"/>
            <a:ext cx="1371600" cy="384048"/>
          </a:xfrm>
          <a:prstGeom prst="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200400" y="1938527"/>
            <a:ext cx="1371600" cy="320040"/>
          </a:xfrm>
          <a:prstGeom prst="rect">
            <a:avLst/>
          </a:prstGeom>
          <a:noFill/>
        </p:spPr>
        <p:txBody>
          <a:bodyPr wrap="square">
            <a:spAutoFit/>
          </a:bodyPr>
          <a:lstStyle/>
          <a:p>
            <a:pPr algn="ctr">
              <a:defRPr sz="1200" b="1">
                <a:solidFill>
                  <a:srgbClr val="4CAF50"/>
                </a:solidFill>
                <a:latin typeface="Calibri"/>
              </a:defRPr>
            </a:pPr>
            <a:r>
              <a:t>YES</a:t>
            </a:r>
          </a:p>
        </p:txBody>
      </p:sp>
      <p:sp>
        <p:nvSpPr>
          <p:cNvPr id="33" name="Rectangle 32"/>
          <p:cNvSpPr/>
          <p:nvPr/>
        </p:nvSpPr>
        <p:spPr>
          <a:xfrm>
            <a:off x="4572000" y="1892807"/>
            <a:ext cx="1371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572000" y="1938527"/>
            <a:ext cx="1371600" cy="320040"/>
          </a:xfrm>
          <a:prstGeom prst="rect">
            <a:avLst/>
          </a:prstGeom>
          <a:noFill/>
        </p:spPr>
        <p:txBody>
          <a:bodyPr wrap="square">
            <a:spAutoFit/>
          </a:bodyPr>
          <a:lstStyle/>
          <a:p>
            <a:pPr algn="ctr">
              <a:defRPr sz="1200" b="0">
                <a:solidFill>
                  <a:srgbClr val="4CAF50"/>
                </a:solidFill>
                <a:latin typeface="Calibri"/>
              </a:defRPr>
            </a:pPr>
            <a:r>
              <a:t>YES</a:t>
            </a:r>
          </a:p>
        </p:txBody>
      </p:sp>
      <p:sp>
        <p:nvSpPr>
          <p:cNvPr id="35" name="Rectangle 34"/>
          <p:cNvSpPr/>
          <p:nvPr/>
        </p:nvSpPr>
        <p:spPr>
          <a:xfrm>
            <a:off x="5943600" y="1892807"/>
            <a:ext cx="1371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943600" y="1938527"/>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37" name="Rectangle 36"/>
          <p:cNvSpPr/>
          <p:nvPr/>
        </p:nvSpPr>
        <p:spPr>
          <a:xfrm>
            <a:off x="7315200" y="1892807"/>
            <a:ext cx="1371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315200" y="1938527"/>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39" name="Rectangle 38"/>
          <p:cNvSpPr/>
          <p:nvPr/>
        </p:nvSpPr>
        <p:spPr>
          <a:xfrm>
            <a:off x="8686800" y="1892807"/>
            <a:ext cx="1371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686800" y="1938527"/>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41" name="Rectangle 40"/>
          <p:cNvSpPr/>
          <p:nvPr/>
        </p:nvSpPr>
        <p:spPr>
          <a:xfrm>
            <a:off x="1188720" y="2276856"/>
            <a:ext cx="201168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188720" y="2322576"/>
            <a:ext cx="2011680" cy="320040"/>
          </a:xfrm>
          <a:prstGeom prst="rect">
            <a:avLst/>
          </a:prstGeom>
          <a:noFill/>
        </p:spPr>
        <p:txBody>
          <a:bodyPr wrap="square">
            <a:spAutoFit/>
          </a:bodyPr>
          <a:lstStyle/>
          <a:p>
            <a:pPr algn="ctr">
              <a:defRPr sz="1200" b="1">
                <a:solidFill>
                  <a:srgbClr val="333333"/>
                </a:solidFill>
                <a:latin typeface="Calibri"/>
              </a:defRPr>
            </a:pPr>
            <a:r>
              <a:t>Product Market</a:t>
            </a:r>
          </a:p>
        </p:txBody>
      </p:sp>
      <p:sp>
        <p:nvSpPr>
          <p:cNvPr id="43" name="Rectangle 42"/>
          <p:cNvSpPr/>
          <p:nvPr/>
        </p:nvSpPr>
        <p:spPr>
          <a:xfrm>
            <a:off x="3200400" y="2276856"/>
            <a:ext cx="1371600" cy="384048"/>
          </a:xfrm>
          <a:prstGeom prst="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200400" y="2322576"/>
            <a:ext cx="1371600" cy="320040"/>
          </a:xfrm>
          <a:prstGeom prst="rect">
            <a:avLst/>
          </a:prstGeom>
          <a:noFill/>
        </p:spPr>
        <p:txBody>
          <a:bodyPr wrap="square">
            <a:spAutoFit/>
          </a:bodyPr>
          <a:lstStyle/>
          <a:p>
            <a:pPr algn="ctr">
              <a:defRPr sz="1200" b="1">
                <a:solidFill>
                  <a:srgbClr val="4CAF50"/>
                </a:solidFill>
                <a:latin typeface="Calibri"/>
              </a:defRPr>
            </a:pPr>
            <a:r>
              <a:t>YES</a:t>
            </a:r>
          </a:p>
        </p:txBody>
      </p:sp>
      <p:sp>
        <p:nvSpPr>
          <p:cNvPr id="45" name="Rectangle 44"/>
          <p:cNvSpPr/>
          <p:nvPr/>
        </p:nvSpPr>
        <p:spPr>
          <a:xfrm>
            <a:off x="4572000" y="2276856"/>
            <a:ext cx="13716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572000" y="2322576"/>
            <a:ext cx="1371600" cy="320040"/>
          </a:xfrm>
          <a:prstGeom prst="rect">
            <a:avLst/>
          </a:prstGeom>
          <a:noFill/>
        </p:spPr>
        <p:txBody>
          <a:bodyPr wrap="square">
            <a:spAutoFit/>
          </a:bodyPr>
          <a:lstStyle/>
          <a:p>
            <a:pPr algn="ctr">
              <a:defRPr sz="1200" b="0">
                <a:solidFill>
                  <a:srgbClr val="333333"/>
                </a:solidFill>
                <a:latin typeface="Calibri"/>
              </a:defRPr>
            </a:pPr>
            <a:r>
              <a:t>Mktpl</a:t>
            </a:r>
          </a:p>
        </p:txBody>
      </p:sp>
      <p:sp>
        <p:nvSpPr>
          <p:cNvPr id="47" name="Rectangle 46"/>
          <p:cNvSpPr/>
          <p:nvPr/>
        </p:nvSpPr>
        <p:spPr>
          <a:xfrm>
            <a:off x="5943600" y="2276856"/>
            <a:ext cx="13716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943600" y="2322576"/>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49" name="Rectangle 48"/>
          <p:cNvSpPr/>
          <p:nvPr/>
        </p:nvSpPr>
        <p:spPr>
          <a:xfrm>
            <a:off x="7315200" y="2276856"/>
            <a:ext cx="13716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15200" y="2322576"/>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51" name="Rectangle 50"/>
          <p:cNvSpPr/>
          <p:nvPr/>
        </p:nvSpPr>
        <p:spPr>
          <a:xfrm>
            <a:off x="8686800" y="2276856"/>
            <a:ext cx="13716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686800" y="2322576"/>
            <a:ext cx="1371600" cy="320040"/>
          </a:xfrm>
          <a:prstGeom prst="rect">
            <a:avLst/>
          </a:prstGeom>
          <a:noFill/>
        </p:spPr>
        <p:txBody>
          <a:bodyPr wrap="square">
            <a:spAutoFit/>
          </a:bodyPr>
          <a:lstStyle/>
          <a:p>
            <a:pPr algn="ctr">
              <a:defRPr sz="1200" b="0">
                <a:solidFill>
                  <a:srgbClr val="4CAF50"/>
                </a:solidFill>
                <a:latin typeface="Calibri"/>
              </a:defRPr>
            </a:pPr>
            <a:r>
              <a:t>YES</a:t>
            </a:r>
          </a:p>
        </p:txBody>
      </p:sp>
      <p:sp>
        <p:nvSpPr>
          <p:cNvPr id="53" name="Rectangle 52"/>
          <p:cNvSpPr/>
          <p:nvPr/>
        </p:nvSpPr>
        <p:spPr>
          <a:xfrm>
            <a:off x="1188720" y="2660904"/>
            <a:ext cx="201168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188720" y="2706624"/>
            <a:ext cx="2011680" cy="320040"/>
          </a:xfrm>
          <a:prstGeom prst="rect">
            <a:avLst/>
          </a:prstGeom>
          <a:noFill/>
        </p:spPr>
        <p:txBody>
          <a:bodyPr wrap="square">
            <a:spAutoFit/>
          </a:bodyPr>
          <a:lstStyle/>
          <a:p>
            <a:pPr algn="ctr">
              <a:defRPr sz="1200" b="1">
                <a:solidFill>
                  <a:srgbClr val="333333"/>
                </a:solidFill>
                <a:latin typeface="Calibri"/>
              </a:defRPr>
            </a:pPr>
            <a:r>
              <a:t>Course Platform</a:t>
            </a:r>
          </a:p>
        </p:txBody>
      </p:sp>
      <p:sp>
        <p:nvSpPr>
          <p:cNvPr id="55" name="Rectangle 54"/>
          <p:cNvSpPr/>
          <p:nvPr/>
        </p:nvSpPr>
        <p:spPr>
          <a:xfrm>
            <a:off x="3200400" y="2660904"/>
            <a:ext cx="1371600" cy="384048"/>
          </a:xfrm>
          <a:prstGeom prst="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200400" y="2706624"/>
            <a:ext cx="1371600" cy="320040"/>
          </a:xfrm>
          <a:prstGeom prst="rect">
            <a:avLst/>
          </a:prstGeom>
          <a:noFill/>
        </p:spPr>
        <p:txBody>
          <a:bodyPr wrap="square">
            <a:spAutoFit/>
          </a:bodyPr>
          <a:lstStyle/>
          <a:p>
            <a:pPr algn="ctr">
              <a:defRPr sz="1200" b="1">
                <a:solidFill>
                  <a:srgbClr val="4CAF50"/>
                </a:solidFill>
                <a:latin typeface="Calibri"/>
              </a:defRPr>
            </a:pPr>
            <a:r>
              <a:t>YES</a:t>
            </a:r>
          </a:p>
        </p:txBody>
      </p:sp>
      <p:sp>
        <p:nvSpPr>
          <p:cNvPr id="57" name="Rectangle 56"/>
          <p:cNvSpPr/>
          <p:nvPr/>
        </p:nvSpPr>
        <p:spPr>
          <a:xfrm>
            <a:off x="4572000" y="2660904"/>
            <a:ext cx="1371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572000" y="2706624"/>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59" name="Rectangle 58"/>
          <p:cNvSpPr/>
          <p:nvPr/>
        </p:nvSpPr>
        <p:spPr>
          <a:xfrm>
            <a:off x="5943600" y="2660904"/>
            <a:ext cx="1371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943600" y="2706624"/>
            <a:ext cx="1371600" cy="320040"/>
          </a:xfrm>
          <a:prstGeom prst="rect">
            <a:avLst/>
          </a:prstGeom>
          <a:noFill/>
        </p:spPr>
        <p:txBody>
          <a:bodyPr wrap="square">
            <a:spAutoFit/>
          </a:bodyPr>
          <a:lstStyle/>
          <a:p>
            <a:pPr algn="ctr">
              <a:defRPr sz="1200" b="0">
                <a:solidFill>
                  <a:srgbClr val="4CAF50"/>
                </a:solidFill>
                <a:latin typeface="Calibri"/>
              </a:defRPr>
            </a:pPr>
            <a:r>
              <a:t>YES</a:t>
            </a:r>
          </a:p>
        </p:txBody>
      </p:sp>
      <p:sp>
        <p:nvSpPr>
          <p:cNvPr id="61" name="Rectangle 60"/>
          <p:cNvSpPr/>
          <p:nvPr/>
        </p:nvSpPr>
        <p:spPr>
          <a:xfrm>
            <a:off x="7315200" y="2660904"/>
            <a:ext cx="1371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315200" y="2706624"/>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63" name="Rectangle 62"/>
          <p:cNvSpPr/>
          <p:nvPr/>
        </p:nvSpPr>
        <p:spPr>
          <a:xfrm>
            <a:off x="8686800" y="2660904"/>
            <a:ext cx="1371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686800" y="2706624"/>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65" name="Rectangle 64"/>
          <p:cNvSpPr/>
          <p:nvPr/>
        </p:nvSpPr>
        <p:spPr>
          <a:xfrm>
            <a:off x="1188720" y="3044952"/>
            <a:ext cx="201168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188720" y="3090672"/>
            <a:ext cx="2011680" cy="320040"/>
          </a:xfrm>
          <a:prstGeom prst="rect">
            <a:avLst/>
          </a:prstGeom>
          <a:noFill/>
        </p:spPr>
        <p:txBody>
          <a:bodyPr wrap="square">
            <a:spAutoFit/>
          </a:bodyPr>
          <a:lstStyle/>
          <a:p>
            <a:pPr algn="ctr">
              <a:defRPr sz="1200" b="1">
                <a:solidFill>
                  <a:srgbClr val="333333"/>
                </a:solidFill>
                <a:latin typeface="Calibri"/>
              </a:defRPr>
            </a:pPr>
            <a:r>
              <a:t>Service Market</a:t>
            </a:r>
          </a:p>
        </p:txBody>
      </p:sp>
      <p:sp>
        <p:nvSpPr>
          <p:cNvPr id="67" name="Rectangle 66"/>
          <p:cNvSpPr/>
          <p:nvPr/>
        </p:nvSpPr>
        <p:spPr>
          <a:xfrm>
            <a:off x="3200400" y="3044952"/>
            <a:ext cx="1371600" cy="384048"/>
          </a:xfrm>
          <a:prstGeom prst="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200400" y="3090672"/>
            <a:ext cx="1371600" cy="320040"/>
          </a:xfrm>
          <a:prstGeom prst="rect">
            <a:avLst/>
          </a:prstGeom>
          <a:noFill/>
        </p:spPr>
        <p:txBody>
          <a:bodyPr wrap="square">
            <a:spAutoFit/>
          </a:bodyPr>
          <a:lstStyle/>
          <a:p>
            <a:pPr algn="ctr">
              <a:defRPr sz="1200" b="1">
                <a:solidFill>
                  <a:srgbClr val="4CAF50"/>
                </a:solidFill>
                <a:latin typeface="Calibri"/>
              </a:defRPr>
            </a:pPr>
            <a:r>
              <a:t>YES</a:t>
            </a:r>
          </a:p>
        </p:txBody>
      </p:sp>
      <p:sp>
        <p:nvSpPr>
          <p:cNvPr id="69" name="Rectangle 68"/>
          <p:cNvSpPr/>
          <p:nvPr/>
        </p:nvSpPr>
        <p:spPr>
          <a:xfrm>
            <a:off x="4572000" y="3044952"/>
            <a:ext cx="13716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572000" y="3090672"/>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71" name="Rectangle 70"/>
          <p:cNvSpPr/>
          <p:nvPr/>
        </p:nvSpPr>
        <p:spPr>
          <a:xfrm>
            <a:off x="5943600" y="3044952"/>
            <a:ext cx="13716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5943600" y="3090672"/>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73" name="Rectangle 72"/>
          <p:cNvSpPr/>
          <p:nvPr/>
        </p:nvSpPr>
        <p:spPr>
          <a:xfrm>
            <a:off x="7315200" y="3044952"/>
            <a:ext cx="13716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315200" y="3090672"/>
            <a:ext cx="1371600" cy="320040"/>
          </a:xfrm>
          <a:prstGeom prst="rect">
            <a:avLst/>
          </a:prstGeom>
          <a:noFill/>
        </p:spPr>
        <p:txBody>
          <a:bodyPr wrap="square">
            <a:spAutoFit/>
          </a:bodyPr>
          <a:lstStyle/>
          <a:p>
            <a:pPr algn="ctr">
              <a:defRPr sz="1200" b="0">
                <a:solidFill>
                  <a:srgbClr val="4CAF50"/>
                </a:solidFill>
                <a:latin typeface="Calibri"/>
              </a:defRPr>
            </a:pPr>
            <a:r>
              <a:t>YES</a:t>
            </a:r>
          </a:p>
        </p:txBody>
      </p:sp>
      <p:sp>
        <p:nvSpPr>
          <p:cNvPr id="75" name="Rectangle 74"/>
          <p:cNvSpPr/>
          <p:nvPr/>
        </p:nvSpPr>
        <p:spPr>
          <a:xfrm>
            <a:off x="8686800" y="3044952"/>
            <a:ext cx="13716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686800" y="3090672"/>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77" name="Rectangle 76"/>
          <p:cNvSpPr/>
          <p:nvPr/>
        </p:nvSpPr>
        <p:spPr>
          <a:xfrm>
            <a:off x="1188720" y="3429000"/>
            <a:ext cx="201168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1188720" y="3474720"/>
            <a:ext cx="2011680" cy="320040"/>
          </a:xfrm>
          <a:prstGeom prst="rect">
            <a:avLst/>
          </a:prstGeom>
          <a:noFill/>
        </p:spPr>
        <p:txBody>
          <a:bodyPr wrap="square">
            <a:spAutoFit/>
          </a:bodyPr>
          <a:lstStyle/>
          <a:p>
            <a:pPr algn="ctr">
              <a:defRPr sz="1200" b="1">
                <a:solidFill>
                  <a:srgbClr val="333333"/>
                </a:solidFill>
                <a:latin typeface="Calibri"/>
              </a:defRPr>
            </a:pPr>
            <a:r>
              <a:t>Real-time Chat</a:t>
            </a:r>
          </a:p>
        </p:txBody>
      </p:sp>
      <p:sp>
        <p:nvSpPr>
          <p:cNvPr id="79" name="Rectangle 78"/>
          <p:cNvSpPr/>
          <p:nvPr/>
        </p:nvSpPr>
        <p:spPr>
          <a:xfrm>
            <a:off x="3200400" y="3429000"/>
            <a:ext cx="1371600" cy="384048"/>
          </a:xfrm>
          <a:prstGeom prst="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3200400" y="3474720"/>
            <a:ext cx="1371600" cy="320040"/>
          </a:xfrm>
          <a:prstGeom prst="rect">
            <a:avLst/>
          </a:prstGeom>
          <a:noFill/>
        </p:spPr>
        <p:txBody>
          <a:bodyPr wrap="square">
            <a:spAutoFit/>
          </a:bodyPr>
          <a:lstStyle/>
          <a:p>
            <a:pPr algn="ctr">
              <a:defRPr sz="1200" b="1">
                <a:solidFill>
                  <a:srgbClr val="4CAF50"/>
                </a:solidFill>
                <a:latin typeface="Calibri"/>
              </a:defRPr>
            </a:pPr>
            <a:r>
              <a:t>YES</a:t>
            </a:r>
          </a:p>
        </p:txBody>
      </p:sp>
      <p:sp>
        <p:nvSpPr>
          <p:cNvPr id="81" name="Rectangle 80"/>
          <p:cNvSpPr/>
          <p:nvPr/>
        </p:nvSpPr>
        <p:spPr>
          <a:xfrm>
            <a:off x="4572000" y="3429000"/>
            <a:ext cx="1371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4572000" y="3474720"/>
            <a:ext cx="1371600" cy="320040"/>
          </a:xfrm>
          <a:prstGeom prst="rect">
            <a:avLst/>
          </a:prstGeom>
          <a:noFill/>
        </p:spPr>
        <p:txBody>
          <a:bodyPr wrap="square">
            <a:spAutoFit/>
          </a:bodyPr>
          <a:lstStyle/>
          <a:p>
            <a:pPr algn="ctr">
              <a:defRPr sz="1200" b="0">
                <a:solidFill>
                  <a:srgbClr val="333333"/>
                </a:solidFill>
                <a:latin typeface="Calibri"/>
              </a:defRPr>
            </a:pPr>
            <a:r>
              <a:t>Msgr</a:t>
            </a:r>
          </a:p>
        </p:txBody>
      </p:sp>
      <p:sp>
        <p:nvSpPr>
          <p:cNvPr id="83" name="Rectangle 82"/>
          <p:cNvSpPr/>
          <p:nvPr/>
        </p:nvSpPr>
        <p:spPr>
          <a:xfrm>
            <a:off x="5943600" y="3429000"/>
            <a:ext cx="1371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5943600" y="3474720"/>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85" name="Rectangle 84"/>
          <p:cNvSpPr/>
          <p:nvPr/>
        </p:nvSpPr>
        <p:spPr>
          <a:xfrm>
            <a:off x="7315200" y="3429000"/>
            <a:ext cx="1371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7315200" y="3474720"/>
            <a:ext cx="1371600" cy="320040"/>
          </a:xfrm>
          <a:prstGeom prst="rect">
            <a:avLst/>
          </a:prstGeom>
          <a:noFill/>
        </p:spPr>
        <p:txBody>
          <a:bodyPr wrap="square">
            <a:spAutoFit/>
          </a:bodyPr>
          <a:lstStyle/>
          <a:p>
            <a:pPr algn="ctr">
              <a:defRPr sz="1200" b="0">
                <a:solidFill>
                  <a:srgbClr val="4CAF50"/>
                </a:solidFill>
                <a:latin typeface="Calibri"/>
              </a:defRPr>
            </a:pPr>
            <a:r>
              <a:t>YES</a:t>
            </a:r>
          </a:p>
        </p:txBody>
      </p:sp>
      <p:sp>
        <p:nvSpPr>
          <p:cNvPr id="87" name="Rectangle 86"/>
          <p:cNvSpPr/>
          <p:nvPr/>
        </p:nvSpPr>
        <p:spPr>
          <a:xfrm>
            <a:off x="8686800" y="3429000"/>
            <a:ext cx="1371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8686800" y="3474720"/>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89" name="Rectangle 88"/>
          <p:cNvSpPr/>
          <p:nvPr/>
        </p:nvSpPr>
        <p:spPr>
          <a:xfrm>
            <a:off x="1188720" y="3813048"/>
            <a:ext cx="201168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1188720" y="3858768"/>
            <a:ext cx="2011680" cy="320040"/>
          </a:xfrm>
          <a:prstGeom prst="rect">
            <a:avLst/>
          </a:prstGeom>
          <a:noFill/>
        </p:spPr>
        <p:txBody>
          <a:bodyPr wrap="square">
            <a:spAutoFit/>
          </a:bodyPr>
          <a:lstStyle/>
          <a:p>
            <a:pPr algn="ctr">
              <a:defRPr sz="1200" b="1">
                <a:solidFill>
                  <a:srgbClr val="333333"/>
                </a:solidFill>
                <a:latin typeface="Calibri"/>
              </a:defRPr>
            </a:pPr>
            <a:r>
              <a:t>Refund System</a:t>
            </a:r>
          </a:p>
        </p:txBody>
      </p:sp>
      <p:sp>
        <p:nvSpPr>
          <p:cNvPr id="91" name="Rectangle 90"/>
          <p:cNvSpPr/>
          <p:nvPr/>
        </p:nvSpPr>
        <p:spPr>
          <a:xfrm>
            <a:off x="3200400" y="3813048"/>
            <a:ext cx="1371600" cy="384048"/>
          </a:xfrm>
          <a:prstGeom prst="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3200400" y="3858768"/>
            <a:ext cx="1371600" cy="320040"/>
          </a:xfrm>
          <a:prstGeom prst="rect">
            <a:avLst/>
          </a:prstGeom>
          <a:noFill/>
        </p:spPr>
        <p:txBody>
          <a:bodyPr wrap="square">
            <a:spAutoFit/>
          </a:bodyPr>
          <a:lstStyle/>
          <a:p>
            <a:pPr algn="ctr">
              <a:defRPr sz="1200" b="1">
                <a:solidFill>
                  <a:srgbClr val="4CAF50"/>
                </a:solidFill>
                <a:latin typeface="Calibri"/>
              </a:defRPr>
            </a:pPr>
            <a:r>
              <a:t>YES</a:t>
            </a:r>
          </a:p>
        </p:txBody>
      </p:sp>
      <p:sp>
        <p:nvSpPr>
          <p:cNvPr id="93" name="Rectangle 92"/>
          <p:cNvSpPr/>
          <p:nvPr/>
        </p:nvSpPr>
        <p:spPr>
          <a:xfrm>
            <a:off x="4572000" y="3813048"/>
            <a:ext cx="13716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4572000" y="3858768"/>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95" name="Rectangle 94"/>
          <p:cNvSpPr/>
          <p:nvPr/>
        </p:nvSpPr>
        <p:spPr>
          <a:xfrm>
            <a:off x="5943600" y="3813048"/>
            <a:ext cx="13716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5943600" y="3858768"/>
            <a:ext cx="1371600" cy="320040"/>
          </a:xfrm>
          <a:prstGeom prst="rect">
            <a:avLst/>
          </a:prstGeom>
          <a:noFill/>
        </p:spPr>
        <p:txBody>
          <a:bodyPr wrap="square">
            <a:spAutoFit/>
          </a:bodyPr>
          <a:lstStyle/>
          <a:p>
            <a:pPr algn="ctr">
              <a:defRPr sz="1200" b="0">
                <a:solidFill>
                  <a:srgbClr val="4CAF50"/>
                </a:solidFill>
                <a:latin typeface="Calibri"/>
              </a:defRPr>
            </a:pPr>
            <a:r>
              <a:t>YES</a:t>
            </a:r>
          </a:p>
        </p:txBody>
      </p:sp>
      <p:sp>
        <p:nvSpPr>
          <p:cNvPr id="97" name="Rectangle 96"/>
          <p:cNvSpPr/>
          <p:nvPr/>
        </p:nvSpPr>
        <p:spPr>
          <a:xfrm>
            <a:off x="7315200" y="3813048"/>
            <a:ext cx="13716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7315200" y="3858768"/>
            <a:ext cx="1371600" cy="320040"/>
          </a:xfrm>
          <a:prstGeom prst="rect">
            <a:avLst/>
          </a:prstGeom>
          <a:noFill/>
        </p:spPr>
        <p:txBody>
          <a:bodyPr wrap="square">
            <a:spAutoFit/>
          </a:bodyPr>
          <a:lstStyle/>
          <a:p>
            <a:pPr algn="ctr">
              <a:defRPr sz="1200" b="0">
                <a:solidFill>
                  <a:srgbClr val="4CAF50"/>
                </a:solidFill>
                <a:latin typeface="Calibri"/>
              </a:defRPr>
            </a:pPr>
            <a:r>
              <a:t>YES</a:t>
            </a:r>
          </a:p>
        </p:txBody>
      </p:sp>
      <p:sp>
        <p:nvSpPr>
          <p:cNvPr id="99" name="Rectangle 98"/>
          <p:cNvSpPr/>
          <p:nvPr/>
        </p:nvSpPr>
        <p:spPr>
          <a:xfrm>
            <a:off x="8686800" y="3813048"/>
            <a:ext cx="13716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8686800" y="3858768"/>
            <a:ext cx="1371600" cy="320040"/>
          </a:xfrm>
          <a:prstGeom prst="rect">
            <a:avLst/>
          </a:prstGeom>
          <a:noFill/>
        </p:spPr>
        <p:txBody>
          <a:bodyPr wrap="square">
            <a:spAutoFit/>
          </a:bodyPr>
          <a:lstStyle/>
          <a:p>
            <a:pPr algn="ctr">
              <a:defRPr sz="1200" b="0">
                <a:solidFill>
                  <a:srgbClr val="4CAF50"/>
                </a:solidFill>
                <a:latin typeface="Calibri"/>
              </a:defRPr>
            </a:pPr>
            <a:r>
              <a:t>YES</a:t>
            </a:r>
          </a:p>
        </p:txBody>
      </p:sp>
      <p:sp>
        <p:nvSpPr>
          <p:cNvPr id="101" name="Rectangle 100"/>
          <p:cNvSpPr/>
          <p:nvPr/>
        </p:nvSpPr>
        <p:spPr>
          <a:xfrm>
            <a:off x="1188720" y="4197096"/>
            <a:ext cx="201168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1188720" y="4242816"/>
            <a:ext cx="2011680" cy="320040"/>
          </a:xfrm>
          <a:prstGeom prst="rect">
            <a:avLst/>
          </a:prstGeom>
          <a:noFill/>
        </p:spPr>
        <p:txBody>
          <a:bodyPr wrap="square">
            <a:spAutoFit/>
          </a:bodyPr>
          <a:lstStyle/>
          <a:p>
            <a:pPr algn="ctr">
              <a:defRPr sz="1200" b="1">
                <a:solidFill>
                  <a:srgbClr val="333333"/>
                </a:solidFill>
                <a:latin typeface="Calibri"/>
              </a:defRPr>
            </a:pPr>
            <a:r>
              <a:t>Admin Dashboard</a:t>
            </a:r>
          </a:p>
        </p:txBody>
      </p:sp>
      <p:sp>
        <p:nvSpPr>
          <p:cNvPr id="103" name="Rectangle 102"/>
          <p:cNvSpPr/>
          <p:nvPr/>
        </p:nvSpPr>
        <p:spPr>
          <a:xfrm>
            <a:off x="3200400" y="4197096"/>
            <a:ext cx="1371600" cy="384048"/>
          </a:xfrm>
          <a:prstGeom prst="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3200400" y="4242816"/>
            <a:ext cx="1371600" cy="320040"/>
          </a:xfrm>
          <a:prstGeom prst="rect">
            <a:avLst/>
          </a:prstGeom>
          <a:noFill/>
        </p:spPr>
        <p:txBody>
          <a:bodyPr wrap="square">
            <a:spAutoFit/>
          </a:bodyPr>
          <a:lstStyle/>
          <a:p>
            <a:pPr algn="ctr">
              <a:defRPr sz="1200" b="1">
                <a:solidFill>
                  <a:srgbClr val="4CAF50"/>
                </a:solidFill>
                <a:latin typeface="Calibri"/>
              </a:defRPr>
            </a:pPr>
            <a:r>
              <a:t>YES</a:t>
            </a:r>
          </a:p>
        </p:txBody>
      </p:sp>
      <p:sp>
        <p:nvSpPr>
          <p:cNvPr id="105" name="Rectangle 104"/>
          <p:cNvSpPr/>
          <p:nvPr/>
        </p:nvSpPr>
        <p:spPr>
          <a:xfrm>
            <a:off x="4572000" y="4197096"/>
            <a:ext cx="1371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4572000" y="4242816"/>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107" name="Rectangle 106"/>
          <p:cNvSpPr/>
          <p:nvPr/>
        </p:nvSpPr>
        <p:spPr>
          <a:xfrm>
            <a:off x="5943600" y="4197096"/>
            <a:ext cx="1371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5943600" y="4242816"/>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109" name="Rectangle 108"/>
          <p:cNvSpPr/>
          <p:nvPr/>
        </p:nvSpPr>
        <p:spPr>
          <a:xfrm>
            <a:off x="7315200" y="4197096"/>
            <a:ext cx="1371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7315200" y="4242816"/>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111" name="Rectangle 110"/>
          <p:cNvSpPr/>
          <p:nvPr/>
        </p:nvSpPr>
        <p:spPr>
          <a:xfrm>
            <a:off x="8686800" y="4197096"/>
            <a:ext cx="1371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8686800" y="4242816"/>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113" name="Rectangle 112"/>
          <p:cNvSpPr/>
          <p:nvPr/>
        </p:nvSpPr>
        <p:spPr>
          <a:xfrm>
            <a:off x="1188720" y="4581144"/>
            <a:ext cx="201168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1188720" y="4626864"/>
            <a:ext cx="2011680" cy="320040"/>
          </a:xfrm>
          <a:prstGeom prst="rect">
            <a:avLst/>
          </a:prstGeom>
          <a:noFill/>
        </p:spPr>
        <p:txBody>
          <a:bodyPr wrap="square">
            <a:spAutoFit/>
          </a:bodyPr>
          <a:lstStyle/>
          <a:p>
            <a:pPr algn="ctr">
              <a:defRPr sz="1200" b="1">
                <a:solidFill>
                  <a:srgbClr val="333333"/>
                </a:solidFill>
                <a:latin typeface="Calibri"/>
              </a:defRPr>
            </a:pPr>
            <a:r>
              <a:t>PKR Native</a:t>
            </a:r>
          </a:p>
        </p:txBody>
      </p:sp>
      <p:sp>
        <p:nvSpPr>
          <p:cNvPr id="115" name="Rectangle 114"/>
          <p:cNvSpPr/>
          <p:nvPr/>
        </p:nvSpPr>
        <p:spPr>
          <a:xfrm>
            <a:off x="3200400" y="4581144"/>
            <a:ext cx="1371600" cy="384048"/>
          </a:xfrm>
          <a:prstGeom prst="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3200400" y="4626864"/>
            <a:ext cx="1371600" cy="320040"/>
          </a:xfrm>
          <a:prstGeom prst="rect">
            <a:avLst/>
          </a:prstGeom>
          <a:noFill/>
        </p:spPr>
        <p:txBody>
          <a:bodyPr wrap="square">
            <a:spAutoFit/>
          </a:bodyPr>
          <a:lstStyle/>
          <a:p>
            <a:pPr algn="ctr">
              <a:defRPr sz="1200" b="1">
                <a:solidFill>
                  <a:srgbClr val="4CAF50"/>
                </a:solidFill>
                <a:latin typeface="Calibri"/>
              </a:defRPr>
            </a:pPr>
            <a:r>
              <a:t>YES</a:t>
            </a:r>
          </a:p>
        </p:txBody>
      </p:sp>
      <p:sp>
        <p:nvSpPr>
          <p:cNvPr id="117" name="Rectangle 116"/>
          <p:cNvSpPr/>
          <p:nvPr/>
        </p:nvSpPr>
        <p:spPr>
          <a:xfrm>
            <a:off x="4572000" y="4581144"/>
            <a:ext cx="13716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4572000" y="4626864"/>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119" name="Rectangle 118"/>
          <p:cNvSpPr/>
          <p:nvPr/>
        </p:nvSpPr>
        <p:spPr>
          <a:xfrm>
            <a:off x="5943600" y="4581144"/>
            <a:ext cx="13716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5943600" y="4626864"/>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121" name="Rectangle 120"/>
          <p:cNvSpPr/>
          <p:nvPr/>
        </p:nvSpPr>
        <p:spPr>
          <a:xfrm>
            <a:off x="7315200" y="4581144"/>
            <a:ext cx="13716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7315200" y="4626864"/>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123" name="Rectangle 122"/>
          <p:cNvSpPr/>
          <p:nvPr/>
        </p:nvSpPr>
        <p:spPr>
          <a:xfrm>
            <a:off x="8686800" y="4581144"/>
            <a:ext cx="137160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8686800" y="4626864"/>
            <a:ext cx="1371600" cy="320040"/>
          </a:xfrm>
          <a:prstGeom prst="rect">
            <a:avLst/>
          </a:prstGeom>
          <a:noFill/>
        </p:spPr>
        <p:txBody>
          <a:bodyPr wrap="square">
            <a:spAutoFit/>
          </a:bodyPr>
          <a:lstStyle/>
          <a:p>
            <a:pPr algn="ctr">
              <a:defRPr sz="1200" b="0">
                <a:solidFill>
                  <a:srgbClr val="4CAF50"/>
                </a:solidFill>
                <a:latin typeface="Calibri"/>
              </a:defRPr>
            </a:pPr>
            <a:r>
              <a:t>YES</a:t>
            </a:r>
          </a:p>
        </p:txBody>
      </p:sp>
      <p:sp>
        <p:nvSpPr>
          <p:cNvPr id="125" name="Rectangle 124"/>
          <p:cNvSpPr/>
          <p:nvPr/>
        </p:nvSpPr>
        <p:spPr>
          <a:xfrm>
            <a:off x="1188720" y="4965192"/>
            <a:ext cx="201168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1188720" y="5010912"/>
            <a:ext cx="2011680" cy="320040"/>
          </a:xfrm>
          <a:prstGeom prst="rect">
            <a:avLst/>
          </a:prstGeom>
          <a:noFill/>
        </p:spPr>
        <p:txBody>
          <a:bodyPr wrap="square">
            <a:spAutoFit/>
          </a:bodyPr>
          <a:lstStyle/>
          <a:p>
            <a:pPr algn="ctr">
              <a:defRPr sz="1200" b="1">
                <a:solidFill>
                  <a:srgbClr val="333333"/>
                </a:solidFill>
                <a:latin typeface="Calibri"/>
              </a:defRPr>
            </a:pPr>
            <a:r>
              <a:t>Low Fees (5%)</a:t>
            </a:r>
          </a:p>
        </p:txBody>
      </p:sp>
      <p:sp>
        <p:nvSpPr>
          <p:cNvPr id="127" name="Rectangle 126"/>
          <p:cNvSpPr/>
          <p:nvPr/>
        </p:nvSpPr>
        <p:spPr>
          <a:xfrm>
            <a:off x="3200400" y="4965192"/>
            <a:ext cx="1371600" cy="384048"/>
          </a:xfrm>
          <a:prstGeom prst="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3200400" y="5010912"/>
            <a:ext cx="1371600" cy="320040"/>
          </a:xfrm>
          <a:prstGeom prst="rect">
            <a:avLst/>
          </a:prstGeom>
          <a:noFill/>
        </p:spPr>
        <p:txBody>
          <a:bodyPr wrap="square">
            <a:spAutoFit/>
          </a:bodyPr>
          <a:lstStyle/>
          <a:p>
            <a:pPr algn="ctr">
              <a:defRPr sz="1200" b="1">
                <a:solidFill>
                  <a:srgbClr val="4CAF50"/>
                </a:solidFill>
                <a:latin typeface="Calibri"/>
              </a:defRPr>
            </a:pPr>
            <a:r>
              <a:t>YES</a:t>
            </a:r>
          </a:p>
        </p:txBody>
      </p:sp>
      <p:sp>
        <p:nvSpPr>
          <p:cNvPr id="129" name="Rectangle 128"/>
          <p:cNvSpPr/>
          <p:nvPr/>
        </p:nvSpPr>
        <p:spPr>
          <a:xfrm>
            <a:off x="4572000" y="4965192"/>
            <a:ext cx="1371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4572000" y="5010912"/>
            <a:ext cx="1371600" cy="320040"/>
          </a:xfrm>
          <a:prstGeom prst="rect">
            <a:avLst/>
          </a:prstGeom>
          <a:noFill/>
        </p:spPr>
        <p:txBody>
          <a:bodyPr wrap="square">
            <a:spAutoFit/>
          </a:bodyPr>
          <a:lstStyle/>
          <a:p>
            <a:pPr algn="ctr">
              <a:defRPr sz="1200" b="0">
                <a:solidFill>
                  <a:srgbClr val="FF335C"/>
                </a:solidFill>
                <a:latin typeface="Calibri"/>
              </a:defRPr>
            </a:pPr>
            <a:r>
              <a:t>NO</a:t>
            </a:r>
          </a:p>
        </p:txBody>
      </p:sp>
      <p:sp>
        <p:nvSpPr>
          <p:cNvPr id="131" name="Rectangle 130"/>
          <p:cNvSpPr/>
          <p:nvPr/>
        </p:nvSpPr>
        <p:spPr>
          <a:xfrm>
            <a:off x="5943600" y="4965192"/>
            <a:ext cx="1371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5943600" y="5010912"/>
            <a:ext cx="1371600" cy="320040"/>
          </a:xfrm>
          <a:prstGeom prst="rect">
            <a:avLst/>
          </a:prstGeom>
          <a:noFill/>
        </p:spPr>
        <p:txBody>
          <a:bodyPr wrap="square">
            <a:spAutoFit/>
          </a:bodyPr>
          <a:lstStyle/>
          <a:p>
            <a:pPr algn="ctr">
              <a:defRPr sz="1200" b="0">
                <a:solidFill>
                  <a:srgbClr val="FF335C"/>
                </a:solidFill>
                <a:latin typeface="Calibri"/>
              </a:defRPr>
            </a:pPr>
            <a:r>
              <a:t>37%</a:t>
            </a:r>
          </a:p>
        </p:txBody>
      </p:sp>
      <p:sp>
        <p:nvSpPr>
          <p:cNvPr id="133" name="Rectangle 132"/>
          <p:cNvSpPr/>
          <p:nvPr/>
        </p:nvSpPr>
        <p:spPr>
          <a:xfrm>
            <a:off x="7315200" y="4965192"/>
            <a:ext cx="1371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7315200" y="5010912"/>
            <a:ext cx="1371600" cy="320040"/>
          </a:xfrm>
          <a:prstGeom prst="rect">
            <a:avLst/>
          </a:prstGeom>
          <a:noFill/>
        </p:spPr>
        <p:txBody>
          <a:bodyPr wrap="square">
            <a:spAutoFit/>
          </a:bodyPr>
          <a:lstStyle/>
          <a:p>
            <a:pPr algn="ctr">
              <a:defRPr sz="1200" b="0">
                <a:solidFill>
                  <a:srgbClr val="FF335C"/>
                </a:solidFill>
                <a:latin typeface="Calibri"/>
              </a:defRPr>
            </a:pPr>
            <a:r>
              <a:t>20%</a:t>
            </a:r>
          </a:p>
        </p:txBody>
      </p:sp>
      <p:sp>
        <p:nvSpPr>
          <p:cNvPr id="135" name="Rectangle 134"/>
          <p:cNvSpPr/>
          <p:nvPr/>
        </p:nvSpPr>
        <p:spPr>
          <a:xfrm>
            <a:off x="8686800" y="4965192"/>
            <a:ext cx="1371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8686800" y="5010912"/>
            <a:ext cx="1371600" cy="320040"/>
          </a:xfrm>
          <a:prstGeom prst="rect">
            <a:avLst/>
          </a:prstGeom>
          <a:noFill/>
        </p:spPr>
        <p:txBody>
          <a:bodyPr wrap="square">
            <a:spAutoFit/>
          </a:bodyPr>
          <a:lstStyle/>
          <a:p>
            <a:pPr algn="ctr">
              <a:defRPr sz="1200" b="0">
                <a:solidFill>
                  <a:srgbClr val="333333"/>
                </a:solidFill>
                <a:latin typeface="Calibri"/>
              </a:defRPr>
            </a:pPr>
            <a:r>
              <a:t>Var</a:t>
            </a:r>
          </a:p>
        </p:txBody>
      </p:sp>
      <p:sp>
        <p:nvSpPr>
          <p:cNvPr id="137" name="Rectangle 136"/>
          <p:cNvSpPr/>
          <p:nvPr/>
        </p:nvSpPr>
        <p:spPr>
          <a:xfrm>
            <a:off x="1188720" y="5440680"/>
            <a:ext cx="8869680" cy="45720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1188720" y="5458968"/>
            <a:ext cx="8869680" cy="411480"/>
          </a:xfrm>
          <a:prstGeom prst="rect">
            <a:avLst/>
          </a:prstGeom>
          <a:noFill/>
        </p:spPr>
        <p:txBody>
          <a:bodyPr wrap="square">
            <a:spAutoFit/>
          </a:bodyPr>
          <a:lstStyle/>
          <a:p>
            <a:pPr algn="ctr">
              <a:defRPr sz="1600" b="1">
                <a:solidFill>
                  <a:srgbClr val="FFFFFF"/>
                </a:solidFill>
                <a:latin typeface="Calibri"/>
              </a:defRPr>
            </a:pPr>
            <a:r>
              <a:t>No competitor offers ALL six capabilities in one platform.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492240"/>
            <a:ext cx="12191695"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0" y="6537960"/>
            <a:ext cx="640080" cy="274320"/>
          </a:xfrm>
          <a:prstGeom prst="rect">
            <a:avLst/>
          </a:prstGeom>
          <a:noFill/>
        </p:spPr>
        <p:txBody>
          <a:bodyPr wrap="square">
            <a:spAutoFit/>
          </a:bodyPr>
          <a:lstStyle/>
          <a:p>
            <a:pPr algn="r">
              <a:defRPr sz="1100" b="0">
                <a:solidFill>
                  <a:srgbClr val="FFFFFF"/>
                </a:solidFill>
                <a:latin typeface="Calibri"/>
              </a:defRPr>
            </a:pPr>
            <a:r>
              <a:t>16</a:t>
            </a:r>
          </a:p>
        </p:txBody>
      </p:sp>
      <p:sp>
        <p:nvSpPr>
          <p:cNvPr id="4" name="TextBox 3"/>
          <p:cNvSpPr txBox="1"/>
          <p:nvPr/>
        </p:nvSpPr>
        <p:spPr>
          <a:xfrm>
            <a:off x="731520" y="365760"/>
            <a:ext cx="10058400" cy="640080"/>
          </a:xfrm>
          <a:prstGeom prst="rect">
            <a:avLst/>
          </a:prstGeom>
          <a:noFill/>
        </p:spPr>
        <p:txBody>
          <a:bodyPr wrap="square">
            <a:spAutoFit/>
          </a:bodyPr>
          <a:lstStyle/>
          <a:p>
            <a:pPr algn="l">
              <a:defRPr sz="4000" b="1">
                <a:solidFill>
                  <a:srgbClr val="14A898"/>
                </a:solidFill>
                <a:latin typeface="Calibri"/>
              </a:defRPr>
            </a:pPr>
            <a:r>
              <a:t>Platform Status</a:t>
            </a:r>
          </a:p>
        </p:txBody>
      </p:sp>
      <p:sp>
        <p:nvSpPr>
          <p:cNvPr id="5" name="TextBox 4"/>
          <p:cNvSpPr txBox="1"/>
          <p:nvPr/>
        </p:nvSpPr>
        <p:spPr>
          <a:xfrm>
            <a:off x="731520" y="960120"/>
            <a:ext cx="10058400" cy="457200"/>
          </a:xfrm>
          <a:prstGeom prst="rect">
            <a:avLst/>
          </a:prstGeom>
          <a:noFill/>
        </p:spPr>
        <p:txBody>
          <a:bodyPr wrap="square">
            <a:spAutoFit/>
          </a:bodyPr>
          <a:lstStyle/>
          <a:p>
            <a:pPr algn="l">
              <a:defRPr sz="2000" b="1">
                <a:solidFill>
                  <a:srgbClr val="09524A"/>
                </a:solidFill>
                <a:latin typeface="Calibri"/>
              </a:defRPr>
            </a:pPr>
            <a:r>
              <a:t>This is not a pitch for an idea. It's a working product.</a:t>
            </a:r>
          </a:p>
        </p:txBody>
      </p:sp>
      <p:sp>
        <p:nvSpPr>
          <p:cNvPr id="6" name="TextBox 5"/>
          <p:cNvSpPr txBox="1"/>
          <p:nvPr/>
        </p:nvSpPr>
        <p:spPr>
          <a:xfrm>
            <a:off x="731520" y="1554480"/>
            <a:ext cx="2286000" cy="365760"/>
          </a:xfrm>
          <a:prstGeom prst="rect">
            <a:avLst/>
          </a:prstGeom>
          <a:noFill/>
        </p:spPr>
        <p:txBody>
          <a:bodyPr wrap="square">
            <a:spAutoFit/>
          </a:bodyPr>
          <a:lstStyle/>
          <a:p>
            <a:pPr algn="l">
              <a:defRPr sz="1400" b="1">
                <a:solidFill>
                  <a:srgbClr val="333333"/>
                </a:solidFill>
                <a:latin typeface="Calibri"/>
              </a:defRPr>
            </a:pPr>
            <a:r>
              <a:t>Authentication</a:t>
            </a:r>
          </a:p>
        </p:txBody>
      </p:sp>
      <p:sp>
        <p:nvSpPr>
          <p:cNvPr id="7" name="Rectangle 6"/>
          <p:cNvSpPr/>
          <p:nvPr/>
        </p:nvSpPr>
        <p:spPr>
          <a:xfrm>
            <a:off x="3200400" y="1627632"/>
            <a:ext cx="1828800" cy="228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200400" y="1627632"/>
            <a:ext cx="1828800" cy="2286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120640" y="1554480"/>
            <a:ext cx="548640" cy="365760"/>
          </a:xfrm>
          <a:prstGeom prst="rect">
            <a:avLst/>
          </a:prstGeom>
          <a:noFill/>
        </p:spPr>
        <p:txBody>
          <a:bodyPr wrap="square">
            <a:spAutoFit/>
          </a:bodyPr>
          <a:lstStyle/>
          <a:p>
            <a:pPr algn="l">
              <a:defRPr sz="1300" b="1">
                <a:solidFill>
                  <a:srgbClr val="4CAF50"/>
                </a:solidFill>
                <a:latin typeface="Calibri"/>
              </a:defRPr>
            </a:pPr>
            <a:r>
              <a:t>100%</a:t>
            </a:r>
          </a:p>
        </p:txBody>
      </p:sp>
      <p:sp>
        <p:nvSpPr>
          <p:cNvPr id="10" name="TextBox 9"/>
          <p:cNvSpPr txBox="1"/>
          <p:nvPr/>
        </p:nvSpPr>
        <p:spPr>
          <a:xfrm>
            <a:off x="5760720" y="1554480"/>
            <a:ext cx="5943600" cy="365760"/>
          </a:xfrm>
          <a:prstGeom prst="rect">
            <a:avLst/>
          </a:prstGeom>
          <a:noFill/>
        </p:spPr>
        <p:txBody>
          <a:bodyPr wrap="square">
            <a:spAutoFit/>
          </a:bodyPr>
          <a:lstStyle/>
          <a:p>
            <a:pPr algn="l">
              <a:defRPr sz="1300" b="0">
                <a:solidFill>
                  <a:srgbClr val="868686"/>
                </a:solidFill>
                <a:latin typeface="Calibri"/>
              </a:defRPr>
            </a:pPr>
            <a:r>
              <a:t>Email + Google OAuth + verification + reset</a:t>
            </a:r>
          </a:p>
        </p:txBody>
      </p:sp>
      <p:sp>
        <p:nvSpPr>
          <p:cNvPr id="11" name="TextBox 10"/>
          <p:cNvSpPr txBox="1"/>
          <p:nvPr/>
        </p:nvSpPr>
        <p:spPr>
          <a:xfrm>
            <a:off x="731520" y="2011680"/>
            <a:ext cx="2286000" cy="365760"/>
          </a:xfrm>
          <a:prstGeom prst="rect">
            <a:avLst/>
          </a:prstGeom>
          <a:noFill/>
        </p:spPr>
        <p:txBody>
          <a:bodyPr wrap="square">
            <a:spAutoFit/>
          </a:bodyPr>
          <a:lstStyle/>
          <a:p>
            <a:pPr algn="l">
              <a:defRPr sz="1400" b="1">
                <a:solidFill>
                  <a:srgbClr val="333333"/>
                </a:solidFill>
                <a:latin typeface="Calibri"/>
              </a:defRPr>
            </a:pPr>
            <a:r>
              <a:t>Social Feed</a:t>
            </a:r>
          </a:p>
        </p:txBody>
      </p:sp>
      <p:sp>
        <p:nvSpPr>
          <p:cNvPr id="12" name="Rectangle 11"/>
          <p:cNvSpPr/>
          <p:nvPr/>
        </p:nvSpPr>
        <p:spPr>
          <a:xfrm>
            <a:off x="3200400" y="2084832"/>
            <a:ext cx="1828800" cy="228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00400" y="2084832"/>
            <a:ext cx="1737360" cy="22860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20640" y="2011680"/>
            <a:ext cx="548640" cy="365760"/>
          </a:xfrm>
          <a:prstGeom prst="rect">
            <a:avLst/>
          </a:prstGeom>
          <a:noFill/>
        </p:spPr>
        <p:txBody>
          <a:bodyPr wrap="square">
            <a:spAutoFit/>
          </a:bodyPr>
          <a:lstStyle/>
          <a:p>
            <a:pPr algn="l">
              <a:defRPr sz="1300" b="1">
                <a:solidFill>
                  <a:srgbClr val="14A898"/>
                </a:solidFill>
                <a:latin typeface="Calibri"/>
              </a:defRPr>
            </a:pPr>
            <a:r>
              <a:t>95%</a:t>
            </a:r>
          </a:p>
        </p:txBody>
      </p:sp>
      <p:sp>
        <p:nvSpPr>
          <p:cNvPr id="15" name="TextBox 14"/>
          <p:cNvSpPr txBox="1"/>
          <p:nvPr/>
        </p:nvSpPr>
        <p:spPr>
          <a:xfrm>
            <a:off x="5760720" y="2011680"/>
            <a:ext cx="5943600" cy="365760"/>
          </a:xfrm>
          <a:prstGeom prst="rect">
            <a:avLst/>
          </a:prstGeom>
          <a:noFill/>
        </p:spPr>
        <p:txBody>
          <a:bodyPr wrap="square">
            <a:spAutoFit/>
          </a:bodyPr>
          <a:lstStyle/>
          <a:p>
            <a:pPr algn="l">
              <a:defRPr sz="1300" b="0">
                <a:solidFill>
                  <a:srgbClr val="868686"/>
                </a:solidFill>
                <a:latin typeface="Calibri"/>
              </a:defRPr>
            </a:pPr>
            <a:r>
              <a:t>Infinite scroll, stories, likes, comments, follow</a:t>
            </a:r>
          </a:p>
        </p:txBody>
      </p:sp>
      <p:sp>
        <p:nvSpPr>
          <p:cNvPr id="16" name="TextBox 15"/>
          <p:cNvSpPr txBox="1"/>
          <p:nvPr/>
        </p:nvSpPr>
        <p:spPr>
          <a:xfrm>
            <a:off x="731520" y="2468880"/>
            <a:ext cx="2286000" cy="365760"/>
          </a:xfrm>
          <a:prstGeom prst="rect">
            <a:avLst/>
          </a:prstGeom>
          <a:noFill/>
        </p:spPr>
        <p:txBody>
          <a:bodyPr wrap="square">
            <a:spAutoFit/>
          </a:bodyPr>
          <a:lstStyle/>
          <a:p>
            <a:pPr algn="l">
              <a:defRPr sz="1400" b="1">
                <a:solidFill>
                  <a:srgbClr val="333333"/>
                </a:solidFill>
                <a:latin typeface="Calibri"/>
              </a:defRPr>
            </a:pPr>
            <a:r>
              <a:t>Product Marketplace</a:t>
            </a:r>
          </a:p>
        </p:txBody>
      </p:sp>
      <p:sp>
        <p:nvSpPr>
          <p:cNvPr id="17" name="Rectangle 16"/>
          <p:cNvSpPr/>
          <p:nvPr/>
        </p:nvSpPr>
        <p:spPr>
          <a:xfrm>
            <a:off x="3200400" y="2542032"/>
            <a:ext cx="1828800" cy="228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200400" y="2542032"/>
            <a:ext cx="1828800" cy="2286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2468880"/>
            <a:ext cx="548640" cy="365760"/>
          </a:xfrm>
          <a:prstGeom prst="rect">
            <a:avLst/>
          </a:prstGeom>
          <a:noFill/>
        </p:spPr>
        <p:txBody>
          <a:bodyPr wrap="square">
            <a:spAutoFit/>
          </a:bodyPr>
          <a:lstStyle/>
          <a:p>
            <a:pPr algn="l">
              <a:defRPr sz="1300" b="1">
                <a:solidFill>
                  <a:srgbClr val="4CAF50"/>
                </a:solidFill>
                <a:latin typeface="Calibri"/>
              </a:defRPr>
            </a:pPr>
            <a:r>
              <a:t>100%</a:t>
            </a:r>
          </a:p>
        </p:txBody>
      </p:sp>
      <p:sp>
        <p:nvSpPr>
          <p:cNvPr id="20" name="TextBox 19"/>
          <p:cNvSpPr txBox="1"/>
          <p:nvPr/>
        </p:nvSpPr>
        <p:spPr>
          <a:xfrm>
            <a:off x="5760720" y="2468880"/>
            <a:ext cx="5943600" cy="365760"/>
          </a:xfrm>
          <a:prstGeom prst="rect">
            <a:avLst/>
          </a:prstGeom>
          <a:noFill/>
        </p:spPr>
        <p:txBody>
          <a:bodyPr wrap="square">
            <a:spAutoFit/>
          </a:bodyPr>
          <a:lstStyle/>
          <a:p>
            <a:pPr algn="l">
              <a:defRPr sz="1300" b="0">
                <a:solidFill>
                  <a:srgbClr val="868686"/>
                </a:solidFill>
                <a:latin typeface="Calibri"/>
              </a:defRPr>
            </a:pPr>
            <a:r>
              <a:t>Full CRUD + categories + search + filtering</a:t>
            </a:r>
          </a:p>
        </p:txBody>
      </p:sp>
      <p:sp>
        <p:nvSpPr>
          <p:cNvPr id="21" name="TextBox 20"/>
          <p:cNvSpPr txBox="1"/>
          <p:nvPr/>
        </p:nvSpPr>
        <p:spPr>
          <a:xfrm>
            <a:off x="731520" y="2926080"/>
            <a:ext cx="2286000" cy="365760"/>
          </a:xfrm>
          <a:prstGeom prst="rect">
            <a:avLst/>
          </a:prstGeom>
          <a:noFill/>
        </p:spPr>
        <p:txBody>
          <a:bodyPr wrap="square">
            <a:spAutoFit/>
          </a:bodyPr>
          <a:lstStyle/>
          <a:p>
            <a:pPr algn="l">
              <a:defRPr sz="1400" b="1">
                <a:solidFill>
                  <a:srgbClr val="333333"/>
                </a:solidFill>
                <a:latin typeface="Calibri"/>
              </a:defRPr>
            </a:pPr>
            <a:r>
              <a:t>Course Platform</a:t>
            </a:r>
          </a:p>
        </p:txBody>
      </p:sp>
      <p:sp>
        <p:nvSpPr>
          <p:cNvPr id="22" name="Rectangle 21"/>
          <p:cNvSpPr/>
          <p:nvPr/>
        </p:nvSpPr>
        <p:spPr>
          <a:xfrm>
            <a:off x="3200400" y="2999232"/>
            <a:ext cx="1828800" cy="228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200400" y="2999232"/>
            <a:ext cx="1828800" cy="2286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20640" y="2926080"/>
            <a:ext cx="548640" cy="365760"/>
          </a:xfrm>
          <a:prstGeom prst="rect">
            <a:avLst/>
          </a:prstGeom>
          <a:noFill/>
        </p:spPr>
        <p:txBody>
          <a:bodyPr wrap="square">
            <a:spAutoFit/>
          </a:bodyPr>
          <a:lstStyle/>
          <a:p>
            <a:pPr algn="l">
              <a:defRPr sz="1300" b="1">
                <a:solidFill>
                  <a:srgbClr val="4CAF50"/>
                </a:solidFill>
                <a:latin typeface="Calibri"/>
              </a:defRPr>
            </a:pPr>
            <a:r>
              <a:t>100%</a:t>
            </a:r>
          </a:p>
        </p:txBody>
      </p:sp>
      <p:sp>
        <p:nvSpPr>
          <p:cNvPr id="25" name="TextBox 24"/>
          <p:cNvSpPr txBox="1"/>
          <p:nvPr/>
        </p:nvSpPr>
        <p:spPr>
          <a:xfrm>
            <a:off x="5760720" y="2926080"/>
            <a:ext cx="5943600" cy="365760"/>
          </a:xfrm>
          <a:prstGeom prst="rect">
            <a:avLst/>
          </a:prstGeom>
          <a:noFill/>
        </p:spPr>
        <p:txBody>
          <a:bodyPr wrap="square">
            <a:spAutoFit/>
          </a:bodyPr>
          <a:lstStyle/>
          <a:p>
            <a:pPr algn="l">
              <a:defRPr sz="1300" b="0">
                <a:solidFill>
                  <a:srgbClr val="868686"/>
                </a:solidFill>
                <a:latin typeface="Calibri"/>
              </a:defRPr>
            </a:pPr>
            <a:r>
              <a:t>Creation + purchase + scheduling + refunds</a:t>
            </a:r>
          </a:p>
        </p:txBody>
      </p:sp>
      <p:sp>
        <p:nvSpPr>
          <p:cNvPr id="26" name="TextBox 25"/>
          <p:cNvSpPr txBox="1"/>
          <p:nvPr/>
        </p:nvSpPr>
        <p:spPr>
          <a:xfrm>
            <a:off x="731520" y="3383280"/>
            <a:ext cx="2286000" cy="365760"/>
          </a:xfrm>
          <a:prstGeom prst="rect">
            <a:avLst/>
          </a:prstGeom>
          <a:noFill/>
        </p:spPr>
        <p:txBody>
          <a:bodyPr wrap="square">
            <a:spAutoFit/>
          </a:bodyPr>
          <a:lstStyle/>
          <a:p>
            <a:pPr algn="l">
              <a:defRPr sz="1400" b="1">
                <a:solidFill>
                  <a:srgbClr val="333333"/>
                </a:solidFill>
                <a:latin typeface="Calibri"/>
              </a:defRPr>
            </a:pPr>
            <a:r>
              <a:t>Services Marketplace</a:t>
            </a:r>
          </a:p>
        </p:txBody>
      </p:sp>
      <p:sp>
        <p:nvSpPr>
          <p:cNvPr id="27" name="Rectangle 26"/>
          <p:cNvSpPr/>
          <p:nvPr/>
        </p:nvSpPr>
        <p:spPr>
          <a:xfrm>
            <a:off x="3200400" y="3456432"/>
            <a:ext cx="1828800" cy="228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200400" y="3456432"/>
            <a:ext cx="1828800" cy="2286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20640" y="3383280"/>
            <a:ext cx="548640" cy="365760"/>
          </a:xfrm>
          <a:prstGeom prst="rect">
            <a:avLst/>
          </a:prstGeom>
          <a:noFill/>
        </p:spPr>
        <p:txBody>
          <a:bodyPr wrap="square">
            <a:spAutoFit/>
          </a:bodyPr>
          <a:lstStyle/>
          <a:p>
            <a:pPr algn="l">
              <a:defRPr sz="1300" b="1">
                <a:solidFill>
                  <a:srgbClr val="4CAF50"/>
                </a:solidFill>
                <a:latin typeface="Calibri"/>
              </a:defRPr>
            </a:pPr>
            <a:r>
              <a:t>100%</a:t>
            </a:r>
          </a:p>
        </p:txBody>
      </p:sp>
      <p:sp>
        <p:nvSpPr>
          <p:cNvPr id="30" name="TextBox 29"/>
          <p:cNvSpPr txBox="1"/>
          <p:nvPr/>
        </p:nvSpPr>
        <p:spPr>
          <a:xfrm>
            <a:off x="5760720" y="3383280"/>
            <a:ext cx="5943600" cy="365760"/>
          </a:xfrm>
          <a:prstGeom prst="rect">
            <a:avLst/>
          </a:prstGeom>
          <a:noFill/>
        </p:spPr>
        <p:txBody>
          <a:bodyPr wrap="square">
            <a:spAutoFit/>
          </a:bodyPr>
          <a:lstStyle/>
          <a:p>
            <a:pPr algn="l">
              <a:defRPr sz="1300" b="0">
                <a:solidFill>
                  <a:srgbClr val="868686"/>
                </a:solidFill>
                <a:latin typeface="Calibri"/>
              </a:defRPr>
            </a:pPr>
            <a:r>
              <a:t>Creation + purchase + refunds</a:t>
            </a:r>
          </a:p>
        </p:txBody>
      </p:sp>
      <p:sp>
        <p:nvSpPr>
          <p:cNvPr id="31" name="TextBox 30"/>
          <p:cNvSpPr txBox="1"/>
          <p:nvPr/>
        </p:nvSpPr>
        <p:spPr>
          <a:xfrm>
            <a:off x="731520" y="3840480"/>
            <a:ext cx="2286000" cy="365760"/>
          </a:xfrm>
          <a:prstGeom prst="rect">
            <a:avLst/>
          </a:prstGeom>
          <a:noFill/>
        </p:spPr>
        <p:txBody>
          <a:bodyPr wrap="square">
            <a:spAutoFit/>
          </a:bodyPr>
          <a:lstStyle/>
          <a:p>
            <a:pPr algn="l">
              <a:defRPr sz="1400" b="1">
                <a:solidFill>
                  <a:srgbClr val="333333"/>
                </a:solidFill>
                <a:latin typeface="Calibri"/>
              </a:defRPr>
            </a:pPr>
            <a:r>
              <a:t>Real-time Chat</a:t>
            </a:r>
          </a:p>
        </p:txBody>
      </p:sp>
      <p:sp>
        <p:nvSpPr>
          <p:cNvPr id="32" name="Rectangle 31"/>
          <p:cNvSpPr/>
          <p:nvPr/>
        </p:nvSpPr>
        <p:spPr>
          <a:xfrm>
            <a:off x="3200400" y="3913632"/>
            <a:ext cx="1828800" cy="228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200400" y="3913632"/>
            <a:ext cx="1554480" cy="22860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120640" y="3840480"/>
            <a:ext cx="548640" cy="365760"/>
          </a:xfrm>
          <a:prstGeom prst="rect">
            <a:avLst/>
          </a:prstGeom>
          <a:noFill/>
        </p:spPr>
        <p:txBody>
          <a:bodyPr wrap="square">
            <a:spAutoFit/>
          </a:bodyPr>
          <a:lstStyle/>
          <a:p>
            <a:pPr algn="l">
              <a:defRPr sz="1300" b="1">
                <a:solidFill>
                  <a:srgbClr val="14A898"/>
                </a:solidFill>
                <a:latin typeface="Calibri"/>
              </a:defRPr>
            </a:pPr>
            <a:r>
              <a:t>85%</a:t>
            </a:r>
          </a:p>
        </p:txBody>
      </p:sp>
      <p:sp>
        <p:nvSpPr>
          <p:cNvPr id="35" name="TextBox 34"/>
          <p:cNvSpPr txBox="1"/>
          <p:nvPr/>
        </p:nvSpPr>
        <p:spPr>
          <a:xfrm>
            <a:off x="5760720" y="3840480"/>
            <a:ext cx="5943600" cy="365760"/>
          </a:xfrm>
          <a:prstGeom prst="rect">
            <a:avLst/>
          </a:prstGeom>
          <a:noFill/>
        </p:spPr>
        <p:txBody>
          <a:bodyPr wrap="square">
            <a:spAutoFit/>
          </a:bodyPr>
          <a:lstStyle/>
          <a:p>
            <a:pPr algn="l">
              <a:defRPr sz="1300" b="0">
                <a:solidFill>
                  <a:srgbClr val="868686"/>
                </a:solidFill>
                <a:latin typeface="Calibri"/>
              </a:defRPr>
            </a:pPr>
            <a:r>
              <a:t>1-on-1 DMs + refund chat (group chat planned)</a:t>
            </a:r>
          </a:p>
        </p:txBody>
      </p:sp>
      <p:sp>
        <p:nvSpPr>
          <p:cNvPr id="36" name="TextBox 35"/>
          <p:cNvSpPr txBox="1"/>
          <p:nvPr/>
        </p:nvSpPr>
        <p:spPr>
          <a:xfrm>
            <a:off x="731520" y="4297680"/>
            <a:ext cx="2286000" cy="365760"/>
          </a:xfrm>
          <a:prstGeom prst="rect">
            <a:avLst/>
          </a:prstGeom>
          <a:noFill/>
        </p:spPr>
        <p:txBody>
          <a:bodyPr wrap="square">
            <a:spAutoFit/>
          </a:bodyPr>
          <a:lstStyle/>
          <a:p>
            <a:pPr algn="l">
              <a:defRPr sz="1400" b="1">
                <a:solidFill>
                  <a:srgbClr val="333333"/>
                </a:solidFill>
                <a:latin typeface="Calibri"/>
              </a:defRPr>
            </a:pPr>
            <a:r>
              <a:t>Dashboards</a:t>
            </a:r>
          </a:p>
        </p:txBody>
      </p:sp>
      <p:sp>
        <p:nvSpPr>
          <p:cNvPr id="37" name="Rectangle 36"/>
          <p:cNvSpPr/>
          <p:nvPr/>
        </p:nvSpPr>
        <p:spPr>
          <a:xfrm>
            <a:off x="3200400" y="4370832"/>
            <a:ext cx="1828800" cy="228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3200400" y="4370832"/>
            <a:ext cx="1828800" cy="2286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20640" y="4297680"/>
            <a:ext cx="548640" cy="365760"/>
          </a:xfrm>
          <a:prstGeom prst="rect">
            <a:avLst/>
          </a:prstGeom>
          <a:noFill/>
        </p:spPr>
        <p:txBody>
          <a:bodyPr wrap="square">
            <a:spAutoFit/>
          </a:bodyPr>
          <a:lstStyle/>
          <a:p>
            <a:pPr algn="l">
              <a:defRPr sz="1300" b="1">
                <a:solidFill>
                  <a:srgbClr val="4CAF50"/>
                </a:solidFill>
                <a:latin typeface="Calibri"/>
              </a:defRPr>
            </a:pPr>
            <a:r>
              <a:t>100%</a:t>
            </a:r>
          </a:p>
        </p:txBody>
      </p:sp>
      <p:sp>
        <p:nvSpPr>
          <p:cNvPr id="40" name="TextBox 39"/>
          <p:cNvSpPr txBox="1"/>
          <p:nvPr/>
        </p:nvSpPr>
        <p:spPr>
          <a:xfrm>
            <a:off x="5760720" y="4297680"/>
            <a:ext cx="5943600" cy="365760"/>
          </a:xfrm>
          <a:prstGeom prst="rect">
            <a:avLst/>
          </a:prstGeom>
          <a:noFill/>
        </p:spPr>
        <p:txBody>
          <a:bodyPr wrap="square">
            <a:spAutoFit/>
          </a:bodyPr>
          <a:lstStyle/>
          <a:p>
            <a:pPr algn="l">
              <a:defRPr sz="1300" b="0">
                <a:solidFill>
                  <a:srgbClr val="868686"/>
                </a:solidFill>
                <a:latin typeface="Calibri"/>
              </a:defRPr>
            </a:pPr>
            <a:r>
              <a:t>Admin (8 tabs) + User (6 tabs) fully functional</a:t>
            </a:r>
          </a:p>
        </p:txBody>
      </p:sp>
      <p:sp>
        <p:nvSpPr>
          <p:cNvPr id="41" name="TextBox 40"/>
          <p:cNvSpPr txBox="1"/>
          <p:nvPr/>
        </p:nvSpPr>
        <p:spPr>
          <a:xfrm>
            <a:off x="731520" y="4754880"/>
            <a:ext cx="2286000" cy="365760"/>
          </a:xfrm>
          <a:prstGeom prst="rect">
            <a:avLst/>
          </a:prstGeom>
          <a:noFill/>
        </p:spPr>
        <p:txBody>
          <a:bodyPr wrap="square">
            <a:spAutoFit/>
          </a:bodyPr>
          <a:lstStyle/>
          <a:p>
            <a:pPr algn="l">
              <a:defRPr sz="1400" b="1">
                <a:solidFill>
                  <a:srgbClr val="333333"/>
                </a:solidFill>
                <a:latin typeface="Calibri"/>
              </a:defRPr>
            </a:pPr>
            <a:r>
              <a:t>Payments</a:t>
            </a:r>
          </a:p>
        </p:txBody>
      </p:sp>
      <p:sp>
        <p:nvSpPr>
          <p:cNvPr id="42" name="Rectangle 41"/>
          <p:cNvSpPr/>
          <p:nvPr/>
        </p:nvSpPr>
        <p:spPr>
          <a:xfrm>
            <a:off x="3200400" y="4828032"/>
            <a:ext cx="1828800" cy="228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3200400" y="4828032"/>
            <a:ext cx="1828800" cy="2286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120640" y="4754880"/>
            <a:ext cx="548640" cy="365760"/>
          </a:xfrm>
          <a:prstGeom prst="rect">
            <a:avLst/>
          </a:prstGeom>
          <a:noFill/>
        </p:spPr>
        <p:txBody>
          <a:bodyPr wrap="square">
            <a:spAutoFit/>
          </a:bodyPr>
          <a:lstStyle/>
          <a:p>
            <a:pPr algn="l">
              <a:defRPr sz="1300" b="1">
                <a:solidFill>
                  <a:srgbClr val="4CAF50"/>
                </a:solidFill>
                <a:latin typeface="Calibri"/>
              </a:defRPr>
            </a:pPr>
            <a:r>
              <a:t>100%</a:t>
            </a:r>
          </a:p>
        </p:txBody>
      </p:sp>
      <p:sp>
        <p:nvSpPr>
          <p:cNvPr id="45" name="TextBox 44"/>
          <p:cNvSpPr txBox="1"/>
          <p:nvPr/>
        </p:nvSpPr>
        <p:spPr>
          <a:xfrm>
            <a:off x="5760720" y="4754880"/>
            <a:ext cx="5943600" cy="365760"/>
          </a:xfrm>
          <a:prstGeom prst="rect">
            <a:avLst/>
          </a:prstGeom>
          <a:noFill/>
        </p:spPr>
        <p:txBody>
          <a:bodyPr wrap="square">
            <a:spAutoFit/>
          </a:bodyPr>
          <a:lstStyle/>
          <a:p>
            <a:pPr algn="l">
              <a:defRPr sz="1300" b="0">
                <a:solidFill>
                  <a:srgbClr val="868686"/>
                </a:solidFill>
                <a:latin typeface="Calibri"/>
              </a:defRPr>
            </a:pPr>
            <a:r>
              <a:t>Subscriptions + withdrawals + refund system</a:t>
            </a:r>
          </a:p>
        </p:txBody>
      </p:sp>
      <p:sp>
        <p:nvSpPr>
          <p:cNvPr id="46" name="TextBox 45"/>
          <p:cNvSpPr txBox="1"/>
          <p:nvPr/>
        </p:nvSpPr>
        <p:spPr>
          <a:xfrm>
            <a:off x="731520" y="5212080"/>
            <a:ext cx="2286000" cy="365760"/>
          </a:xfrm>
          <a:prstGeom prst="rect">
            <a:avLst/>
          </a:prstGeom>
          <a:noFill/>
        </p:spPr>
        <p:txBody>
          <a:bodyPr wrap="square">
            <a:spAutoFit/>
          </a:bodyPr>
          <a:lstStyle/>
          <a:p>
            <a:pPr algn="l">
              <a:defRPr sz="1400" b="1">
                <a:solidFill>
                  <a:srgbClr val="333333"/>
                </a:solidFill>
                <a:latin typeface="Calibri"/>
              </a:defRPr>
            </a:pPr>
            <a:r>
              <a:t>Global Search</a:t>
            </a:r>
          </a:p>
        </p:txBody>
      </p:sp>
      <p:sp>
        <p:nvSpPr>
          <p:cNvPr id="47" name="Rectangle 46"/>
          <p:cNvSpPr/>
          <p:nvPr/>
        </p:nvSpPr>
        <p:spPr>
          <a:xfrm>
            <a:off x="3200400" y="5285232"/>
            <a:ext cx="1828800" cy="228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3200400" y="5285232"/>
            <a:ext cx="1828800" cy="2286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20640" y="5212080"/>
            <a:ext cx="548640" cy="365760"/>
          </a:xfrm>
          <a:prstGeom prst="rect">
            <a:avLst/>
          </a:prstGeom>
          <a:noFill/>
        </p:spPr>
        <p:txBody>
          <a:bodyPr wrap="square">
            <a:spAutoFit/>
          </a:bodyPr>
          <a:lstStyle/>
          <a:p>
            <a:pPr algn="l">
              <a:defRPr sz="1300" b="1">
                <a:solidFill>
                  <a:srgbClr val="4CAF50"/>
                </a:solidFill>
                <a:latin typeface="Calibri"/>
              </a:defRPr>
            </a:pPr>
            <a:r>
              <a:t>100%</a:t>
            </a:r>
          </a:p>
        </p:txBody>
      </p:sp>
      <p:sp>
        <p:nvSpPr>
          <p:cNvPr id="50" name="TextBox 49"/>
          <p:cNvSpPr txBox="1"/>
          <p:nvPr/>
        </p:nvSpPr>
        <p:spPr>
          <a:xfrm>
            <a:off x="5760720" y="5212080"/>
            <a:ext cx="5943600" cy="365760"/>
          </a:xfrm>
          <a:prstGeom prst="rect">
            <a:avLst/>
          </a:prstGeom>
          <a:noFill/>
        </p:spPr>
        <p:txBody>
          <a:bodyPr wrap="square">
            <a:spAutoFit/>
          </a:bodyPr>
          <a:lstStyle/>
          <a:p>
            <a:pPr algn="l">
              <a:defRPr sz="1300" b="0">
                <a:solidFill>
                  <a:srgbClr val="868686"/>
                </a:solidFill>
                <a:latin typeface="Calibri"/>
              </a:defRPr>
            </a:pPr>
            <a:r>
              <a:t>Unified search across 5 content types</a:t>
            </a:r>
          </a:p>
        </p:txBody>
      </p:sp>
      <p:sp>
        <p:nvSpPr>
          <p:cNvPr id="51" name="TextBox 50"/>
          <p:cNvSpPr txBox="1"/>
          <p:nvPr/>
        </p:nvSpPr>
        <p:spPr>
          <a:xfrm>
            <a:off x="731520" y="5669280"/>
            <a:ext cx="2286000" cy="365760"/>
          </a:xfrm>
          <a:prstGeom prst="rect">
            <a:avLst/>
          </a:prstGeom>
          <a:noFill/>
        </p:spPr>
        <p:txBody>
          <a:bodyPr wrap="square">
            <a:spAutoFit/>
          </a:bodyPr>
          <a:lstStyle/>
          <a:p>
            <a:pPr algn="l">
              <a:defRPr sz="1400" b="1">
                <a:solidFill>
                  <a:srgbClr val="333333"/>
                </a:solidFill>
                <a:latin typeface="Calibri"/>
              </a:defRPr>
            </a:pPr>
            <a:r>
              <a:t>Landing Page</a:t>
            </a:r>
          </a:p>
        </p:txBody>
      </p:sp>
      <p:sp>
        <p:nvSpPr>
          <p:cNvPr id="52" name="Rectangle 51"/>
          <p:cNvSpPr/>
          <p:nvPr/>
        </p:nvSpPr>
        <p:spPr>
          <a:xfrm>
            <a:off x="3200400" y="5742432"/>
            <a:ext cx="1828800" cy="228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3200400" y="5742432"/>
            <a:ext cx="1828800" cy="2286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120640" y="5669280"/>
            <a:ext cx="548640" cy="365760"/>
          </a:xfrm>
          <a:prstGeom prst="rect">
            <a:avLst/>
          </a:prstGeom>
          <a:noFill/>
        </p:spPr>
        <p:txBody>
          <a:bodyPr wrap="square">
            <a:spAutoFit/>
          </a:bodyPr>
          <a:lstStyle/>
          <a:p>
            <a:pPr algn="l">
              <a:defRPr sz="1300" b="1">
                <a:solidFill>
                  <a:srgbClr val="4CAF50"/>
                </a:solidFill>
                <a:latin typeface="Calibri"/>
              </a:defRPr>
            </a:pPr>
            <a:r>
              <a:t>100%</a:t>
            </a:r>
          </a:p>
        </p:txBody>
      </p:sp>
      <p:sp>
        <p:nvSpPr>
          <p:cNvPr id="55" name="TextBox 54"/>
          <p:cNvSpPr txBox="1"/>
          <p:nvPr/>
        </p:nvSpPr>
        <p:spPr>
          <a:xfrm>
            <a:off x="5760720" y="5669280"/>
            <a:ext cx="5943600" cy="365760"/>
          </a:xfrm>
          <a:prstGeom prst="rect">
            <a:avLst/>
          </a:prstGeom>
          <a:noFill/>
        </p:spPr>
        <p:txBody>
          <a:bodyPr wrap="square">
            <a:spAutoFit/>
          </a:bodyPr>
          <a:lstStyle/>
          <a:p>
            <a:pPr algn="l">
              <a:defRPr sz="1300" b="0">
                <a:solidFill>
                  <a:srgbClr val="868686"/>
                </a:solidFill>
                <a:latin typeface="Calibri"/>
              </a:defRPr>
            </a:pPr>
            <a:r>
              <a:t>10-section marketing page + About + Blogs + Privacy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492240"/>
            <a:ext cx="12191695"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0" y="6537960"/>
            <a:ext cx="640080" cy="274320"/>
          </a:xfrm>
          <a:prstGeom prst="rect">
            <a:avLst/>
          </a:prstGeom>
          <a:noFill/>
        </p:spPr>
        <p:txBody>
          <a:bodyPr wrap="square">
            <a:spAutoFit/>
          </a:bodyPr>
          <a:lstStyle/>
          <a:p>
            <a:pPr algn="r">
              <a:defRPr sz="1100" b="0">
                <a:solidFill>
                  <a:srgbClr val="FFFFFF"/>
                </a:solidFill>
                <a:latin typeface="Calibri"/>
              </a:defRPr>
            </a:pPr>
            <a:r>
              <a:t>17</a:t>
            </a:r>
          </a:p>
        </p:txBody>
      </p:sp>
      <p:sp>
        <p:nvSpPr>
          <p:cNvPr id="4" name="TextBox 3"/>
          <p:cNvSpPr txBox="1"/>
          <p:nvPr/>
        </p:nvSpPr>
        <p:spPr>
          <a:xfrm>
            <a:off x="731520" y="365760"/>
            <a:ext cx="10058400" cy="640080"/>
          </a:xfrm>
          <a:prstGeom prst="rect">
            <a:avLst/>
          </a:prstGeom>
          <a:noFill/>
        </p:spPr>
        <p:txBody>
          <a:bodyPr wrap="square">
            <a:spAutoFit/>
          </a:bodyPr>
          <a:lstStyle/>
          <a:p>
            <a:pPr algn="l">
              <a:defRPr sz="4000" b="1">
                <a:solidFill>
                  <a:srgbClr val="14A898"/>
                </a:solidFill>
                <a:latin typeface="Calibri"/>
              </a:defRPr>
            </a:pPr>
            <a:r>
              <a:t>Growth Roadmap</a:t>
            </a:r>
          </a:p>
        </p:txBody>
      </p:sp>
      <p:sp>
        <p:nvSpPr>
          <p:cNvPr id="5" name="Rectangle 4"/>
          <p:cNvSpPr/>
          <p:nvPr/>
        </p:nvSpPr>
        <p:spPr>
          <a:xfrm>
            <a:off x="548640" y="1188720"/>
            <a:ext cx="3474720" cy="8229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234440"/>
            <a:ext cx="3200400" cy="411480"/>
          </a:xfrm>
          <a:prstGeom prst="rect">
            <a:avLst/>
          </a:prstGeom>
          <a:noFill/>
        </p:spPr>
        <p:txBody>
          <a:bodyPr wrap="square">
            <a:spAutoFit/>
          </a:bodyPr>
          <a:lstStyle/>
          <a:p>
            <a:pPr algn="l">
              <a:defRPr sz="1800" b="1">
                <a:solidFill>
                  <a:srgbClr val="FFFFFF"/>
                </a:solidFill>
                <a:latin typeface="Calibri"/>
              </a:defRPr>
            </a:pPr>
            <a:r>
              <a:t>Phase 1: NOW</a:t>
            </a:r>
          </a:p>
        </p:txBody>
      </p:sp>
      <p:sp>
        <p:nvSpPr>
          <p:cNvPr id="7" name="TextBox 6"/>
          <p:cNvSpPr txBox="1"/>
          <p:nvPr/>
        </p:nvSpPr>
        <p:spPr>
          <a:xfrm>
            <a:off x="685800" y="1600200"/>
            <a:ext cx="3200400" cy="320040"/>
          </a:xfrm>
          <a:prstGeom prst="rect">
            <a:avLst/>
          </a:prstGeom>
          <a:noFill/>
        </p:spPr>
        <p:txBody>
          <a:bodyPr wrap="square">
            <a:spAutoFit/>
          </a:bodyPr>
          <a:lstStyle/>
          <a:p>
            <a:pPr algn="l">
              <a:defRPr sz="1400" b="0">
                <a:solidFill>
                  <a:srgbClr val="FFFFFF"/>
                </a:solidFill>
                <a:latin typeface="Calibri"/>
              </a:defRPr>
            </a:pPr>
            <a:r>
              <a:t>Built &amp; Ready</a:t>
            </a:r>
          </a:p>
        </p:txBody>
      </p:sp>
      <p:sp>
        <p:nvSpPr>
          <p:cNvPr id="8" name="Rectangle 7"/>
          <p:cNvSpPr/>
          <p:nvPr/>
        </p:nvSpPr>
        <p:spPr>
          <a:xfrm>
            <a:off x="548640" y="2011680"/>
            <a:ext cx="3474720" cy="39319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194560"/>
            <a:ext cx="3108960" cy="457200"/>
          </a:xfrm>
          <a:prstGeom prst="rect">
            <a:avLst/>
          </a:prstGeom>
          <a:noFill/>
        </p:spPr>
        <p:txBody>
          <a:bodyPr wrap="square">
            <a:spAutoFit/>
          </a:bodyPr>
          <a:lstStyle/>
          <a:p>
            <a:pPr algn="l">
              <a:defRPr sz="1400" b="0">
                <a:solidFill>
                  <a:srgbClr val="333333"/>
                </a:solidFill>
                <a:latin typeface="Calibri"/>
              </a:defRPr>
            </a:pPr>
            <a:r>
              <a:t>✓  Full platform with 6 core capabilities</a:t>
            </a:r>
          </a:p>
        </p:txBody>
      </p:sp>
      <p:sp>
        <p:nvSpPr>
          <p:cNvPr id="10" name="TextBox 9"/>
          <p:cNvSpPr txBox="1"/>
          <p:nvPr/>
        </p:nvSpPr>
        <p:spPr>
          <a:xfrm>
            <a:off x="731520" y="2743200"/>
            <a:ext cx="3108960" cy="457200"/>
          </a:xfrm>
          <a:prstGeom prst="rect">
            <a:avLst/>
          </a:prstGeom>
          <a:noFill/>
        </p:spPr>
        <p:txBody>
          <a:bodyPr wrap="square">
            <a:spAutoFit/>
          </a:bodyPr>
          <a:lstStyle/>
          <a:p>
            <a:pPr algn="l">
              <a:defRPr sz="1400" b="0">
                <a:solidFill>
                  <a:srgbClr val="333333"/>
                </a:solidFill>
                <a:latin typeface="Calibri"/>
              </a:defRPr>
            </a:pPr>
            <a:r>
              <a:t>✓  Admin-managed marketplace</a:t>
            </a:r>
          </a:p>
        </p:txBody>
      </p:sp>
      <p:sp>
        <p:nvSpPr>
          <p:cNvPr id="11" name="TextBox 10"/>
          <p:cNvSpPr txBox="1"/>
          <p:nvPr/>
        </p:nvSpPr>
        <p:spPr>
          <a:xfrm>
            <a:off x="731520" y="3291839"/>
            <a:ext cx="3108960" cy="457200"/>
          </a:xfrm>
          <a:prstGeom prst="rect">
            <a:avLst/>
          </a:prstGeom>
          <a:noFill/>
        </p:spPr>
        <p:txBody>
          <a:bodyPr wrap="square">
            <a:spAutoFit/>
          </a:bodyPr>
          <a:lstStyle/>
          <a:p>
            <a:pPr algn="l">
              <a:defRPr sz="1400" b="0">
                <a:solidFill>
                  <a:srgbClr val="333333"/>
                </a:solidFill>
                <a:latin typeface="Calibri"/>
              </a:defRPr>
            </a:pPr>
            <a:r>
              <a:t>✓  Subscription monetization</a:t>
            </a:r>
          </a:p>
        </p:txBody>
      </p:sp>
      <p:sp>
        <p:nvSpPr>
          <p:cNvPr id="12" name="TextBox 11"/>
          <p:cNvSpPr txBox="1"/>
          <p:nvPr/>
        </p:nvSpPr>
        <p:spPr>
          <a:xfrm>
            <a:off x="731520" y="3840479"/>
            <a:ext cx="3108960" cy="457200"/>
          </a:xfrm>
          <a:prstGeom prst="rect">
            <a:avLst/>
          </a:prstGeom>
          <a:noFill/>
        </p:spPr>
        <p:txBody>
          <a:bodyPr wrap="square">
            <a:spAutoFit/>
          </a:bodyPr>
          <a:lstStyle/>
          <a:p>
            <a:pPr algn="l">
              <a:defRPr sz="1400" b="0">
                <a:solidFill>
                  <a:srgbClr val="333333"/>
                </a:solidFill>
                <a:latin typeface="Calibri"/>
              </a:defRPr>
            </a:pPr>
            <a:r>
              <a:t>✓  Real-time messaging &amp; notifications</a:t>
            </a:r>
          </a:p>
        </p:txBody>
      </p:sp>
      <p:sp>
        <p:nvSpPr>
          <p:cNvPr id="13" name="TextBox 12"/>
          <p:cNvSpPr txBox="1"/>
          <p:nvPr/>
        </p:nvSpPr>
        <p:spPr>
          <a:xfrm>
            <a:off x="731520" y="4389120"/>
            <a:ext cx="3108960" cy="457200"/>
          </a:xfrm>
          <a:prstGeom prst="rect">
            <a:avLst/>
          </a:prstGeom>
          <a:noFill/>
        </p:spPr>
        <p:txBody>
          <a:bodyPr wrap="square">
            <a:spAutoFit/>
          </a:bodyPr>
          <a:lstStyle/>
          <a:p>
            <a:pPr algn="l">
              <a:defRPr sz="1400" b="0">
                <a:solidFill>
                  <a:srgbClr val="333333"/>
                </a:solidFill>
                <a:latin typeface="Calibri"/>
              </a:defRPr>
            </a:pPr>
            <a:r>
              <a:t>✓  Complete auth system</a:t>
            </a:r>
          </a:p>
        </p:txBody>
      </p:sp>
      <p:sp>
        <p:nvSpPr>
          <p:cNvPr id="14" name="TextBox 13"/>
          <p:cNvSpPr txBox="1"/>
          <p:nvPr/>
        </p:nvSpPr>
        <p:spPr>
          <a:xfrm>
            <a:off x="731520" y="4937760"/>
            <a:ext cx="3108960" cy="457200"/>
          </a:xfrm>
          <a:prstGeom prst="rect">
            <a:avLst/>
          </a:prstGeom>
          <a:noFill/>
        </p:spPr>
        <p:txBody>
          <a:bodyPr wrap="square">
            <a:spAutoFit/>
          </a:bodyPr>
          <a:lstStyle/>
          <a:p>
            <a:pPr algn="l">
              <a:defRPr sz="1400" b="0">
                <a:solidFill>
                  <a:srgbClr val="333333"/>
                </a:solidFill>
                <a:latin typeface="Calibri"/>
              </a:defRPr>
            </a:pPr>
            <a:r>
              <a:t>✓  Responsive web application</a:t>
            </a:r>
          </a:p>
        </p:txBody>
      </p:sp>
      <p:sp>
        <p:nvSpPr>
          <p:cNvPr id="15" name="Rectangle 14"/>
          <p:cNvSpPr/>
          <p:nvPr/>
        </p:nvSpPr>
        <p:spPr>
          <a:xfrm>
            <a:off x="4297679" y="1188720"/>
            <a:ext cx="3474720" cy="822960"/>
          </a:xfrm>
          <a:prstGeom prst="rect">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34839" y="1234440"/>
            <a:ext cx="3200400" cy="411480"/>
          </a:xfrm>
          <a:prstGeom prst="rect">
            <a:avLst/>
          </a:prstGeom>
          <a:noFill/>
        </p:spPr>
        <p:txBody>
          <a:bodyPr wrap="square">
            <a:spAutoFit/>
          </a:bodyPr>
          <a:lstStyle/>
          <a:p>
            <a:pPr algn="l">
              <a:defRPr sz="1800" b="1">
                <a:solidFill>
                  <a:srgbClr val="FFFFFF"/>
                </a:solidFill>
                <a:latin typeface="Calibri"/>
              </a:defRPr>
            </a:pPr>
            <a:r>
              <a:t>Phase 2: NEXT 6 MONTHS</a:t>
            </a:r>
          </a:p>
        </p:txBody>
      </p:sp>
      <p:sp>
        <p:nvSpPr>
          <p:cNvPr id="17" name="TextBox 16"/>
          <p:cNvSpPr txBox="1"/>
          <p:nvPr/>
        </p:nvSpPr>
        <p:spPr>
          <a:xfrm>
            <a:off x="4434839" y="1600200"/>
            <a:ext cx="3200400" cy="320040"/>
          </a:xfrm>
          <a:prstGeom prst="rect">
            <a:avLst/>
          </a:prstGeom>
          <a:noFill/>
        </p:spPr>
        <p:txBody>
          <a:bodyPr wrap="square">
            <a:spAutoFit/>
          </a:bodyPr>
          <a:lstStyle/>
          <a:p>
            <a:pPr algn="l">
              <a:defRPr sz="1400" b="0">
                <a:solidFill>
                  <a:srgbClr val="FFFFFF"/>
                </a:solidFill>
                <a:latin typeface="Calibri"/>
              </a:defRPr>
            </a:pPr>
            <a:r>
              <a:t>Scale &amp; Enhance</a:t>
            </a:r>
          </a:p>
        </p:txBody>
      </p:sp>
      <p:sp>
        <p:nvSpPr>
          <p:cNvPr id="18" name="Rectangle 17"/>
          <p:cNvSpPr/>
          <p:nvPr/>
        </p:nvSpPr>
        <p:spPr>
          <a:xfrm>
            <a:off x="4297679" y="2011680"/>
            <a:ext cx="3474720" cy="39319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80559" y="2194560"/>
            <a:ext cx="3108960" cy="457200"/>
          </a:xfrm>
          <a:prstGeom prst="rect">
            <a:avLst/>
          </a:prstGeom>
          <a:noFill/>
        </p:spPr>
        <p:txBody>
          <a:bodyPr wrap="square">
            <a:spAutoFit/>
          </a:bodyPr>
          <a:lstStyle/>
          <a:p>
            <a:pPr algn="l">
              <a:defRPr sz="1400" b="0">
                <a:solidFill>
                  <a:srgbClr val="333333"/>
                </a:solidFill>
                <a:latin typeface="Calibri"/>
              </a:defRPr>
            </a:pPr>
            <a:r>
              <a:t>✓  Mobile app (React Native)</a:t>
            </a:r>
          </a:p>
        </p:txBody>
      </p:sp>
      <p:sp>
        <p:nvSpPr>
          <p:cNvPr id="20" name="TextBox 19"/>
          <p:cNvSpPr txBox="1"/>
          <p:nvPr/>
        </p:nvSpPr>
        <p:spPr>
          <a:xfrm>
            <a:off x="4480559" y="2743200"/>
            <a:ext cx="3108960" cy="457200"/>
          </a:xfrm>
          <a:prstGeom prst="rect">
            <a:avLst/>
          </a:prstGeom>
          <a:noFill/>
        </p:spPr>
        <p:txBody>
          <a:bodyPr wrap="square">
            <a:spAutoFit/>
          </a:bodyPr>
          <a:lstStyle/>
          <a:p>
            <a:pPr algn="l">
              <a:defRPr sz="1400" b="0">
                <a:solidFill>
                  <a:srgbClr val="333333"/>
                </a:solidFill>
                <a:latin typeface="Calibri"/>
              </a:defRPr>
            </a:pPr>
            <a:r>
              <a:t>✓  Group chats + typing indicators</a:t>
            </a:r>
          </a:p>
        </p:txBody>
      </p:sp>
      <p:sp>
        <p:nvSpPr>
          <p:cNvPr id="21" name="TextBox 20"/>
          <p:cNvSpPr txBox="1"/>
          <p:nvPr/>
        </p:nvSpPr>
        <p:spPr>
          <a:xfrm>
            <a:off x="4480559" y="3291839"/>
            <a:ext cx="3108960" cy="457200"/>
          </a:xfrm>
          <a:prstGeom prst="rect">
            <a:avLst/>
          </a:prstGeom>
          <a:noFill/>
        </p:spPr>
        <p:txBody>
          <a:bodyPr wrap="square">
            <a:spAutoFit/>
          </a:bodyPr>
          <a:lstStyle/>
          <a:p>
            <a:pPr algn="l">
              <a:defRPr sz="1400" b="0">
                <a:solidFill>
                  <a:srgbClr val="333333"/>
                </a:solidFill>
                <a:latin typeface="Calibri"/>
              </a:defRPr>
            </a:pPr>
            <a:r>
              <a:t>✓  Voice/video calls</a:t>
            </a:r>
          </a:p>
        </p:txBody>
      </p:sp>
      <p:sp>
        <p:nvSpPr>
          <p:cNvPr id="22" name="TextBox 21"/>
          <p:cNvSpPr txBox="1"/>
          <p:nvPr/>
        </p:nvSpPr>
        <p:spPr>
          <a:xfrm>
            <a:off x="4480559" y="3840479"/>
            <a:ext cx="3108960" cy="457200"/>
          </a:xfrm>
          <a:prstGeom prst="rect">
            <a:avLst/>
          </a:prstGeom>
          <a:noFill/>
        </p:spPr>
        <p:txBody>
          <a:bodyPr wrap="square">
            <a:spAutoFit/>
          </a:bodyPr>
          <a:lstStyle/>
          <a:p>
            <a:pPr algn="l">
              <a:defRPr sz="1400" b="0">
                <a:solidFill>
                  <a:srgbClr val="333333"/>
                </a:solidFill>
                <a:latin typeface="Calibri"/>
              </a:defRPr>
            </a:pPr>
            <a:r>
              <a:t>✓  Seller analytics dashboard</a:t>
            </a:r>
          </a:p>
        </p:txBody>
      </p:sp>
      <p:sp>
        <p:nvSpPr>
          <p:cNvPr id="23" name="TextBox 22"/>
          <p:cNvSpPr txBox="1"/>
          <p:nvPr/>
        </p:nvSpPr>
        <p:spPr>
          <a:xfrm>
            <a:off x="4480559" y="4389120"/>
            <a:ext cx="3108960" cy="457200"/>
          </a:xfrm>
          <a:prstGeom prst="rect">
            <a:avLst/>
          </a:prstGeom>
          <a:noFill/>
        </p:spPr>
        <p:txBody>
          <a:bodyPr wrap="square">
            <a:spAutoFit/>
          </a:bodyPr>
          <a:lstStyle/>
          <a:p>
            <a:pPr algn="l">
              <a:defRPr sz="1400" b="0">
                <a:solidFill>
                  <a:srgbClr val="333333"/>
                </a:solidFill>
                <a:latin typeface="Calibri"/>
              </a:defRPr>
            </a:pPr>
            <a:r>
              <a:t>✓  Featured/promoted listings</a:t>
            </a:r>
          </a:p>
        </p:txBody>
      </p:sp>
      <p:sp>
        <p:nvSpPr>
          <p:cNvPr id="24" name="TextBox 23"/>
          <p:cNvSpPr txBox="1"/>
          <p:nvPr/>
        </p:nvSpPr>
        <p:spPr>
          <a:xfrm>
            <a:off x="4480559" y="4937760"/>
            <a:ext cx="3108960" cy="457200"/>
          </a:xfrm>
          <a:prstGeom prst="rect">
            <a:avLst/>
          </a:prstGeom>
          <a:noFill/>
        </p:spPr>
        <p:txBody>
          <a:bodyPr wrap="square">
            <a:spAutoFit/>
          </a:bodyPr>
          <a:lstStyle/>
          <a:p>
            <a:pPr algn="l">
              <a:defRPr sz="1400" b="0">
                <a:solidFill>
                  <a:srgbClr val="333333"/>
                </a:solidFill>
                <a:latin typeface="Calibri"/>
              </a:defRPr>
            </a:pPr>
            <a:r>
              <a:t>✓  AI-powered recommendations</a:t>
            </a:r>
          </a:p>
        </p:txBody>
      </p:sp>
      <p:sp>
        <p:nvSpPr>
          <p:cNvPr id="25" name="Rectangle 24"/>
          <p:cNvSpPr/>
          <p:nvPr/>
        </p:nvSpPr>
        <p:spPr>
          <a:xfrm>
            <a:off x="8046719" y="1188720"/>
            <a:ext cx="3474720" cy="8229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83879" y="1234440"/>
            <a:ext cx="3200400" cy="411480"/>
          </a:xfrm>
          <a:prstGeom prst="rect">
            <a:avLst/>
          </a:prstGeom>
          <a:noFill/>
        </p:spPr>
        <p:txBody>
          <a:bodyPr wrap="square">
            <a:spAutoFit/>
          </a:bodyPr>
          <a:lstStyle/>
          <a:p>
            <a:pPr algn="l">
              <a:defRPr sz="1800" b="1">
                <a:solidFill>
                  <a:srgbClr val="FFFFFF"/>
                </a:solidFill>
                <a:latin typeface="Calibri"/>
              </a:defRPr>
            </a:pPr>
            <a:r>
              <a:t>Phase 3: 12+ MONTHS</a:t>
            </a:r>
          </a:p>
        </p:txBody>
      </p:sp>
      <p:sp>
        <p:nvSpPr>
          <p:cNvPr id="27" name="TextBox 26"/>
          <p:cNvSpPr txBox="1"/>
          <p:nvPr/>
        </p:nvSpPr>
        <p:spPr>
          <a:xfrm>
            <a:off x="8183879" y="1600200"/>
            <a:ext cx="3200400" cy="320040"/>
          </a:xfrm>
          <a:prstGeom prst="rect">
            <a:avLst/>
          </a:prstGeom>
          <a:noFill/>
        </p:spPr>
        <p:txBody>
          <a:bodyPr wrap="square">
            <a:spAutoFit/>
          </a:bodyPr>
          <a:lstStyle/>
          <a:p>
            <a:pPr algn="l">
              <a:defRPr sz="1400" b="0">
                <a:solidFill>
                  <a:srgbClr val="FFFFFF"/>
                </a:solidFill>
                <a:latin typeface="Calibri"/>
              </a:defRPr>
            </a:pPr>
            <a:r>
              <a:t>Expand &amp; Dominate</a:t>
            </a:r>
          </a:p>
        </p:txBody>
      </p:sp>
      <p:sp>
        <p:nvSpPr>
          <p:cNvPr id="28" name="Rectangle 27"/>
          <p:cNvSpPr/>
          <p:nvPr/>
        </p:nvSpPr>
        <p:spPr>
          <a:xfrm>
            <a:off x="8046719" y="2011680"/>
            <a:ext cx="3474720" cy="39319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599" y="2194560"/>
            <a:ext cx="3108960" cy="457200"/>
          </a:xfrm>
          <a:prstGeom prst="rect">
            <a:avLst/>
          </a:prstGeom>
          <a:noFill/>
        </p:spPr>
        <p:txBody>
          <a:bodyPr wrap="square">
            <a:spAutoFit/>
          </a:bodyPr>
          <a:lstStyle/>
          <a:p>
            <a:pPr algn="l">
              <a:defRPr sz="1400" b="0">
                <a:solidFill>
                  <a:srgbClr val="333333"/>
                </a:solidFill>
                <a:latin typeface="Calibri"/>
              </a:defRPr>
            </a:pPr>
            <a:r>
              <a:t>✓  White-label enterprise solution</a:t>
            </a:r>
          </a:p>
        </p:txBody>
      </p:sp>
      <p:sp>
        <p:nvSpPr>
          <p:cNvPr id="30" name="TextBox 29"/>
          <p:cNvSpPr txBox="1"/>
          <p:nvPr/>
        </p:nvSpPr>
        <p:spPr>
          <a:xfrm>
            <a:off x="8229599" y="2743200"/>
            <a:ext cx="3108960" cy="457200"/>
          </a:xfrm>
          <a:prstGeom prst="rect">
            <a:avLst/>
          </a:prstGeom>
          <a:noFill/>
        </p:spPr>
        <p:txBody>
          <a:bodyPr wrap="square">
            <a:spAutoFit/>
          </a:bodyPr>
          <a:lstStyle/>
          <a:p>
            <a:pPr algn="l">
              <a:defRPr sz="1400" b="0">
                <a:solidFill>
                  <a:srgbClr val="333333"/>
                </a:solidFill>
                <a:latin typeface="Calibri"/>
              </a:defRPr>
            </a:pPr>
            <a:r>
              <a:t>✓  Multi-language (Urdu, Arabic)</a:t>
            </a:r>
          </a:p>
        </p:txBody>
      </p:sp>
      <p:sp>
        <p:nvSpPr>
          <p:cNvPr id="31" name="TextBox 30"/>
          <p:cNvSpPr txBox="1"/>
          <p:nvPr/>
        </p:nvSpPr>
        <p:spPr>
          <a:xfrm>
            <a:off x="8229599" y="3291839"/>
            <a:ext cx="3108960" cy="457200"/>
          </a:xfrm>
          <a:prstGeom prst="rect">
            <a:avLst/>
          </a:prstGeom>
          <a:noFill/>
        </p:spPr>
        <p:txBody>
          <a:bodyPr wrap="square">
            <a:spAutoFit/>
          </a:bodyPr>
          <a:lstStyle/>
          <a:p>
            <a:pPr algn="l">
              <a:defRPr sz="1400" b="0">
                <a:solidFill>
                  <a:srgbClr val="333333"/>
                </a:solidFill>
                <a:latin typeface="Calibri"/>
              </a:defRPr>
            </a:pPr>
            <a:r>
              <a:t>✓  JazzCash + EasyPaisa integration</a:t>
            </a:r>
          </a:p>
        </p:txBody>
      </p:sp>
      <p:sp>
        <p:nvSpPr>
          <p:cNvPr id="32" name="TextBox 31"/>
          <p:cNvSpPr txBox="1"/>
          <p:nvPr/>
        </p:nvSpPr>
        <p:spPr>
          <a:xfrm>
            <a:off x="8229599" y="3840479"/>
            <a:ext cx="3108960" cy="457200"/>
          </a:xfrm>
          <a:prstGeom prst="rect">
            <a:avLst/>
          </a:prstGeom>
          <a:noFill/>
        </p:spPr>
        <p:txBody>
          <a:bodyPr wrap="square">
            <a:spAutoFit/>
          </a:bodyPr>
          <a:lstStyle/>
          <a:p>
            <a:pPr algn="l">
              <a:defRPr sz="1400" b="0">
                <a:solidFill>
                  <a:srgbClr val="333333"/>
                </a:solidFill>
                <a:latin typeface="Calibri"/>
              </a:defRPr>
            </a:pPr>
            <a:r>
              <a:t>✓  Course certification system</a:t>
            </a:r>
          </a:p>
        </p:txBody>
      </p:sp>
      <p:sp>
        <p:nvSpPr>
          <p:cNvPr id="33" name="TextBox 32"/>
          <p:cNvSpPr txBox="1"/>
          <p:nvPr/>
        </p:nvSpPr>
        <p:spPr>
          <a:xfrm>
            <a:off x="8229599" y="4389120"/>
            <a:ext cx="3108960" cy="457200"/>
          </a:xfrm>
          <a:prstGeom prst="rect">
            <a:avLst/>
          </a:prstGeom>
          <a:noFill/>
        </p:spPr>
        <p:txBody>
          <a:bodyPr wrap="square">
            <a:spAutoFit/>
          </a:bodyPr>
          <a:lstStyle/>
          <a:p>
            <a:pPr algn="l">
              <a:defRPr sz="1400" b="0">
                <a:solidFill>
                  <a:srgbClr val="333333"/>
                </a:solidFill>
                <a:latin typeface="Calibri"/>
              </a:defRPr>
            </a:pPr>
            <a:r>
              <a:t>✓  Affiliate/referral program</a:t>
            </a:r>
          </a:p>
        </p:txBody>
      </p:sp>
      <p:sp>
        <p:nvSpPr>
          <p:cNvPr id="34" name="TextBox 33"/>
          <p:cNvSpPr txBox="1"/>
          <p:nvPr/>
        </p:nvSpPr>
        <p:spPr>
          <a:xfrm>
            <a:off x="8229599" y="4937760"/>
            <a:ext cx="3108960" cy="457200"/>
          </a:xfrm>
          <a:prstGeom prst="rect">
            <a:avLst/>
          </a:prstGeom>
          <a:noFill/>
        </p:spPr>
        <p:txBody>
          <a:bodyPr wrap="square">
            <a:spAutoFit/>
          </a:bodyPr>
          <a:lstStyle/>
          <a:p>
            <a:pPr algn="l">
              <a:defRPr sz="1400" b="0">
                <a:solidFill>
                  <a:srgbClr val="333333"/>
                </a:solidFill>
                <a:latin typeface="Calibri"/>
              </a:defRPr>
            </a:pPr>
            <a:r>
              <a:t>✓  API marketplace for integrations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492240"/>
            <a:ext cx="12191695"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0" y="6537960"/>
            <a:ext cx="640080" cy="274320"/>
          </a:xfrm>
          <a:prstGeom prst="rect">
            <a:avLst/>
          </a:prstGeom>
          <a:noFill/>
        </p:spPr>
        <p:txBody>
          <a:bodyPr wrap="square">
            <a:spAutoFit/>
          </a:bodyPr>
          <a:lstStyle/>
          <a:p>
            <a:pPr algn="r">
              <a:defRPr sz="1100" b="0">
                <a:solidFill>
                  <a:srgbClr val="FFFFFF"/>
                </a:solidFill>
                <a:latin typeface="Calibri"/>
              </a:defRPr>
            </a:pPr>
            <a:r>
              <a:t>18</a:t>
            </a:r>
          </a:p>
        </p:txBody>
      </p:sp>
      <p:sp>
        <p:nvSpPr>
          <p:cNvPr id="4" name="TextBox 3"/>
          <p:cNvSpPr txBox="1"/>
          <p:nvPr/>
        </p:nvSpPr>
        <p:spPr>
          <a:xfrm>
            <a:off x="731520" y="365760"/>
            <a:ext cx="10058400" cy="640080"/>
          </a:xfrm>
          <a:prstGeom prst="rect">
            <a:avLst/>
          </a:prstGeom>
          <a:noFill/>
        </p:spPr>
        <p:txBody>
          <a:bodyPr wrap="square">
            <a:spAutoFit/>
          </a:bodyPr>
          <a:lstStyle/>
          <a:p>
            <a:pPr algn="l">
              <a:defRPr sz="4000" b="1">
                <a:solidFill>
                  <a:srgbClr val="14A898"/>
                </a:solidFill>
                <a:latin typeface="Calibri"/>
              </a:defRPr>
            </a:pPr>
            <a:r>
              <a:t>The Ask</a:t>
            </a:r>
          </a:p>
        </p:txBody>
      </p:sp>
      <p:sp>
        <p:nvSpPr>
          <p:cNvPr id="5" name="TextBox 4"/>
          <p:cNvSpPr txBox="1"/>
          <p:nvPr/>
        </p:nvSpPr>
        <p:spPr>
          <a:xfrm>
            <a:off x="731520" y="1005840"/>
            <a:ext cx="10058400" cy="548640"/>
          </a:xfrm>
          <a:prstGeom prst="rect">
            <a:avLst/>
          </a:prstGeom>
          <a:noFill/>
        </p:spPr>
        <p:txBody>
          <a:bodyPr wrap="square">
            <a:spAutoFit/>
          </a:bodyPr>
          <a:lstStyle/>
          <a:p>
            <a:pPr algn="ctr">
              <a:defRPr sz="2200" b="1">
                <a:solidFill>
                  <a:srgbClr val="09524A"/>
                </a:solidFill>
                <a:latin typeface="Calibri"/>
              </a:defRPr>
            </a:pPr>
            <a:r>
              <a:t>Seeking Seed / Pre-Series A Investment</a:t>
            </a:r>
          </a:p>
        </p:txBody>
      </p:sp>
      <p:sp>
        <p:nvSpPr>
          <p:cNvPr id="6" name="Oval 5"/>
          <p:cNvSpPr/>
          <p:nvPr/>
        </p:nvSpPr>
        <p:spPr>
          <a:xfrm>
            <a:off x="1325880" y="1828800"/>
            <a:ext cx="1005840" cy="1005840"/>
          </a:xfrm>
          <a:prstGeom prst="ellipse">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40%</a:t>
            </a:r>
          </a:p>
        </p:txBody>
      </p:sp>
      <p:sp>
        <p:nvSpPr>
          <p:cNvPr id="7" name="Rectangle 6"/>
          <p:cNvSpPr/>
          <p:nvPr/>
        </p:nvSpPr>
        <p:spPr>
          <a:xfrm>
            <a:off x="548640" y="3017520"/>
            <a:ext cx="2651760" cy="2560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3108960"/>
            <a:ext cx="2377440" cy="457200"/>
          </a:xfrm>
          <a:prstGeom prst="rect">
            <a:avLst/>
          </a:prstGeom>
          <a:noFill/>
        </p:spPr>
        <p:txBody>
          <a:bodyPr wrap="square">
            <a:spAutoFit/>
          </a:bodyPr>
          <a:lstStyle/>
          <a:p>
            <a:pPr algn="ctr">
              <a:defRPr sz="1600" b="1">
                <a:solidFill>
                  <a:srgbClr val="14A898"/>
                </a:solidFill>
                <a:latin typeface="Calibri"/>
              </a:defRPr>
            </a:pPr>
            <a:r>
              <a:t>Engineering &amp; Product</a:t>
            </a:r>
          </a:p>
        </p:txBody>
      </p:sp>
      <p:sp>
        <p:nvSpPr>
          <p:cNvPr id="9" name="TextBox 8"/>
          <p:cNvSpPr txBox="1"/>
          <p:nvPr/>
        </p:nvSpPr>
        <p:spPr>
          <a:xfrm>
            <a:off x="731520" y="3611880"/>
            <a:ext cx="2286000" cy="1645920"/>
          </a:xfrm>
          <a:prstGeom prst="rect">
            <a:avLst/>
          </a:prstGeom>
          <a:noFill/>
        </p:spPr>
        <p:txBody>
          <a:bodyPr wrap="square">
            <a:spAutoFit/>
          </a:bodyPr>
          <a:lstStyle/>
          <a:p>
            <a:pPr algn="ctr">
              <a:defRPr sz="1400" b="0">
                <a:solidFill>
                  <a:srgbClr val="333333"/>
                </a:solidFill>
                <a:latin typeface="Calibri"/>
              </a:defRPr>
            </a:pPr>
            <a:r>
              <a:t>Mobile app development</a:t>
            </a:r>
            <a:br/>
            <a:r>
              <a:t>Backend scaling</a:t>
            </a:r>
            <a:br/>
            <a:r>
              <a:t>AI/ML recommendations</a:t>
            </a:r>
          </a:p>
        </p:txBody>
      </p:sp>
      <p:sp>
        <p:nvSpPr>
          <p:cNvPr id="10" name="Oval 9"/>
          <p:cNvSpPr/>
          <p:nvPr/>
        </p:nvSpPr>
        <p:spPr>
          <a:xfrm>
            <a:off x="4206240" y="1828800"/>
            <a:ext cx="1005840" cy="1005840"/>
          </a:xfrm>
          <a:prstGeom prst="ellipse">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25%</a:t>
            </a:r>
          </a:p>
        </p:txBody>
      </p:sp>
      <p:sp>
        <p:nvSpPr>
          <p:cNvPr id="11" name="Rectangle 10"/>
          <p:cNvSpPr/>
          <p:nvPr/>
        </p:nvSpPr>
        <p:spPr>
          <a:xfrm>
            <a:off x="3429000" y="3017520"/>
            <a:ext cx="2651760" cy="2560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66160" y="3108960"/>
            <a:ext cx="2377440" cy="457200"/>
          </a:xfrm>
          <a:prstGeom prst="rect">
            <a:avLst/>
          </a:prstGeom>
          <a:noFill/>
        </p:spPr>
        <p:txBody>
          <a:bodyPr wrap="square">
            <a:spAutoFit/>
          </a:bodyPr>
          <a:lstStyle/>
          <a:p>
            <a:pPr algn="ctr">
              <a:defRPr sz="1600" b="1">
                <a:solidFill>
                  <a:srgbClr val="09524A"/>
                </a:solidFill>
                <a:latin typeface="Calibri"/>
              </a:defRPr>
            </a:pPr>
            <a:r>
              <a:t>Marketing &amp; Acquisition</a:t>
            </a:r>
          </a:p>
        </p:txBody>
      </p:sp>
      <p:sp>
        <p:nvSpPr>
          <p:cNvPr id="13" name="TextBox 12"/>
          <p:cNvSpPr txBox="1"/>
          <p:nvPr/>
        </p:nvSpPr>
        <p:spPr>
          <a:xfrm>
            <a:off x="3611880" y="3611880"/>
            <a:ext cx="2286000" cy="1645920"/>
          </a:xfrm>
          <a:prstGeom prst="rect">
            <a:avLst/>
          </a:prstGeom>
          <a:noFill/>
        </p:spPr>
        <p:txBody>
          <a:bodyPr wrap="square">
            <a:spAutoFit/>
          </a:bodyPr>
          <a:lstStyle/>
          <a:p>
            <a:pPr algn="ctr">
              <a:defRPr sz="1400" b="0">
                <a:solidFill>
                  <a:srgbClr val="333333"/>
                </a:solidFill>
                <a:latin typeface="Calibri"/>
              </a:defRPr>
            </a:pPr>
            <a:r>
              <a:t>Digital marketing campaigns</a:t>
            </a:r>
            <a:br/>
            <a:r>
              <a:t>Influencer partnerships</a:t>
            </a:r>
            <a:br/>
            <a:r>
              <a:t>University campus programs</a:t>
            </a:r>
          </a:p>
        </p:txBody>
      </p:sp>
      <p:sp>
        <p:nvSpPr>
          <p:cNvPr id="14" name="Oval 13"/>
          <p:cNvSpPr/>
          <p:nvPr/>
        </p:nvSpPr>
        <p:spPr>
          <a:xfrm>
            <a:off x="7086599" y="1828800"/>
            <a:ext cx="1005840" cy="1005840"/>
          </a:xfrm>
          <a:prstGeom prst="ellipse">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20%</a:t>
            </a:r>
          </a:p>
        </p:txBody>
      </p:sp>
      <p:sp>
        <p:nvSpPr>
          <p:cNvPr id="15" name="Rectangle 14"/>
          <p:cNvSpPr/>
          <p:nvPr/>
        </p:nvSpPr>
        <p:spPr>
          <a:xfrm>
            <a:off x="6309359" y="3017520"/>
            <a:ext cx="2651760" cy="2560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46519" y="3108960"/>
            <a:ext cx="2377440" cy="457200"/>
          </a:xfrm>
          <a:prstGeom prst="rect">
            <a:avLst/>
          </a:prstGeom>
          <a:noFill/>
        </p:spPr>
        <p:txBody>
          <a:bodyPr wrap="square">
            <a:spAutoFit/>
          </a:bodyPr>
          <a:lstStyle/>
          <a:p>
            <a:pPr algn="ctr">
              <a:defRPr sz="1600" b="1">
                <a:solidFill>
                  <a:srgbClr val="14A898"/>
                </a:solidFill>
                <a:latin typeface="Calibri"/>
              </a:defRPr>
            </a:pPr>
            <a:r>
              <a:t>Operations &amp; Infra</a:t>
            </a:r>
          </a:p>
        </p:txBody>
      </p:sp>
      <p:sp>
        <p:nvSpPr>
          <p:cNvPr id="17" name="TextBox 16"/>
          <p:cNvSpPr txBox="1"/>
          <p:nvPr/>
        </p:nvSpPr>
        <p:spPr>
          <a:xfrm>
            <a:off x="6492239" y="3611880"/>
            <a:ext cx="2286000" cy="1645920"/>
          </a:xfrm>
          <a:prstGeom prst="rect">
            <a:avLst/>
          </a:prstGeom>
          <a:noFill/>
        </p:spPr>
        <p:txBody>
          <a:bodyPr wrap="square">
            <a:spAutoFit/>
          </a:bodyPr>
          <a:lstStyle/>
          <a:p>
            <a:pPr algn="ctr">
              <a:defRPr sz="1400" b="0">
                <a:solidFill>
                  <a:srgbClr val="333333"/>
                </a:solidFill>
                <a:latin typeface="Calibri"/>
              </a:defRPr>
            </a:pPr>
            <a:r>
              <a:t>Server infrastructure</a:t>
            </a:r>
            <a:br/>
            <a:r>
              <a:t>Payment gateway integration</a:t>
            </a:r>
            <a:br/>
            <a:r>
              <a:t>Customer support team</a:t>
            </a:r>
          </a:p>
        </p:txBody>
      </p:sp>
      <p:sp>
        <p:nvSpPr>
          <p:cNvPr id="18" name="Oval 17"/>
          <p:cNvSpPr/>
          <p:nvPr/>
        </p:nvSpPr>
        <p:spPr>
          <a:xfrm>
            <a:off x="9966959" y="1828800"/>
            <a:ext cx="1005840" cy="1005840"/>
          </a:xfrm>
          <a:prstGeom prst="ellipse">
            <a:avLst/>
          </a:prstGeom>
          <a:solidFill>
            <a:srgbClr val="095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15%</a:t>
            </a:r>
          </a:p>
        </p:txBody>
      </p:sp>
      <p:sp>
        <p:nvSpPr>
          <p:cNvPr id="19" name="Rectangle 18"/>
          <p:cNvSpPr/>
          <p:nvPr/>
        </p:nvSpPr>
        <p:spPr>
          <a:xfrm>
            <a:off x="9189719" y="3017520"/>
            <a:ext cx="2651760" cy="2560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26879" y="3108960"/>
            <a:ext cx="2377440" cy="457200"/>
          </a:xfrm>
          <a:prstGeom prst="rect">
            <a:avLst/>
          </a:prstGeom>
          <a:noFill/>
        </p:spPr>
        <p:txBody>
          <a:bodyPr wrap="square">
            <a:spAutoFit/>
          </a:bodyPr>
          <a:lstStyle/>
          <a:p>
            <a:pPr algn="ctr">
              <a:defRPr sz="1600" b="1">
                <a:solidFill>
                  <a:srgbClr val="09524A"/>
                </a:solidFill>
                <a:latin typeface="Calibri"/>
              </a:defRPr>
            </a:pPr>
            <a:r>
              <a:t>Team Expansion</a:t>
            </a:r>
          </a:p>
        </p:txBody>
      </p:sp>
      <p:sp>
        <p:nvSpPr>
          <p:cNvPr id="21" name="TextBox 20"/>
          <p:cNvSpPr txBox="1"/>
          <p:nvPr/>
        </p:nvSpPr>
        <p:spPr>
          <a:xfrm>
            <a:off x="9372599" y="3611880"/>
            <a:ext cx="2286000" cy="1645920"/>
          </a:xfrm>
          <a:prstGeom prst="rect">
            <a:avLst/>
          </a:prstGeom>
          <a:noFill/>
        </p:spPr>
        <p:txBody>
          <a:bodyPr wrap="square">
            <a:spAutoFit/>
          </a:bodyPr>
          <a:lstStyle/>
          <a:p>
            <a:pPr algn="ctr">
              <a:defRPr sz="1400" b="0">
                <a:solidFill>
                  <a:srgbClr val="333333"/>
                </a:solidFill>
                <a:latin typeface="Calibri"/>
              </a:defRPr>
            </a:pPr>
            <a:r>
              <a:t>Senior developers</a:t>
            </a:r>
            <a:br/>
            <a:r>
              <a:t>Business development</a:t>
            </a:r>
            <a:br/>
            <a:r>
              <a:t>Community managers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6492240"/>
            <a:ext cx="12191695" cy="36576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0" y="6537960"/>
            <a:ext cx="640080" cy="274320"/>
          </a:xfrm>
          <a:prstGeom prst="rect">
            <a:avLst/>
          </a:prstGeom>
          <a:noFill/>
        </p:spPr>
        <p:txBody>
          <a:bodyPr wrap="square">
            <a:spAutoFit/>
          </a:bodyPr>
          <a:lstStyle/>
          <a:p>
            <a:pPr algn="r">
              <a:defRPr sz="1100" b="0">
                <a:solidFill>
                  <a:srgbClr val="FFFFFF"/>
                </a:solidFill>
                <a:latin typeface="Calibri"/>
              </a:defRPr>
            </a:pPr>
            <a:r>
              <a:t>19</a:t>
            </a:r>
          </a:p>
        </p:txBody>
      </p:sp>
      <p:sp>
        <p:nvSpPr>
          <p:cNvPr id="4" name="TextBox 3"/>
          <p:cNvSpPr txBox="1"/>
          <p:nvPr/>
        </p:nvSpPr>
        <p:spPr>
          <a:xfrm>
            <a:off x="731520" y="365760"/>
            <a:ext cx="10058400" cy="640080"/>
          </a:xfrm>
          <a:prstGeom prst="rect">
            <a:avLst/>
          </a:prstGeom>
          <a:noFill/>
        </p:spPr>
        <p:txBody>
          <a:bodyPr wrap="square">
            <a:spAutoFit/>
          </a:bodyPr>
          <a:lstStyle/>
          <a:p>
            <a:pPr algn="l">
              <a:defRPr sz="4000" b="1">
                <a:solidFill>
                  <a:srgbClr val="14A898"/>
                </a:solidFill>
                <a:latin typeface="Calibri"/>
              </a:defRPr>
            </a:pPr>
            <a:r>
              <a:t>Target Users</a:t>
            </a:r>
          </a:p>
        </p:txBody>
      </p:sp>
      <p:sp>
        <p:nvSpPr>
          <p:cNvPr id="5" name="Rectangle 4"/>
          <p:cNvSpPr/>
          <p:nvPr/>
        </p:nvSpPr>
        <p:spPr>
          <a:xfrm>
            <a:off x="457200" y="1188720"/>
            <a:ext cx="2697480" cy="4846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234440" y="1371600"/>
            <a:ext cx="1097280" cy="109728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34440" y="1645920"/>
            <a:ext cx="1097280" cy="548640"/>
          </a:xfrm>
          <a:prstGeom prst="rect">
            <a:avLst/>
          </a:prstGeom>
          <a:noFill/>
        </p:spPr>
        <p:txBody>
          <a:bodyPr wrap="square">
            <a:spAutoFit/>
          </a:bodyPr>
          <a:lstStyle/>
          <a:p>
            <a:pPr algn="ctr">
              <a:defRPr sz="2400" b="1">
                <a:solidFill>
                  <a:srgbClr val="FFFFFF"/>
                </a:solidFill>
                <a:latin typeface="Calibri"/>
              </a:defRPr>
            </a:pPr>
            <a:r>
              <a:t>F&amp;S</a:t>
            </a:r>
          </a:p>
        </p:txBody>
      </p:sp>
      <p:sp>
        <p:nvSpPr>
          <p:cNvPr id="8" name="TextBox 7"/>
          <p:cNvSpPr txBox="1"/>
          <p:nvPr/>
        </p:nvSpPr>
        <p:spPr>
          <a:xfrm>
            <a:off x="548640" y="2606040"/>
            <a:ext cx="2514600" cy="640080"/>
          </a:xfrm>
          <a:prstGeom prst="rect">
            <a:avLst/>
          </a:prstGeom>
          <a:noFill/>
        </p:spPr>
        <p:txBody>
          <a:bodyPr wrap="square">
            <a:spAutoFit/>
          </a:bodyPr>
          <a:lstStyle/>
          <a:p>
            <a:pPr algn="ctr">
              <a:defRPr sz="1600" b="1">
                <a:solidFill>
                  <a:srgbClr val="14A898"/>
                </a:solidFill>
                <a:latin typeface="Calibri"/>
              </a:defRPr>
            </a:pPr>
            <a:r>
              <a:t>Freelancers &amp;</a:t>
            </a:r>
            <a:br/>
            <a:r>
              <a:t>Service Providers</a:t>
            </a:r>
          </a:p>
        </p:txBody>
      </p:sp>
      <p:sp>
        <p:nvSpPr>
          <p:cNvPr id="9" name="TextBox 8"/>
          <p:cNvSpPr txBox="1"/>
          <p:nvPr/>
        </p:nvSpPr>
        <p:spPr>
          <a:xfrm>
            <a:off x="594360" y="3291840"/>
            <a:ext cx="2423160" cy="1371600"/>
          </a:xfrm>
          <a:prstGeom prst="rect">
            <a:avLst/>
          </a:prstGeom>
          <a:noFill/>
        </p:spPr>
        <p:txBody>
          <a:bodyPr wrap="square">
            <a:spAutoFit/>
          </a:bodyPr>
          <a:lstStyle/>
          <a:p>
            <a:pPr algn="l">
              <a:defRPr sz="1300" b="0">
                <a:solidFill>
                  <a:srgbClr val="333333"/>
                </a:solidFill>
                <a:latin typeface="Calibri"/>
              </a:defRPr>
            </a:pPr>
            <a:r>
              <a:t>Build audience AND sell services</a:t>
            </a:r>
            <a:br/>
            <a:r>
              <a:t>in one place. Currently scattered</a:t>
            </a:r>
            <a:br/>
            <a:r>
              <a:t>across Fiverr + Instagram + WhatsApp.</a:t>
            </a:r>
          </a:p>
        </p:txBody>
      </p:sp>
      <p:sp>
        <p:nvSpPr>
          <p:cNvPr id="10" name="Rectangle 9"/>
          <p:cNvSpPr/>
          <p:nvPr/>
        </p:nvSpPr>
        <p:spPr>
          <a:xfrm>
            <a:off x="548640" y="4846320"/>
            <a:ext cx="2514600" cy="91440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4937760"/>
            <a:ext cx="2331720" cy="731520"/>
          </a:xfrm>
          <a:prstGeom prst="rect">
            <a:avLst/>
          </a:prstGeom>
          <a:noFill/>
        </p:spPr>
        <p:txBody>
          <a:bodyPr wrap="square">
            <a:spAutoFit/>
          </a:bodyPr>
          <a:lstStyle/>
          <a:p>
            <a:pPr algn="ctr">
              <a:defRPr sz="1200" b="1">
                <a:solidFill>
                  <a:srgbClr val="FFFFFF"/>
                </a:solidFill>
                <a:latin typeface="Calibri"/>
              </a:defRPr>
            </a:pPr>
            <a:r>
              <a:t>SMAC saves them from paying</a:t>
            </a:r>
            <a:br/>
            <a:r>
              <a:t>20% fees on Fiverr</a:t>
            </a:r>
          </a:p>
        </p:txBody>
      </p:sp>
      <p:sp>
        <p:nvSpPr>
          <p:cNvPr id="12" name="Rectangle 11"/>
          <p:cNvSpPr/>
          <p:nvPr/>
        </p:nvSpPr>
        <p:spPr>
          <a:xfrm>
            <a:off x="3337560" y="1188720"/>
            <a:ext cx="2697480" cy="4846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114800" y="1371600"/>
            <a:ext cx="1097280" cy="109728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800" y="1645920"/>
            <a:ext cx="1097280" cy="548640"/>
          </a:xfrm>
          <a:prstGeom prst="rect">
            <a:avLst/>
          </a:prstGeom>
          <a:noFill/>
        </p:spPr>
        <p:txBody>
          <a:bodyPr wrap="square">
            <a:spAutoFit/>
          </a:bodyPr>
          <a:lstStyle/>
          <a:p>
            <a:pPr algn="ctr">
              <a:defRPr sz="2400" b="1">
                <a:solidFill>
                  <a:srgbClr val="FFFFFF"/>
                </a:solidFill>
                <a:latin typeface="Calibri"/>
              </a:defRPr>
            </a:pPr>
            <a:r>
              <a:t>E&amp;C</a:t>
            </a:r>
          </a:p>
        </p:txBody>
      </p:sp>
      <p:sp>
        <p:nvSpPr>
          <p:cNvPr id="15" name="TextBox 14"/>
          <p:cNvSpPr txBox="1"/>
          <p:nvPr/>
        </p:nvSpPr>
        <p:spPr>
          <a:xfrm>
            <a:off x="3429000" y="2606040"/>
            <a:ext cx="2514600" cy="640080"/>
          </a:xfrm>
          <a:prstGeom prst="rect">
            <a:avLst/>
          </a:prstGeom>
          <a:noFill/>
        </p:spPr>
        <p:txBody>
          <a:bodyPr wrap="square">
            <a:spAutoFit/>
          </a:bodyPr>
          <a:lstStyle/>
          <a:p>
            <a:pPr algn="ctr">
              <a:defRPr sz="1600" b="1">
                <a:solidFill>
                  <a:srgbClr val="14A898"/>
                </a:solidFill>
                <a:latin typeface="Calibri"/>
              </a:defRPr>
            </a:pPr>
            <a:r>
              <a:t>Educators &amp;</a:t>
            </a:r>
            <a:br/>
            <a:r>
              <a:t>Course Creators</a:t>
            </a:r>
          </a:p>
        </p:txBody>
      </p:sp>
      <p:sp>
        <p:nvSpPr>
          <p:cNvPr id="16" name="TextBox 15"/>
          <p:cNvSpPr txBox="1"/>
          <p:nvPr/>
        </p:nvSpPr>
        <p:spPr>
          <a:xfrm>
            <a:off x="3474720" y="3291840"/>
            <a:ext cx="2423160" cy="1371600"/>
          </a:xfrm>
          <a:prstGeom prst="rect">
            <a:avLst/>
          </a:prstGeom>
          <a:noFill/>
        </p:spPr>
        <p:txBody>
          <a:bodyPr wrap="square">
            <a:spAutoFit/>
          </a:bodyPr>
          <a:lstStyle/>
          <a:p>
            <a:pPr algn="l">
              <a:defRPr sz="1300" b="0">
                <a:solidFill>
                  <a:srgbClr val="333333"/>
                </a:solidFill>
                <a:latin typeface="Calibri"/>
              </a:defRPr>
            </a:pPr>
            <a:r>
              <a:t>Create and sell courses with</a:t>
            </a:r>
            <a:br/>
            <a:r>
              <a:t>localized PKR pricing. Currently</a:t>
            </a:r>
            <a:br/>
            <a:r>
              <a:t>using Udemy (37% fee) or YouTube.</a:t>
            </a:r>
          </a:p>
        </p:txBody>
      </p:sp>
      <p:sp>
        <p:nvSpPr>
          <p:cNvPr id="17" name="Rectangle 16"/>
          <p:cNvSpPr/>
          <p:nvPr/>
        </p:nvSpPr>
        <p:spPr>
          <a:xfrm>
            <a:off x="3429000" y="4846320"/>
            <a:ext cx="2514600" cy="91440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520440" y="4937760"/>
            <a:ext cx="2331720" cy="731520"/>
          </a:xfrm>
          <a:prstGeom prst="rect">
            <a:avLst/>
          </a:prstGeom>
          <a:noFill/>
        </p:spPr>
        <p:txBody>
          <a:bodyPr wrap="square">
            <a:spAutoFit/>
          </a:bodyPr>
          <a:lstStyle/>
          <a:p>
            <a:pPr algn="ctr">
              <a:defRPr sz="1200" b="1">
                <a:solidFill>
                  <a:srgbClr val="FFFFFF"/>
                </a:solidFill>
                <a:latin typeface="Calibri"/>
              </a:defRPr>
            </a:pPr>
            <a:r>
              <a:t>SMAC takes only 5% and</a:t>
            </a:r>
            <a:br/>
            <a:r>
              <a:t>provides social discovery</a:t>
            </a:r>
          </a:p>
        </p:txBody>
      </p:sp>
      <p:sp>
        <p:nvSpPr>
          <p:cNvPr id="19" name="Rectangle 18"/>
          <p:cNvSpPr/>
          <p:nvPr/>
        </p:nvSpPr>
        <p:spPr>
          <a:xfrm>
            <a:off x="6217920" y="1188720"/>
            <a:ext cx="2697480" cy="4846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995160" y="1371600"/>
            <a:ext cx="1097280" cy="109728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95160" y="1645920"/>
            <a:ext cx="1097280" cy="548640"/>
          </a:xfrm>
          <a:prstGeom prst="rect">
            <a:avLst/>
          </a:prstGeom>
          <a:noFill/>
        </p:spPr>
        <p:txBody>
          <a:bodyPr wrap="square">
            <a:spAutoFit/>
          </a:bodyPr>
          <a:lstStyle/>
          <a:p>
            <a:pPr algn="ctr">
              <a:defRPr sz="2400" b="1">
                <a:solidFill>
                  <a:srgbClr val="FFFFFF"/>
                </a:solidFill>
                <a:latin typeface="Calibri"/>
              </a:defRPr>
            </a:pPr>
            <a:r>
              <a:t>SMB</a:t>
            </a:r>
          </a:p>
        </p:txBody>
      </p:sp>
      <p:sp>
        <p:nvSpPr>
          <p:cNvPr id="22" name="TextBox 21"/>
          <p:cNvSpPr txBox="1"/>
          <p:nvPr/>
        </p:nvSpPr>
        <p:spPr>
          <a:xfrm>
            <a:off x="6309360" y="2606040"/>
            <a:ext cx="2514600" cy="640080"/>
          </a:xfrm>
          <a:prstGeom prst="rect">
            <a:avLst/>
          </a:prstGeom>
          <a:noFill/>
        </p:spPr>
        <p:txBody>
          <a:bodyPr wrap="square">
            <a:spAutoFit/>
          </a:bodyPr>
          <a:lstStyle/>
          <a:p>
            <a:pPr algn="ctr">
              <a:defRPr sz="1600" b="1">
                <a:solidFill>
                  <a:srgbClr val="14A898"/>
                </a:solidFill>
                <a:latin typeface="Calibri"/>
              </a:defRPr>
            </a:pPr>
            <a:r>
              <a:t>Small Businesses &amp;</a:t>
            </a:r>
            <a:br/>
            <a:r>
              <a:t>Product Sellers</a:t>
            </a:r>
          </a:p>
        </p:txBody>
      </p:sp>
      <p:sp>
        <p:nvSpPr>
          <p:cNvPr id="23" name="TextBox 22"/>
          <p:cNvSpPr txBox="1"/>
          <p:nvPr/>
        </p:nvSpPr>
        <p:spPr>
          <a:xfrm>
            <a:off x="6355080" y="3291840"/>
            <a:ext cx="2423160" cy="1371600"/>
          </a:xfrm>
          <a:prstGeom prst="rect">
            <a:avLst/>
          </a:prstGeom>
          <a:noFill/>
        </p:spPr>
        <p:txBody>
          <a:bodyPr wrap="square">
            <a:spAutoFit/>
          </a:bodyPr>
          <a:lstStyle/>
          <a:p>
            <a:pPr algn="l">
              <a:defRPr sz="1300" b="0">
                <a:solidFill>
                  <a:srgbClr val="333333"/>
                </a:solidFill>
                <a:latin typeface="Calibri"/>
              </a:defRPr>
            </a:pPr>
            <a:r>
              <a:t>Reach customers through social</a:t>
            </a:r>
            <a:br/>
            <a:r>
              <a:t>engagement. Currently using</a:t>
            </a:r>
            <a:br/>
            <a:r>
              <a:t>Daraz/OLX with no community.</a:t>
            </a:r>
          </a:p>
        </p:txBody>
      </p:sp>
      <p:sp>
        <p:nvSpPr>
          <p:cNvPr id="24" name="Rectangle 23"/>
          <p:cNvSpPr/>
          <p:nvPr/>
        </p:nvSpPr>
        <p:spPr>
          <a:xfrm>
            <a:off x="6309360" y="4846320"/>
            <a:ext cx="2514600" cy="91440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0" y="4937760"/>
            <a:ext cx="2331720" cy="731520"/>
          </a:xfrm>
          <a:prstGeom prst="rect">
            <a:avLst/>
          </a:prstGeom>
          <a:noFill/>
        </p:spPr>
        <p:txBody>
          <a:bodyPr wrap="square">
            <a:spAutoFit/>
          </a:bodyPr>
          <a:lstStyle/>
          <a:p>
            <a:pPr algn="ctr">
              <a:defRPr sz="1200" b="1">
                <a:solidFill>
                  <a:srgbClr val="FFFFFF"/>
                </a:solidFill>
                <a:latin typeface="Calibri"/>
              </a:defRPr>
            </a:pPr>
            <a:r>
              <a:t>SMAC's social feed drives</a:t>
            </a:r>
            <a:br/>
            <a:r>
              <a:t>organic product discovery</a:t>
            </a:r>
          </a:p>
        </p:txBody>
      </p:sp>
      <p:sp>
        <p:nvSpPr>
          <p:cNvPr id="26" name="Rectangle 25"/>
          <p:cNvSpPr/>
          <p:nvPr/>
        </p:nvSpPr>
        <p:spPr>
          <a:xfrm>
            <a:off x="9098280" y="1188720"/>
            <a:ext cx="2697480" cy="48463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875520" y="1371600"/>
            <a:ext cx="1097280" cy="109728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875520" y="1645920"/>
            <a:ext cx="1097280" cy="548640"/>
          </a:xfrm>
          <a:prstGeom prst="rect">
            <a:avLst/>
          </a:prstGeom>
          <a:noFill/>
        </p:spPr>
        <p:txBody>
          <a:bodyPr wrap="square">
            <a:spAutoFit/>
          </a:bodyPr>
          <a:lstStyle/>
          <a:p>
            <a:pPr algn="ctr">
              <a:defRPr sz="2400" b="1">
                <a:solidFill>
                  <a:srgbClr val="FFFFFF"/>
                </a:solidFill>
                <a:latin typeface="Calibri"/>
              </a:defRPr>
            </a:pPr>
            <a:r>
              <a:t>L&amp;B</a:t>
            </a:r>
          </a:p>
        </p:txBody>
      </p:sp>
      <p:sp>
        <p:nvSpPr>
          <p:cNvPr id="29" name="TextBox 28"/>
          <p:cNvSpPr txBox="1"/>
          <p:nvPr/>
        </p:nvSpPr>
        <p:spPr>
          <a:xfrm>
            <a:off x="9189720" y="2606040"/>
            <a:ext cx="2514600" cy="640080"/>
          </a:xfrm>
          <a:prstGeom prst="rect">
            <a:avLst/>
          </a:prstGeom>
          <a:noFill/>
        </p:spPr>
        <p:txBody>
          <a:bodyPr wrap="square">
            <a:spAutoFit/>
          </a:bodyPr>
          <a:lstStyle/>
          <a:p>
            <a:pPr algn="ctr">
              <a:defRPr sz="1600" b="1">
                <a:solidFill>
                  <a:srgbClr val="14A898"/>
                </a:solidFill>
                <a:latin typeface="Calibri"/>
              </a:defRPr>
            </a:pPr>
            <a:r>
              <a:t>Learners &amp;</a:t>
            </a:r>
            <a:br/>
            <a:r>
              <a:t>Buyers</a:t>
            </a:r>
          </a:p>
        </p:txBody>
      </p:sp>
      <p:sp>
        <p:nvSpPr>
          <p:cNvPr id="30" name="TextBox 29"/>
          <p:cNvSpPr txBox="1"/>
          <p:nvPr/>
        </p:nvSpPr>
        <p:spPr>
          <a:xfrm>
            <a:off x="9235440" y="3291840"/>
            <a:ext cx="2423160" cy="1371600"/>
          </a:xfrm>
          <a:prstGeom prst="rect">
            <a:avLst/>
          </a:prstGeom>
          <a:noFill/>
        </p:spPr>
        <p:txBody>
          <a:bodyPr wrap="square">
            <a:spAutoFit/>
          </a:bodyPr>
          <a:lstStyle/>
          <a:p>
            <a:pPr algn="l">
              <a:defRPr sz="1300" b="0">
                <a:solidFill>
                  <a:srgbClr val="333333"/>
                </a:solidFill>
                <a:latin typeface="Calibri"/>
              </a:defRPr>
            </a:pPr>
            <a:r>
              <a:t>Affordable, local courses and</a:t>
            </a:r>
            <a:br/>
            <a:r>
              <a:t>services. Currently paying in</a:t>
            </a:r>
            <a:br/>
            <a:r>
              <a:t>USD on international platforms.</a:t>
            </a:r>
          </a:p>
        </p:txBody>
      </p:sp>
      <p:sp>
        <p:nvSpPr>
          <p:cNvPr id="31" name="Rectangle 30"/>
          <p:cNvSpPr/>
          <p:nvPr/>
        </p:nvSpPr>
        <p:spPr>
          <a:xfrm>
            <a:off x="9189720" y="4846320"/>
            <a:ext cx="2514600" cy="914400"/>
          </a:xfrm>
          <a:prstGeom prst="rect">
            <a:avLst/>
          </a:prstGeom>
          <a:solidFill>
            <a:srgbClr val="14A8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281160" y="4937760"/>
            <a:ext cx="2331720" cy="731520"/>
          </a:xfrm>
          <a:prstGeom prst="rect">
            <a:avLst/>
          </a:prstGeom>
          <a:noFill/>
        </p:spPr>
        <p:txBody>
          <a:bodyPr wrap="square">
            <a:spAutoFit/>
          </a:bodyPr>
          <a:lstStyle/>
          <a:p>
            <a:pPr algn="ctr">
              <a:defRPr sz="1200" b="1">
                <a:solidFill>
                  <a:srgbClr val="FFFFFF"/>
                </a:solidFill>
                <a:latin typeface="Calibri"/>
              </a:defRPr>
            </a:pPr>
            <a:r>
              <a:t>SMAC offers PKR pricing</a:t>
            </a:r>
            <a:br/>
            <a:r>
              <a:t>with localized content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4A898"/>
        </a:solidFill>
        <a:effectLst/>
      </p:bgPr>
    </p:bg>
    <p:spTree>
      <p:nvGrpSpPr>
        <p:cNvPr id="1" name=""/>
        <p:cNvGrpSpPr/>
        <p:nvPr/>
      </p:nvGrpSpPr>
      <p:grpSpPr>
        <a:xfrm>
          <a:off x="0" y="0"/>
          <a:ext cx="0" cy="0"/>
          <a:chOff x="0" y="0"/>
          <a:chExt cx="0" cy="0"/>
        </a:xfrm>
      </p:grpSpPr>
      <p:sp>
        <p:nvSpPr>
          <p:cNvPr id="2" name="TextBox 1"/>
          <p:cNvSpPr txBox="1"/>
          <p:nvPr/>
        </p:nvSpPr>
        <p:spPr>
          <a:xfrm>
            <a:off x="914400" y="731520"/>
            <a:ext cx="10058400" cy="914400"/>
          </a:xfrm>
          <a:prstGeom prst="rect">
            <a:avLst/>
          </a:prstGeom>
          <a:noFill/>
        </p:spPr>
        <p:txBody>
          <a:bodyPr wrap="square">
            <a:spAutoFit/>
          </a:bodyPr>
          <a:lstStyle/>
          <a:p>
            <a:pPr algn="ctr">
              <a:defRPr sz="4400" b="1">
                <a:solidFill>
                  <a:srgbClr val="FFFFFF"/>
                </a:solidFill>
                <a:latin typeface="Calibri"/>
              </a:defRPr>
            </a:pPr>
            <a:r>
              <a:t>Why SMAC? Why Now?</a:t>
            </a:r>
          </a:p>
        </p:txBody>
      </p:sp>
      <p:sp>
        <p:nvSpPr>
          <p:cNvPr id="3" name="TextBox 2"/>
          <p:cNvSpPr txBox="1"/>
          <p:nvPr/>
        </p:nvSpPr>
        <p:spPr>
          <a:xfrm>
            <a:off x="1371600" y="2011680"/>
            <a:ext cx="9144000" cy="548640"/>
          </a:xfrm>
          <a:prstGeom prst="rect">
            <a:avLst/>
          </a:prstGeom>
          <a:noFill/>
        </p:spPr>
        <p:txBody>
          <a:bodyPr wrap="square">
            <a:spAutoFit/>
          </a:bodyPr>
          <a:lstStyle/>
          <a:p>
            <a:pPr algn="l">
              <a:defRPr sz="2000" b="0">
                <a:solidFill>
                  <a:srgbClr val="FFFFFF"/>
                </a:solidFill>
                <a:latin typeface="Calibri"/>
              </a:defRPr>
            </a:pPr>
            <a:r>
              <a:t>1.  The Product is BUILT -- not a pitch deck, it's a working platform</a:t>
            </a:r>
          </a:p>
        </p:txBody>
      </p:sp>
      <p:sp>
        <p:nvSpPr>
          <p:cNvPr id="4" name="TextBox 3"/>
          <p:cNvSpPr txBox="1"/>
          <p:nvPr/>
        </p:nvSpPr>
        <p:spPr>
          <a:xfrm>
            <a:off x="1371600" y="2651760"/>
            <a:ext cx="9144000" cy="548640"/>
          </a:xfrm>
          <a:prstGeom prst="rect">
            <a:avLst/>
          </a:prstGeom>
          <a:noFill/>
        </p:spPr>
        <p:txBody>
          <a:bodyPr wrap="square">
            <a:spAutoFit/>
          </a:bodyPr>
          <a:lstStyle/>
          <a:p>
            <a:pPr algn="l">
              <a:defRPr sz="2000" b="0">
                <a:solidFill>
                  <a:srgbClr val="FFFFFF"/>
                </a:solidFill>
                <a:latin typeface="Calibri"/>
              </a:defRPr>
            </a:pPr>
            <a:r>
              <a:t>2.  The Market is MASSIVE -- 120M+ internet users, $7.6B e-commerce, #2 freelance nation</a:t>
            </a:r>
          </a:p>
        </p:txBody>
      </p:sp>
      <p:sp>
        <p:nvSpPr>
          <p:cNvPr id="5" name="TextBox 4"/>
          <p:cNvSpPr txBox="1"/>
          <p:nvPr/>
        </p:nvSpPr>
        <p:spPr>
          <a:xfrm>
            <a:off x="1371600" y="3291840"/>
            <a:ext cx="9144000" cy="548640"/>
          </a:xfrm>
          <a:prstGeom prst="rect">
            <a:avLst/>
          </a:prstGeom>
          <a:noFill/>
        </p:spPr>
        <p:txBody>
          <a:bodyPr wrap="square">
            <a:spAutoFit/>
          </a:bodyPr>
          <a:lstStyle/>
          <a:p>
            <a:pPr algn="l">
              <a:defRPr sz="2000" b="0">
                <a:solidFill>
                  <a:srgbClr val="FFFFFF"/>
                </a:solidFill>
                <a:latin typeface="Calibri"/>
              </a:defRPr>
            </a:pPr>
            <a:r>
              <a:t>3.  The Gap is CLEAR -- no competitor combines social + commerce + education</a:t>
            </a:r>
          </a:p>
        </p:txBody>
      </p:sp>
      <p:sp>
        <p:nvSpPr>
          <p:cNvPr id="6" name="TextBox 5"/>
          <p:cNvSpPr txBox="1"/>
          <p:nvPr/>
        </p:nvSpPr>
        <p:spPr>
          <a:xfrm>
            <a:off x="1371600" y="3931920"/>
            <a:ext cx="9144000" cy="548640"/>
          </a:xfrm>
          <a:prstGeom prst="rect">
            <a:avLst/>
          </a:prstGeom>
          <a:noFill/>
        </p:spPr>
        <p:txBody>
          <a:bodyPr wrap="square">
            <a:spAutoFit/>
          </a:bodyPr>
          <a:lstStyle/>
          <a:p>
            <a:pPr algn="l">
              <a:defRPr sz="2000" b="0">
                <a:solidFill>
                  <a:srgbClr val="FFFFFF"/>
                </a:solidFill>
                <a:latin typeface="Calibri"/>
              </a:defRPr>
            </a:pPr>
            <a:r>
              <a:t>4.  The Model WORKS -- subscriptions + transaction fees = multiple revenue streams</a:t>
            </a:r>
          </a:p>
        </p:txBody>
      </p:sp>
      <p:sp>
        <p:nvSpPr>
          <p:cNvPr id="7" name="TextBox 6"/>
          <p:cNvSpPr txBox="1"/>
          <p:nvPr/>
        </p:nvSpPr>
        <p:spPr>
          <a:xfrm>
            <a:off x="1371600" y="4572000"/>
            <a:ext cx="9144000" cy="548640"/>
          </a:xfrm>
          <a:prstGeom prst="rect">
            <a:avLst/>
          </a:prstGeom>
          <a:noFill/>
        </p:spPr>
        <p:txBody>
          <a:bodyPr wrap="square">
            <a:spAutoFit/>
          </a:bodyPr>
          <a:lstStyle/>
          <a:p>
            <a:pPr algn="l">
              <a:defRPr sz="2000" b="0">
                <a:solidFill>
                  <a:srgbClr val="FFFFFF"/>
                </a:solidFill>
                <a:latin typeface="Calibri"/>
              </a:defRPr>
            </a:pPr>
            <a:r>
              <a:t>5.  The Team DELIVERS -- full-stack platform built and functional</a:t>
            </a:r>
          </a:p>
        </p:txBody>
      </p:sp>
      <p:sp>
        <p:nvSpPr>
          <p:cNvPr id="8" name="Rectangle 7"/>
          <p:cNvSpPr/>
          <p:nvPr/>
        </p:nvSpPr>
        <p:spPr>
          <a:xfrm>
            <a:off x="3657600" y="5303520"/>
            <a:ext cx="4876495" cy="27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5486400"/>
            <a:ext cx="10058400" cy="457200"/>
          </a:xfrm>
          <a:prstGeom prst="rect">
            <a:avLst/>
          </a:prstGeom>
          <a:noFill/>
        </p:spPr>
        <p:txBody>
          <a:bodyPr wrap="square">
            <a:spAutoFit/>
          </a:bodyPr>
          <a:lstStyle/>
          <a:p>
            <a:pPr algn="ctr">
              <a:defRPr sz="2800" b="1">
                <a:solidFill>
                  <a:srgbClr val="FFFFFF"/>
                </a:solidFill>
                <a:latin typeface="Calibri"/>
              </a:defRPr>
            </a:pPr>
            <a:r>
              <a:t>"Connect.  Learn.  Earn."</a:t>
            </a:r>
          </a:p>
        </p:txBody>
      </p:sp>
      <p:sp>
        <p:nvSpPr>
          <p:cNvPr id="10" name="TextBox 9"/>
          <p:cNvSpPr txBox="1"/>
          <p:nvPr/>
        </p:nvSpPr>
        <p:spPr>
          <a:xfrm>
            <a:off x="914400" y="6035040"/>
            <a:ext cx="10058400" cy="640080"/>
          </a:xfrm>
          <a:prstGeom prst="rect">
            <a:avLst/>
          </a:prstGeom>
          <a:noFill/>
        </p:spPr>
        <p:txBody>
          <a:bodyPr wrap="square">
            <a:spAutoFit/>
          </a:bodyPr>
          <a:lstStyle/>
          <a:p>
            <a:pPr algn="ctr">
              <a:defRPr sz="1400" b="0">
                <a:solidFill>
                  <a:srgbClr val="FFFFFF"/>
                </a:solidFill>
                <a:latin typeface="Calibri"/>
              </a:defRPr>
            </a:pPr>
            <a:r>
              <a:t>smacltd.com   |   support@smac.com   |   +92-3441932822</a:t>
            </a:r>
            <a:br/>
            <a:r>
              <a:t>Facebook  |  LinkedIn  |  Instagram  |  YouTube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258</TotalTime>
  <Words>3432</Words>
  <Application>Microsoft Office PowerPoint</Application>
  <PresentationFormat>Custom</PresentationFormat>
  <Paragraphs>492</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DELL</cp:lastModifiedBy>
  <cp:revision>26</cp:revision>
  <dcterms:created xsi:type="dcterms:W3CDTF">2013-01-27T09:14:16Z</dcterms:created>
  <dcterms:modified xsi:type="dcterms:W3CDTF">2026-04-09T15:36:07Z</dcterms:modified>
  <cp:category/>
</cp:coreProperties>
</file>